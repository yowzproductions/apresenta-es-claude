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91" r:id="rId42"/>
    <p:sldId id="292" r:id="rId43"/>
    <p:sldId id="293" r:id="rId44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  <Relationship Id="rId42" Type="http://schemas.openxmlformats.org/officeDocument/2006/relationships/slide" Target="slides/slide36.xml"/>
  <Relationship Id="rId43" Type="http://schemas.openxmlformats.org/officeDocument/2006/relationships/slide" Target="slides/slide37.xml"/>
  <Relationship Id="rId44" Type="http://schemas.openxmlformats.org/officeDocument/2006/relationships/slide" Target="slides/slide38.xml"/>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Capa principal. Logo/wordmark, título, subtítulo, data e cliente. Fundo verde escuro com filete laranja.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Capa de seção / divisor de capítulo. Numeração grande, título da seção e uma linha de contexto.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Agenda / sumário. Lista numerada em duas colunas com duração estimada.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Encerramento / agradecimento. Frase curta centralizada e assinatura da marca.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Contato / próximos passos. Três ações com responsável e prazo, mais bloco de contato.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Texto único / mensagem-chave. Poucas palavras em corpo muito grande, fundo escuro.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Bullets simples, 3 a 5 itens com marcador e frase curta.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Duas colunas: texto à esquerda, imagem ou bloco visual à direita.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Citação / destaque. Frase grande centralizada com atribuição.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Definição de problema / contexto. Situação, complicação e implicação em três blocos.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Gráfico de barras verticais para comparação entre categorias. Uma barra em laranja destaca a categoria em foco.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Gráfico de barras horizontais para ranking. Rótulo, barra e valor alinhados em coluna.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Gráfico de pizza / rosca para participação percentual, com legenda à direita.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Gráfico de linha para evolução temporal, com grade horizontal e rótulos de eixo.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Gráfico combinado barras + linha com dois eixos. Barras = valor absoluto, linha = percentual.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Cards de KPI. Três a quatro números grandes com rótulo e variação percentual.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Tabela comparativa de opções lado a lado. Uma coluna destacada como recomendação.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Tabela de ranking / lista priorizada com valores e barra de proporção na célula.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Linha do tempo horizontal de marcos, com datas acima e descrições abaixo.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Roadmap / cronograma por trimestres. Barras de duração em faixas por frente de trabalho.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Fluxograma de processo com etapas sequenciais e setas.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Organograma / estrutura hierárquica em três níveis.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Matriz 2x2 de priorização, eixos esforço x impacto com itens posicionados.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Funil de conversão. Etapas empilhadas com volume e taxa de passagem à direita.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Antes e depois. Duas colunas espelhadas, estado anterior em cinza e novo estado em verde.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Prós e contras em duas colunas opostas, com veredito ao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Matriz SWOT em quatro quadrantes.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Comparação de cenários em três colunas com trade-offs e número-chave.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Slide de equipe. Grade de fotos com nome, cargo e uma linha de responsabilidade.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Case / depoimento. Citação do cliente à esquerda e resultados numéricos à direita.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Banco de ícones (fundo verde). Ícones monolineares da operação sobre fundo verde escuro; branco e menta para o conjunto, laranja só para os temas ambientais.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Banco de ícones (fundo verde · menta e laranja). Ícones monolineares da operação sobre fundo verde escuro; branco e menta para o conjunto, laranja só para os temas ambientais.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Banco de ícones (fundo branco). Mesmo conjunto em verde escuro para slides claros.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Grade de logos. Versão completa (com assinatura) e simplificada (só marca), em fundo verde e fundo branco, com área de respiro mínima.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Referência de marca: paleta, tipografia e elementos gráficos recorrentes do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svg"/><Relationship Id="rId4" Type="http://schemas.openxmlformats.org/officeDocument/2006/relationships/image" Target="../media/image-31-4.png"/><Relationship Id="rId5" Type="http://schemas.openxmlformats.org/officeDocument/2006/relationships/image" Target="../media/image-31-5.svg"/><Relationship Id="rId6" Type="http://schemas.openxmlformats.org/officeDocument/2006/relationships/image" Target="../media/image-31-6.png"/><Relationship Id="rId7" Type="http://schemas.openxmlformats.org/officeDocument/2006/relationships/image" Target="../media/image-31-7.svg"/><Relationship Id="rId8" Type="http://schemas.openxmlformats.org/officeDocument/2006/relationships/image" Target="../media/image-31-8.png"/><Relationship Id="rId9" Type="http://schemas.openxmlformats.org/officeDocument/2006/relationships/image" Target="../media/image-31-9.svg"/><Relationship Id="rId10" Type="http://schemas.openxmlformats.org/officeDocument/2006/relationships/image" Target="../media/image-31-10.png"/><Relationship Id="rId11" Type="http://schemas.openxmlformats.org/officeDocument/2006/relationships/image" Target="../media/image-31-11.svg"/><Relationship Id="rId12" Type="http://schemas.openxmlformats.org/officeDocument/2006/relationships/image" Target="../media/image-31-12.png"/><Relationship Id="rId13" Type="http://schemas.openxmlformats.org/officeDocument/2006/relationships/image" Target="../media/image-31-13.svg"/><Relationship Id="rId14" Type="http://schemas.openxmlformats.org/officeDocument/2006/relationships/image" Target="../media/image-31-14.png"/><Relationship Id="rId15" Type="http://schemas.openxmlformats.org/officeDocument/2006/relationships/image" Target="../media/image-31-15.svg"/><Relationship Id="rId16" Type="http://schemas.openxmlformats.org/officeDocument/2006/relationships/image" Target="../media/image-31-16.png"/><Relationship Id="rId17" Type="http://schemas.openxmlformats.org/officeDocument/2006/relationships/image" Target="../media/image-31-17.svg"/><Relationship Id="rId18" Type="http://schemas.openxmlformats.org/officeDocument/2006/relationships/image" Target="../media/image-31-18.png"/><Relationship Id="rId19" Type="http://schemas.openxmlformats.org/officeDocument/2006/relationships/image" Target="../media/image-31-19.svg"/><Relationship Id="rId20" Type="http://schemas.openxmlformats.org/officeDocument/2006/relationships/image" Target="../media/image-31-20.png"/><Relationship Id="rId21" Type="http://schemas.openxmlformats.org/officeDocument/2006/relationships/image" Target="../media/image-31-21.sv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svg"/><Relationship Id="rId4" Type="http://schemas.openxmlformats.org/officeDocument/2006/relationships/image" Target="../media/image-32-4.png"/><Relationship Id="rId5" Type="http://schemas.openxmlformats.org/officeDocument/2006/relationships/image" Target="../media/image-32-5.svg"/><Relationship Id="rId6" Type="http://schemas.openxmlformats.org/officeDocument/2006/relationships/image" Target="../media/image-32-6.png"/><Relationship Id="rId7" Type="http://schemas.openxmlformats.org/officeDocument/2006/relationships/image" Target="../media/image-32-7.svg"/><Relationship Id="rId8" Type="http://schemas.openxmlformats.org/officeDocument/2006/relationships/image" Target="../media/image-32-8.png"/><Relationship Id="rId9" Type="http://schemas.openxmlformats.org/officeDocument/2006/relationships/image" Target="../media/image-32-9.svg"/><Relationship Id="rId10" Type="http://schemas.openxmlformats.org/officeDocument/2006/relationships/image" Target="../media/image-32-10.png"/><Relationship Id="rId11" Type="http://schemas.openxmlformats.org/officeDocument/2006/relationships/image" Target="../media/image-32-11.svg"/><Relationship Id="rId12" Type="http://schemas.openxmlformats.org/officeDocument/2006/relationships/image" Target="../media/image-32-12.png"/><Relationship Id="rId13" Type="http://schemas.openxmlformats.org/officeDocument/2006/relationships/image" Target="../media/image-32-13.svg"/><Relationship Id="rId14" Type="http://schemas.openxmlformats.org/officeDocument/2006/relationships/image" Target="../media/image-32-14.png"/><Relationship Id="rId15" Type="http://schemas.openxmlformats.org/officeDocument/2006/relationships/image" Target="../media/image-32-15.svg"/><Relationship Id="rId16" Type="http://schemas.openxmlformats.org/officeDocument/2006/relationships/image" Target="../media/image-32-16.png"/><Relationship Id="rId17" Type="http://schemas.openxmlformats.org/officeDocument/2006/relationships/image" Target="../media/image-32-17.svg"/><Relationship Id="rId18" Type="http://schemas.openxmlformats.org/officeDocument/2006/relationships/image" Target="../media/image-32-18.png"/><Relationship Id="rId19" Type="http://schemas.openxmlformats.org/officeDocument/2006/relationships/image" Target="../media/image-32-19.svg"/><Relationship Id="rId20" Type="http://schemas.openxmlformats.org/officeDocument/2006/relationships/image" Target="../media/image-32-20.png"/><Relationship Id="rId21" Type="http://schemas.openxmlformats.org/officeDocument/2006/relationships/image" Target="../media/image-32-21.sv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svg"/><Relationship Id="rId4" Type="http://schemas.openxmlformats.org/officeDocument/2006/relationships/image" Target="../media/image-33-4.png"/><Relationship Id="rId5" Type="http://schemas.openxmlformats.org/officeDocument/2006/relationships/image" Target="../media/image-33-5.svg"/><Relationship Id="rId6" Type="http://schemas.openxmlformats.org/officeDocument/2006/relationships/image" Target="../media/image-33-6.png"/><Relationship Id="rId7" Type="http://schemas.openxmlformats.org/officeDocument/2006/relationships/image" Target="../media/image-33-7.svg"/><Relationship Id="rId8" Type="http://schemas.openxmlformats.org/officeDocument/2006/relationships/image" Target="../media/image-33-8.png"/><Relationship Id="rId9" Type="http://schemas.openxmlformats.org/officeDocument/2006/relationships/image" Target="../media/image-33-9.svg"/><Relationship Id="rId10" Type="http://schemas.openxmlformats.org/officeDocument/2006/relationships/image" Target="../media/image-33-10.png"/><Relationship Id="rId11" Type="http://schemas.openxmlformats.org/officeDocument/2006/relationships/image" Target="../media/image-33-11.svg"/><Relationship Id="rId12" Type="http://schemas.openxmlformats.org/officeDocument/2006/relationships/image" Target="../media/image-33-12.png"/><Relationship Id="rId13" Type="http://schemas.openxmlformats.org/officeDocument/2006/relationships/image" Target="../media/image-33-13.svg"/><Relationship Id="rId14" Type="http://schemas.openxmlformats.org/officeDocument/2006/relationships/image" Target="../media/image-33-14.png"/><Relationship Id="rId15" Type="http://schemas.openxmlformats.org/officeDocument/2006/relationships/image" Target="../media/image-33-15.svg"/><Relationship Id="rId16" Type="http://schemas.openxmlformats.org/officeDocument/2006/relationships/image" Target="../media/image-33-16.png"/><Relationship Id="rId17" Type="http://schemas.openxmlformats.org/officeDocument/2006/relationships/image" Target="../media/image-33-17.svg"/><Relationship Id="rId18" Type="http://schemas.openxmlformats.org/officeDocument/2006/relationships/image" Target="../media/image-33-18.png"/><Relationship Id="rId19" Type="http://schemas.openxmlformats.org/officeDocument/2006/relationships/image" Target="../media/image-33-19.svg"/><Relationship Id="rId20" Type="http://schemas.openxmlformats.org/officeDocument/2006/relationships/image" Target="../media/image-33-20.png"/><Relationship Id="rId21" Type="http://schemas.openxmlformats.org/officeDocument/2006/relationships/image" Target="../media/image-33-21.svg"/><Relationship Id="rId22" Type="http://schemas.openxmlformats.org/officeDocument/2006/relationships/image" Target="../media/image-33-22.png"/><Relationship Id="rId23" Type="http://schemas.openxmlformats.org/officeDocument/2006/relationships/image" Target="../media/image-33-23.svg"/><Relationship Id="rId24" Type="http://schemas.openxmlformats.org/officeDocument/2006/relationships/image" Target="../media/image-33-24.png"/><Relationship Id="rId25" Type="http://schemas.openxmlformats.org/officeDocument/2006/relationships/image" Target="../media/image-33-25.svg"/><Relationship Id="rId26" Type="http://schemas.openxmlformats.org/officeDocument/2006/relationships/image" Target="../media/image-33-26.png"/><Relationship Id="rId27" Type="http://schemas.openxmlformats.org/officeDocument/2006/relationships/image" Target="../media/image-33-27.svg"/><Relationship Id="rId28" Type="http://schemas.openxmlformats.org/officeDocument/2006/relationships/image" Target="../media/image-33-28.png"/><Relationship Id="rId29" Type="http://schemas.openxmlformats.org/officeDocument/2006/relationships/image" Target="../media/image-33-29.svg"/><Relationship Id="rId30" Type="http://schemas.openxmlformats.org/officeDocument/2006/relationships/image" Target="../media/image-33-30.png"/><Relationship Id="rId31" Type="http://schemas.openxmlformats.org/officeDocument/2006/relationships/image" Target="../media/image-33-31.svg"/><Relationship Id="rId32" Type="http://schemas.openxmlformats.org/officeDocument/2006/relationships/image" Target="../media/image-33-32.png"/><Relationship Id="rId33" Type="http://schemas.openxmlformats.org/officeDocument/2006/relationships/image" Target="../media/image-33-33.svg"/><Relationship Id="rId34" Type="http://schemas.openxmlformats.org/officeDocument/2006/relationships/image" Target="../media/image-33-34.png"/><Relationship Id="rId35" Type="http://schemas.openxmlformats.org/officeDocument/2006/relationships/image" Target="../media/image-33-35.svg"/><Relationship Id="rId36" Type="http://schemas.openxmlformats.org/officeDocument/2006/relationships/image" Target="../media/image-33-36.png"/><Relationship Id="rId37" Type="http://schemas.openxmlformats.org/officeDocument/2006/relationships/image" Target="../media/image-33-37.svg"/><Relationship Id="rId38" Type="http://schemas.openxmlformats.org/officeDocument/2006/relationships/image" Target="../media/image-33-38.png"/><Relationship Id="rId39" Type="http://schemas.openxmlformats.org/officeDocument/2006/relationships/image" Target="../media/image-33-39.svg"/><Relationship Id="rId40" Type="http://schemas.openxmlformats.org/officeDocument/2006/relationships/image" Target="../media/image-33-40.png"/><Relationship Id="rId41" Type="http://schemas.openxmlformats.org/officeDocument/2006/relationships/image" Target="../media/image-33-41.svg"/><Relationship Id="rId42" Type="http://schemas.openxmlformats.org/officeDocument/2006/relationships/slideLayout" Target="../slideLayouts/slideLayout1.xml"/><Relationship Id="rId4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image" Target="../media/image-3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2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52500"/>
            <a:ext cx="133350" cy="609600"/>
          </a:xfrm>
          <a:prstGeom prst="rect">
            <a:avLst/>
          </a:prstGeom>
          <a:solidFill>
            <a:srgbClr val="F2680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9700" y="914400"/>
            <a:ext cx="3070721" cy="685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2738835"/>
            <a:ext cx="1781175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36" kern="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APRESENTAÇÃO CORPORATIVA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1047750" y="3354784"/>
            <a:ext cx="13735050" cy="3158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690"/>
              </a:lnSpc>
              <a:buNone/>
            </a:pPr>
            <a:r>
              <a:rPr lang="en-US" sz="7800" b="1" spc="-156" kern="0" dirty="0">
                <a:solidFill>
                  <a:srgbClr val="EAF0EC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Título principal da apresentação em até duas linhas</a:t>
            </a:r>
            <a:endParaRPr lang="en-US" sz="7800" dirty="0"/>
          </a:p>
        </p:txBody>
      </p:sp>
      <p:sp>
        <p:nvSpPr>
          <p:cNvPr id="6" name="Text 3"/>
          <p:cNvSpPr/>
          <p:nvPr/>
        </p:nvSpPr>
        <p:spPr>
          <a:xfrm>
            <a:off x="1047750" y="6779915"/>
            <a:ext cx="10791825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846"/>
              </a:lnSpc>
              <a:buNone/>
            </a:pPr>
            <a:r>
              <a:rPr lang="en-US" sz="300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Subtítulo de apoio explicando o escopo e o recorte do material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1047750" y="8947150"/>
            <a:ext cx="16192500" cy="9525"/>
          </a:xfrm>
          <a:prstGeom prst="rect">
            <a:avLst/>
          </a:prstGeom>
          <a:solidFill>
            <a:srgbClr val="A3CCAB">
              <a:alpha val="28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1047750" y="9201150"/>
            <a:ext cx="764541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Diretoria Comercial · Reunião trimestral · Março de 2026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3752016" y="9201150"/>
            <a:ext cx="383705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Capa principal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2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914400"/>
            <a:ext cx="1785938" cy="285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47750" y="3281760"/>
            <a:ext cx="2250589" cy="165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5385"/>
              </a:lnSpc>
              <a:buNone/>
            </a:pPr>
            <a:r>
              <a:rPr lang="en-US" sz="15000" b="1" spc="-600" kern="0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02</a:t>
            </a:r>
            <a:endParaRPr lang="en-US" sz="15000" dirty="0"/>
          </a:p>
        </p:txBody>
      </p:sp>
      <p:sp>
        <p:nvSpPr>
          <p:cNvPr id="4" name="Text 1"/>
          <p:cNvSpPr/>
          <p:nvPr/>
        </p:nvSpPr>
        <p:spPr>
          <a:xfrm>
            <a:off x="3703340" y="3434160"/>
            <a:ext cx="1152525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36" kern="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SEÇÃO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3703340" y="3973909"/>
            <a:ext cx="10791825" cy="1756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562"/>
              </a:lnSpc>
              <a:buNone/>
            </a:pPr>
            <a:r>
              <a:rPr lang="en-US" sz="6150" b="1" spc="-123" kern="0" dirty="0">
                <a:solidFill>
                  <a:srgbClr val="EAF0EC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Desempenho comercial do trimestre</a:t>
            </a:r>
            <a:endParaRPr lang="en-US" sz="6150" dirty="0"/>
          </a:p>
        </p:txBody>
      </p:sp>
      <p:sp>
        <p:nvSpPr>
          <p:cNvPr id="6" name="Text 3"/>
          <p:cNvSpPr/>
          <p:nvPr/>
        </p:nvSpPr>
        <p:spPr>
          <a:xfrm>
            <a:off x="3703340" y="5958880"/>
            <a:ext cx="9810750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82"/>
              </a:lnSpc>
              <a:buNone/>
            </a:pPr>
            <a:r>
              <a:rPr lang="en-US" sz="25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Receita por linha de produto, penetração por região e evolução da carteira ativa</a:t>
            </a:r>
            <a:endParaRPr lang="en-US" sz="2550" dirty="0"/>
          </a:p>
        </p:txBody>
      </p:sp>
      <p:sp>
        <p:nvSpPr>
          <p:cNvPr id="7" name="Shape 4"/>
          <p:cNvSpPr/>
          <p:nvPr/>
        </p:nvSpPr>
        <p:spPr>
          <a:xfrm>
            <a:off x="1047750" y="8947150"/>
            <a:ext cx="16192500" cy="9525"/>
          </a:xfrm>
          <a:prstGeom prst="rect">
            <a:avLst/>
          </a:prstGeom>
          <a:solidFill>
            <a:srgbClr val="A3CCAB">
              <a:alpha val="28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1047750" y="9201150"/>
            <a:ext cx="310188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· Deck mestre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3556953" y="9201150"/>
            <a:ext cx="405162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Divisor de seção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139350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AGENDA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71600"/>
            <a:ext cx="17811750" cy="69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3"/>
              </a:lnSpc>
              <a:buNone/>
            </a:pPr>
            <a:r>
              <a:rPr lang="en-US" sz="4650" b="1" spc="-46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O que vamos cobrir nesta reunião</a:t>
            </a:r>
            <a:endParaRPr lang="en-US" sz="4650" dirty="0"/>
          </a:p>
        </p:txBody>
      </p:sp>
      <p:sp>
        <p:nvSpPr>
          <p:cNvPr id="5" name="Shape 2"/>
          <p:cNvSpPr/>
          <p:nvPr/>
        </p:nvSpPr>
        <p:spPr>
          <a:xfrm>
            <a:off x="1047750" y="3239492"/>
            <a:ext cx="775335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6" name="Text 3"/>
          <p:cNvSpPr/>
          <p:nvPr/>
        </p:nvSpPr>
        <p:spPr>
          <a:xfrm>
            <a:off x="1047750" y="2604492"/>
            <a:ext cx="571500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809750" y="2566392"/>
            <a:ext cx="6676241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Contexto de mercado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8145760" y="2661642"/>
            <a:ext cx="73154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8 min</a:t>
            </a:r>
            <a:endParaRPr lang="en-US" sz="1950" dirty="0"/>
          </a:p>
        </p:txBody>
      </p:sp>
      <p:sp>
        <p:nvSpPr>
          <p:cNvPr id="9" name="Shape 6"/>
          <p:cNvSpPr/>
          <p:nvPr/>
        </p:nvSpPr>
        <p:spPr>
          <a:xfrm>
            <a:off x="9486900" y="3239492"/>
            <a:ext cx="775335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0" name="Text 7"/>
          <p:cNvSpPr/>
          <p:nvPr/>
        </p:nvSpPr>
        <p:spPr>
          <a:xfrm>
            <a:off x="9486900" y="2604492"/>
            <a:ext cx="571500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04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0248900" y="2566392"/>
            <a:ext cx="6580852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Roadmap de expansão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16498193" y="2661642"/>
            <a:ext cx="81825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10 min</a:t>
            </a:r>
            <a:endParaRPr lang="en-US" sz="1950" dirty="0"/>
          </a:p>
        </p:txBody>
      </p:sp>
      <p:sp>
        <p:nvSpPr>
          <p:cNvPr id="13" name="Shape 10"/>
          <p:cNvSpPr/>
          <p:nvPr/>
        </p:nvSpPr>
        <p:spPr>
          <a:xfrm>
            <a:off x="1047750" y="4185642"/>
            <a:ext cx="775335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4" name="Text 11"/>
          <p:cNvSpPr/>
          <p:nvPr/>
        </p:nvSpPr>
        <p:spPr>
          <a:xfrm>
            <a:off x="1047750" y="3550642"/>
            <a:ext cx="571500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02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1809750" y="3512542"/>
            <a:ext cx="6598860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Desempenho comercial</a:t>
            </a:r>
            <a:endParaRPr lang="en-US" sz="2700" dirty="0"/>
          </a:p>
        </p:txBody>
      </p:sp>
      <p:sp>
        <p:nvSpPr>
          <p:cNvPr id="16" name="Text 13"/>
          <p:cNvSpPr/>
          <p:nvPr/>
        </p:nvSpPr>
        <p:spPr>
          <a:xfrm>
            <a:off x="8075414" y="3607792"/>
            <a:ext cx="80188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12 min</a:t>
            </a:r>
            <a:endParaRPr lang="en-US" sz="1950" dirty="0"/>
          </a:p>
        </p:txBody>
      </p:sp>
      <p:sp>
        <p:nvSpPr>
          <p:cNvPr id="17" name="Shape 14"/>
          <p:cNvSpPr/>
          <p:nvPr/>
        </p:nvSpPr>
        <p:spPr>
          <a:xfrm>
            <a:off x="9486900" y="4185642"/>
            <a:ext cx="775335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8" name="Text 15"/>
          <p:cNvSpPr/>
          <p:nvPr/>
        </p:nvSpPr>
        <p:spPr>
          <a:xfrm>
            <a:off x="9486900" y="3550642"/>
            <a:ext cx="571500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05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10248900" y="3512542"/>
            <a:ext cx="6661289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Investimento necessário</a:t>
            </a:r>
            <a:endParaRPr lang="en-US" sz="2700" dirty="0"/>
          </a:p>
        </p:txBody>
      </p:sp>
      <p:sp>
        <p:nvSpPr>
          <p:cNvPr id="20" name="Text 17"/>
          <p:cNvSpPr/>
          <p:nvPr/>
        </p:nvSpPr>
        <p:spPr>
          <a:xfrm>
            <a:off x="16571318" y="3607792"/>
            <a:ext cx="74513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6 min</a:t>
            </a:r>
            <a:endParaRPr lang="en-US" sz="1950" dirty="0"/>
          </a:p>
        </p:txBody>
      </p:sp>
      <p:sp>
        <p:nvSpPr>
          <p:cNvPr id="21" name="Shape 18"/>
          <p:cNvSpPr/>
          <p:nvPr/>
        </p:nvSpPr>
        <p:spPr>
          <a:xfrm>
            <a:off x="1047750" y="5144492"/>
            <a:ext cx="775335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2" name="Text 19"/>
          <p:cNvSpPr/>
          <p:nvPr/>
        </p:nvSpPr>
        <p:spPr>
          <a:xfrm>
            <a:off x="1047750" y="4496792"/>
            <a:ext cx="571500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03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1809750" y="4458692"/>
            <a:ext cx="6661289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Carteira e retenção</a:t>
            </a:r>
            <a:endParaRPr lang="en-US" sz="2700" dirty="0"/>
          </a:p>
        </p:txBody>
      </p:sp>
      <p:sp>
        <p:nvSpPr>
          <p:cNvPr id="24" name="Text 21"/>
          <p:cNvSpPr/>
          <p:nvPr/>
        </p:nvSpPr>
        <p:spPr>
          <a:xfrm>
            <a:off x="8132168" y="4553942"/>
            <a:ext cx="74513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9 min</a:t>
            </a:r>
            <a:endParaRPr lang="en-US" sz="1950" dirty="0"/>
          </a:p>
        </p:txBody>
      </p:sp>
      <p:sp>
        <p:nvSpPr>
          <p:cNvPr id="25" name="Shape 22"/>
          <p:cNvSpPr/>
          <p:nvPr/>
        </p:nvSpPr>
        <p:spPr>
          <a:xfrm>
            <a:off x="9486900" y="5131792"/>
            <a:ext cx="7753350" cy="19050"/>
          </a:xfrm>
          <a:prstGeom prst="rect">
            <a:avLst/>
          </a:prstGeom>
          <a:solidFill>
            <a:srgbClr val="F26800"/>
          </a:solidFill>
          <a:ln/>
        </p:spPr>
      </p:sp>
      <p:sp>
        <p:nvSpPr>
          <p:cNvPr id="26" name="Text 23"/>
          <p:cNvSpPr/>
          <p:nvPr/>
        </p:nvSpPr>
        <p:spPr>
          <a:xfrm>
            <a:off x="9486900" y="4496792"/>
            <a:ext cx="571500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06</a:t>
            </a:r>
            <a:endParaRPr lang="en-US" sz="2400" dirty="0"/>
          </a:p>
        </p:txBody>
      </p:sp>
      <p:sp>
        <p:nvSpPr>
          <p:cNvPr id="27" name="Text 24"/>
          <p:cNvSpPr/>
          <p:nvPr/>
        </p:nvSpPr>
        <p:spPr>
          <a:xfrm>
            <a:off x="10248900" y="4458692"/>
            <a:ext cx="6654195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Decisões e próximos passos</a:t>
            </a:r>
            <a:endParaRPr lang="en-US" sz="2700" dirty="0"/>
          </a:p>
        </p:txBody>
      </p:sp>
      <p:sp>
        <p:nvSpPr>
          <p:cNvPr id="28" name="Text 25"/>
          <p:cNvSpPr/>
          <p:nvPr/>
        </p:nvSpPr>
        <p:spPr>
          <a:xfrm>
            <a:off x="16564868" y="4553942"/>
            <a:ext cx="75158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5 min</a:t>
            </a:r>
            <a:endParaRPr lang="en-US" sz="1950" dirty="0"/>
          </a:p>
        </p:txBody>
      </p:sp>
      <p:sp>
        <p:nvSpPr>
          <p:cNvPr id="29" name="Shape 26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30" name="Text 27"/>
          <p:cNvSpPr/>
          <p:nvPr/>
        </p:nvSpPr>
        <p:spPr>
          <a:xfrm>
            <a:off x="1047750" y="9264650"/>
            <a:ext cx="286330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· Deck mestre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13668773" y="9264650"/>
            <a:ext cx="3928626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Agenda / sumário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2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914400"/>
            <a:ext cx="1785938" cy="2857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686800" y="3664049"/>
            <a:ext cx="914400" cy="76200"/>
          </a:xfrm>
          <a:prstGeom prst="rect">
            <a:avLst/>
          </a:prstGeom>
          <a:solidFill>
            <a:srgbClr val="F26800"/>
          </a:solidFill>
          <a:ln/>
        </p:spPr>
      </p:sp>
      <p:sp>
        <p:nvSpPr>
          <p:cNvPr id="4" name="Text 1"/>
          <p:cNvSpPr/>
          <p:nvPr/>
        </p:nvSpPr>
        <p:spPr>
          <a:xfrm>
            <a:off x="6902912" y="4159349"/>
            <a:ext cx="4482078" cy="104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4706"/>
              </a:lnSpc>
              <a:buNone/>
            </a:pPr>
            <a:r>
              <a:rPr lang="en-US" sz="7200" b="1" spc="-144" kern="0" dirty="0">
                <a:solidFill>
                  <a:srgbClr val="EAF0EC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Obrigado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3748087" y="5469930"/>
            <a:ext cx="10791825" cy="105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7838"/>
              </a:lnSpc>
              <a:buNone/>
            </a:pPr>
            <a:r>
              <a:rPr lang="en-US" sz="28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Espaço para perguntas e alinhamento final antes da aprovação</a:t>
            </a:r>
            <a:endParaRPr lang="en-US" sz="2850" dirty="0"/>
          </a:p>
        </p:txBody>
      </p:sp>
      <p:sp>
        <p:nvSpPr>
          <p:cNvPr id="6" name="Shape 3"/>
          <p:cNvSpPr/>
          <p:nvPr/>
        </p:nvSpPr>
        <p:spPr>
          <a:xfrm>
            <a:off x="1047750" y="8947150"/>
            <a:ext cx="16192500" cy="9525"/>
          </a:xfrm>
          <a:prstGeom prst="rect">
            <a:avLst/>
          </a:prstGeom>
          <a:solidFill>
            <a:srgbClr val="A3CCAB">
              <a:alpha val="28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06755" y="9201150"/>
            <a:ext cx="310188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· Deck mestre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3687618" y="9201150"/>
            <a:ext cx="372180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Encerramento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323176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PRÓXIMOS PASSOS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71600"/>
            <a:ext cx="17811750" cy="69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3"/>
              </a:lnSpc>
              <a:buNone/>
            </a:pPr>
            <a:r>
              <a:rPr lang="en-US" sz="4650" b="1" spc="-46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O que acontece depois desta reunião</a:t>
            </a:r>
            <a:endParaRPr lang="en-US" sz="4650" dirty="0"/>
          </a:p>
        </p:txBody>
      </p:sp>
      <p:sp>
        <p:nvSpPr>
          <p:cNvPr id="5" name="Shape 2"/>
          <p:cNvSpPr/>
          <p:nvPr/>
        </p:nvSpPr>
        <p:spPr>
          <a:xfrm>
            <a:off x="1047750" y="2528292"/>
            <a:ext cx="5194300" cy="2884488"/>
          </a:xfrm>
          <a:prstGeom prst="roundRect">
            <a:avLst>
              <a:gd name="adj" fmla="val 2642"/>
            </a:avLst>
          </a:prstGeom>
          <a:ln w="6350">
            <a:solidFill>
              <a:srgbClr val="D7E2D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377950" y="2877542"/>
            <a:ext cx="498729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Até 22/03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377950" y="3334742"/>
            <a:ext cx="4669917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591"/>
              </a:lnSpc>
              <a:buNone/>
            </a:pPr>
            <a:r>
              <a:rPr lang="en-US" sz="25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Validar orçamento das duas primeiras praças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1377950" y="4334867"/>
            <a:ext cx="498729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Financeiro · M. Andrade</a:t>
            </a:r>
            <a:endParaRPr lang="en-US" sz="1950" dirty="0"/>
          </a:p>
        </p:txBody>
      </p:sp>
      <p:sp>
        <p:nvSpPr>
          <p:cNvPr id="9" name="Shape 6"/>
          <p:cNvSpPr/>
          <p:nvPr/>
        </p:nvSpPr>
        <p:spPr>
          <a:xfrm>
            <a:off x="6546850" y="2528292"/>
            <a:ext cx="5194300" cy="2884488"/>
          </a:xfrm>
          <a:prstGeom prst="roundRect">
            <a:avLst>
              <a:gd name="adj" fmla="val 2642"/>
            </a:avLst>
          </a:prstGeom>
          <a:ln w="6350">
            <a:solidFill>
              <a:srgbClr val="D7E2D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77050" y="2877542"/>
            <a:ext cx="498729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Até 05/04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6877050" y="3334742"/>
            <a:ext cx="4669917" cy="1252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591"/>
              </a:lnSpc>
              <a:buNone/>
            </a:pPr>
            <a:r>
              <a:rPr lang="en-US" sz="25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Fechar contrato com fornecedor de remanufatura</a:t>
            </a:r>
            <a:endParaRPr lang="en-US" sz="2550" dirty="0"/>
          </a:p>
        </p:txBody>
      </p:sp>
      <p:sp>
        <p:nvSpPr>
          <p:cNvPr id="12" name="Text 9"/>
          <p:cNvSpPr/>
          <p:nvPr/>
        </p:nvSpPr>
        <p:spPr>
          <a:xfrm>
            <a:off x="6877050" y="4739680"/>
            <a:ext cx="498729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Suprimentos · R. Lima</a:t>
            </a:r>
            <a:endParaRPr lang="en-US" sz="1950" dirty="0"/>
          </a:p>
        </p:txBody>
      </p:sp>
      <p:sp>
        <p:nvSpPr>
          <p:cNvPr id="13" name="Shape 10"/>
          <p:cNvSpPr/>
          <p:nvPr/>
        </p:nvSpPr>
        <p:spPr>
          <a:xfrm>
            <a:off x="12045951" y="5406430"/>
            <a:ext cx="51943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4" name="Shape 11"/>
          <p:cNvSpPr/>
          <p:nvPr/>
        </p:nvSpPr>
        <p:spPr>
          <a:xfrm>
            <a:off x="12045951" y="2528292"/>
            <a:ext cx="5194300" cy="38100"/>
          </a:xfrm>
          <a:prstGeom prst="rect">
            <a:avLst/>
          </a:prstGeom>
          <a:solidFill>
            <a:srgbClr val="F26800"/>
          </a:solidFill>
          <a:ln/>
        </p:spPr>
      </p:sp>
      <p:sp>
        <p:nvSpPr>
          <p:cNvPr id="15" name="Shape 12"/>
          <p:cNvSpPr/>
          <p:nvPr/>
        </p:nvSpPr>
        <p:spPr>
          <a:xfrm>
            <a:off x="12045951" y="2528292"/>
            <a:ext cx="9525" cy="2884488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6" name="Shape 13"/>
          <p:cNvSpPr/>
          <p:nvPr/>
        </p:nvSpPr>
        <p:spPr>
          <a:xfrm>
            <a:off x="17233901" y="2528292"/>
            <a:ext cx="9525" cy="2884488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7" name="Text 14"/>
          <p:cNvSpPr/>
          <p:nvPr/>
        </p:nvSpPr>
        <p:spPr>
          <a:xfrm>
            <a:off x="12376150" y="2909292"/>
            <a:ext cx="498729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Até 18/04</a:t>
            </a:r>
            <a:endParaRPr lang="en-US" sz="1950" dirty="0"/>
          </a:p>
        </p:txBody>
      </p:sp>
      <p:sp>
        <p:nvSpPr>
          <p:cNvPr id="18" name="Text 15"/>
          <p:cNvSpPr/>
          <p:nvPr/>
        </p:nvSpPr>
        <p:spPr>
          <a:xfrm>
            <a:off x="12376150" y="3366492"/>
            <a:ext cx="4669917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591"/>
              </a:lnSpc>
              <a:buNone/>
            </a:pPr>
            <a:r>
              <a:rPr lang="en-US" sz="25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Iniciar piloto de vendas na região Sul</a:t>
            </a:r>
            <a:endParaRPr lang="en-US" sz="2550" dirty="0"/>
          </a:p>
        </p:txBody>
      </p:sp>
      <p:sp>
        <p:nvSpPr>
          <p:cNvPr id="19" name="Text 16"/>
          <p:cNvSpPr/>
          <p:nvPr/>
        </p:nvSpPr>
        <p:spPr>
          <a:xfrm>
            <a:off x="12376150" y="4366617"/>
            <a:ext cx="498729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Comercial · P. Duarte</a:t>
            </a:r>
            <a:endParaRPr lang="en-US" sz="1950" dirty="0"/>
          </a:p>
        </p:txBody>
      </p:sp>
      <p:sp>
        <p:nvSpPr>
          <p:cNvPr id="20" name="Shape 17"/>
          <p:cNvSpPr/>
          <p:nvPr/>
        </p:nvSpPr>
        <p:spPr>
          <a:xfrm>
            <a:off x="1047750" y="5869980"/>
            <a:ext cx="16192500" cy="1079500"/>
          </a:xfrm>
          <a:prstGeom prst="roundRect">
            <a:avLst>
              <a:gd name="adj" fmla="val 7059"/>
            </a:avLst>
          </a:prstGeom>
          <a:solidFill>
            <a:srgbClr val="EAF0EC"/>
          </a:solidFill>
          <a:ln/>
        </p:spPr>
      </p:sp>
      <p:sp>
        <p:nvSpPr>
          <p:cNvPr id="21" name="Text 18"/>
          <p:cNvSpPr/>
          <p:nvPr/>
        </p:nvSpPr>
        <p:spPr>
          <a:xfrm>
            <a:off x="1428750" y="6212880"/>
            <a:ext cx="4803934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Contato do time responsável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7864575" y="6235105"/>
            <a:ext cx="3898067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comercial@ekotruck.com.br</a:t>
            </a:r>
            <a:endParaRPr lang="en-US" sz="2100" dirty="0"/>
          </a:p>
        </p:txBody>
      </p:sp>
      <p:sp>
        <p:nvSpPr>
          <p:cNvPr id="23" name="Text 20"/>
          <p:cNvSpPr/>
          <p:nvPr/>
        </p:nvSpPr>
        <p:spPr>
          <a:xfrm>
            <a:off x="11941671" y="6235105"/>
            <a:ext cx="2561203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+55 41 3000-0000</a:t>
            </a:r>
            <a:endParaRPr lang="en-US" sz="2100" dirty="0"/>
          </a:p>
        </p:txBody>
      </p:sp>
      <p:sp>
        <p:nvSpPr>
          <p:cNvPr id="24" name="Text 21"/>
          <p:cNvSpPr/>
          <p:nvPr/>
        </p:nvSpPr>
        <p:spPr>
          <a:xfrm>
            <a:off x="14803438" y="6235105"/>
            <a:ext cx="2261394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ekotruck.com.br</a:t>
            </a:r>
            <a:endParaRPr lang="en-US" sz="2100" dirty="0"/>
          </a:p>
        </p:txBody>
      </p:sp>
      <p:sp>
        <p:nvSpPr>
          <p:cNvPr id="25" name="Shape 22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6" name="Text 23"/>
          <p:cNvSpPr/>
          <p:nvPr/>
        </p:nvSpPr>
        <p:spPr>
          <a:xfrm>
            <a:off x="1047750" y="9264650"/>
            <a:ext cx="286330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· Deck mestre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2688788" y="9264650"/>
            <a:ext cx="5006608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Contato / próximos passos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2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3541068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36" kern="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MENSAGEM-CHAVE</a:t>
            </a:r>
            <a:endParaRPr lang="en-US" sz="2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9461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606550"/>
            <a:ext cx="14716125" cy="33697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349"/>
              </a:lnSpc>
              <a:buNone/>
            </a:pPr>
            <a:r>
              <a:rPr lang="en-US" sz="8250" b="1" spc="-247" kern="0" dirty="0">
                <a:solidFill>
                  <a:srgbClr val="EAF0EC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Cada caminhão fora de garantia é um cliente que ninguém está atendendo</a:t>
            </a:r>
            <a:endParaRPr lang="en-US" sz="8250" dirty="0"/>
          </a:p>
        </p:txBody>
      </p:sp>
      <p:sp>
        <p:nvSpPr>
          <p:cNvPr id="5" name="Shape 2"/>
          <p:cNvSpPr/>
          <p:nvPr/>
        </p:nvSpPr>
        <p:spPr>
          <a:xfrm>
            <a:off x="1047750" y="8947150"/>
            <a:ext cx="16192500" cy="9525"/>
          </a:xfrm>
          <a:prstGeom prst="rect">
            <a:avLst/>
          </a:prstGeom>
          <a:solidFill>
            <a:srgbClr val="A3CCAB">
              <a:alpha val="28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047750" y="9201150"/>
            <a:ext cx="310188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· Deck mestre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1748096" y="9201150"/>
            <a:ext cx="604137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Texto único / mensagem-chave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183934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CONTEXTO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71600"/>
            <a:ext cx="17811750" cy="69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3"/>
              </a:lnSpc>
              <a:buNone/>
            </a:pPr>
            <a:r>
              <a:rPr lang="en-US" sz="4650" b="1" spc="-46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Quatro movimentos explicam o resultado do trimestre</a:t>
            </a:r>
            <a:endParaRPr lang="en-US" sz="4650" dirty="0"/>
          </a:p>
        </p:txBody>
      </p:sp>
      <p:sp>
        <p:nvSpPr>
          <p:cNvPr id="5" name="Shape 2"/>
          <p:cNvSpPr/>
          <p:nvPr/>
        </p:nvSpPr>
        <p:spPr>
          <a:xfrm>
            <a:off x="1047750" y="2737842"/>
            <a:ext cx="133350" cy="133350"/>
          </a:xfrm>
          <a:prstGeom prst="ellipse">
            <a:avLst/>
          </a:prstGeom>
          <a:solidFill>
            <a:srgbClr val="0C6D61"/>
          </a:solidFill>
          <a:ln/>
        </p:spPr>
      </p:sp>
      <p:sp>
        <p:nvSpPr>
          <p:cNvPr id="6" name="Text 3"/>
          <p:cNvSpPr/>
          <p:nvPr/>
        </p:nvSpPr>
        <p:spPr>
          <a:xfrm>
            <a:off x="1447800" y="2566392"/>
            <a:ext cx="14304074" cy="10152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986"/>
              </a:lnSpc>
              <a:buNone/>
            </a:pPr>
            <a:r>
              <a:rPr lang="en-US" sz="28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 base de veículos fora de garantia cresceu 14% e concentra-se em cinco estados</a:t>
            </a:r>
            <a:endParaRPr lang="en-US" sz="2850" dirty="0"/>
          </a:p>
        </p:txBody>
      </p:sp>
      <p:sp>
        <p:nvSpPr>
          <p:cNvPr id="7" name="Shape 4"/>
          <p:cNvSpPr/>
          <p:nvPr/>
        </p:nvSpPr>
        <p:spPr>
          <a:xfrm>
            <a:off x="1047750" y="4057849"/>
            <a:ext cx="133350" cy="133350"/>
          </a:xfrm>
          <a:prstGeom prst="ellipse">
            <a:avLst/>
          </a:prstGeom>
          <a:solidFill>
            <a:srgbClr val="0C6D61"/>
          </a:solidFill>
          <a:ln/>
        </p:spPr>
      </p:sp>
      <p:sp>
        <p:nvSpPr>
          <p:cNvPr id="8" name="Text 5"/>
          <p:cNvSpPr/>
          <p:nvPr/>
        </p:nvSpPr>
        <p:spPr>
          <a:xfrm>
            <a:off x="1447800" y="3886399"/>
            <a:ext cx="14737805" cy="526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986"/>
              </a:lnSpc>
              <a:buNone/>
            </a:pPr>
            <a:r>
              <a:rPr lang="en-US" sz="28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Peças usadas passaram a responder por um quarto da receita da unidade</a:t>
            </a:r>
            <a:endParaRPr lang="en-US" sz="2850" dirty="0"/>
          </a:p>
        </p:txBody>
      </p:sp>
      <p:sp>
        <p:nvSpPr>
          <p:cNvPr id="9" name="Shape 6"/>
          <p:cNvSpPr/>
          <p:nvPr/>
        </p:nvSpPr>
        <p:spPr>
          <a:xfrm>
            <a:off x="1047750" y="4889302"/>
            <a:ext cx="133350" cy="133350"/>
          </a:xfrm>
          <a:prstGeom prst="ellipse">
            <a:avLst/>
          </a:prstGeom>
          <a:solidFill>
            <a:srgbClr val="0C6D61"/>
          </a:solidFill>
          <a:ln/>
        </p:spPr>
      </p:sp>
      <p:sp>
        <p:nvSpPr>
          <p:cNvPr id="10" name="Text 7"/>
          <p:cNvSpPr/>
          <p:nvPr/>
        </p:nvSpPr>
        <p:spPr>
          <a:xfrm>
            <a:off x="1447800" y="4717852"/>
            <a:ext cx="15219770" cy="526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986"/>
              </a:lnSpc>
              <a:buNone/>
            </a:pPr>
            <a:r>
              <a:rPr lang="en-US" sz="28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O prazo médio de entrega caiu de 9 para 6 dias após a nova malha logística</a:t>
            </a:r>
            <a:endParaRPr lang="en-US" sz="2850" dirty="0"/>
          </a:p>
        </p:txBody>
      </p:sp>
      <p:sp>
        <p:nvSpPr>
          <p:cNvPr id="11" name="Shape 8"/>
          <p:cNvSpPr/>
          <p:nvPr/>
        </p:nvSpPr>
        <p:spPr>
          <a:xfrm>
            <a:off x="1047750" y="5720755"/>
            <a:ext cx="133350" cy="133350"/>
          </a:xfrm>
          <a:prstGeom prst="ellipse">
            <a:avLst/>
          </a:prstGeom>
          <a:solidFill>
            <a:srgbClr val="F26800"/>
          </a:solidFill>
          <a:ln/>
        </p:spPr>
      </p:sp>
      <p:sp>
        <p:nvSpPr>
          <p:cNvPr id="12" name="Text 9"/>
          <p:cNvSpPr/>
          <p:nvPr/>
        </p:nvSpPr>
        <p:spPr>
          <a:xfrm>
            <a:off x="1447800" y="5549305"/>
            <a:ext cx="14322743" cy="526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986"/>
              </a:lnSpc>
              <a:buNone/>
            </a:pPr>
            <a:r>
              <a:rPr lang="en-US" sz="28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Motores remanufaturados seguem limitados pela capacidade de bancada</a:t>
            </a:r>
            <a:endParaRPr lang="en-US" sz="2850" dirty="0"/>
          </a:p>
        </p:txBody>
      </p:sp>
      <p:sp>
        <p:nvSpPr>
          <p:cNvPr id="13" name="Shape 10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4" name="Text 11"/>
          <p:cNvSpPr/>
          <p:nvPr/>
        </p:nvSpPr>
        <p:spPr>
          <a:xfrm>
            <a:off x="1047750" y="9264650"/>
            <a:ext cx="286330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· Deck mestre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4101565" y="9264650"/>
            <a:ext cx="3452555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Bullets simples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184753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OPERAÇÃO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71600"/>
            <a:ext cx="16678275" cy="1360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3"/>
              </a:lnSpc>
              <a:buNone/>
            </a:pPr>
            <a:r>
              <a:rPr lang="en-US" sz="4650" b="1" spc="-46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Como o centro de desmonte alimenta a venda de peças</a:t>
            </a:r>
            <a:endParaRPr lang="en-US" sz="4650" dirty="0"/>
          </a:p>
        </p:txBody>
      </p:sp>
      <p:sp>
        <p:nvSpPr>
          <p:cNvPr id="5" name="Text 2"/>
          <p:cNvSpPr/>
          <p:nvPr/>
        </p:nvSpPr>
        <p:spPr>
          <a:xfrm>
            <a:off x="1047750" y="3189684"/>
            <a:ext cx="7985950" cy="1916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45"/>
              </a:lnSpc>
              <a:buNone/>
            </a:pPr>
            <a:r>
              <a:rPr lang="en-US" sz="25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Cada veículo recebido é catalogado por conjunto antes da desmontagem, o que permite precificar peça a peça e reservar itens críticos para a carteira ativa.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1047750" y="5353447"/>
            <a:ext cx="7985950" cy="14466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45"/>
              </a:lnSpc>
              <a:buNone/>
            </a:pPr>
            <a:r>
              <a:rPr lang="en-US" sz="25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O processo hoje roda em dois turnos, com capacidade de 42 veículos por mês e taxa de aproveitamento de 78% do peso recebido.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1047750" y="7123906"/>
            <a:ext cx="1608078" cy="679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42</a:t>
            </a:r>
            <a:endParaRPr lang="en-US" sz="3900" dirty="0"/>
          </a:p>
        </p:txBody>
      </p:sp>
      <p:sp>
        <p:nvSpPr>
          <p:cNvPr id="8" name="Text 5"/>
          <p:cNvSpPr/>
          <p:nvPr/>
        </p:nvSpPr>
        <p:spPr>
          <a:xfrm>
            <a:off x="1047750" y="7765256"/>
            <a:ext cx="160807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veículos/mês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2966839" y="7123906"/>
            <a:ext cx="2034490" cy="679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78%</a:t>
            </a:r>
            <a:endParaRPr lang="en-US" sz="3900" dirty="0"/>
          </a:p>
        </p:txBody>
      </p:sp>
      <p:sp>
        <p:nvSpPr>
          <p:cNvPr id="10" name="Text 7"/>
          <p:cNvSpPr/>
          <p:nvPr/>
        </p:nvSpPr>
        <p:spPr>
          <a:xfrm>
            <a:off x="2966839" y="7765256"/>
            <a:ext cx="203449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aproveitamento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5273576" y="7123906"/>
            <a:ext cx="1629688" cy="679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6 dias</a:t>
            </a:r>
            <a:endParaRPr lang="en-US" sz="3900" dirty="0"/>
          </a:p>
        </p:txBody>
      </p:sp>
      <p:sp>
        <p:nvSpPr>
          <p:cNvPr id="12" name="Text 9"/>
          <p:cNvSpPr/>
          <p:nvPr/>
        </p:nvSpPr>
        <p:spPr>
          <a:xfrm>
            <a:off x="5273576" y="7765256"/>
            <a:ext cx="162968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ciclo médio</a:t>
            </a:r>
            <a:endParaRPr lang="en-US" sz="1950" dirty="0"/>
          </a:p>
        </p:txBody>
      </p:sp>
      <p:sp>
        <p:nvSpPr>
          <p:cNvPr id="13" name="Shape 10"/>
          <p:cNvSpPr/>
          <p:nvPr/>
        </p:nvSpPr>
        <p:spPr>
          <a:xfrm>
            <a:off x="9486900" y="3189684"/>
            <a:ext cx="7753350" cy="4965700"/>
          </a:xfrm>
          <a:prstGeom prst="roundRect">
            <a:avLst>
              <a:gd name="adj" fmla="val 1535"/>
            </a:avLst>
          </a:prstGeom>
          <a:solidFill>
            <a:srgbClr val="EAF0EC"/>
          </a:solidFill>
          <a:ln w="6350">
            <a:solidFill>
              <a:srgbClr val="D7E2D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194727" y="5497910"/>
            <a:ext cx="6971358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Espaço para foto do pátio ou diagrama do fluxo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6" name="Text 13"/>
          <p:cNvSpPr/>
          <p:nvPr/>
        </p:nvSpPr>
        <p:spPr>
          <a:xfrm>
            <a:off x="1047750" y="9264650"/>
            <a:ext cx="286330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· Deck mestre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2150923" y="9264650"/>
            <a:ext cx="5598259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Duas colunas (texto + imagem)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68563" y="914400"/>
            <a:ext cx="1785938" cy="285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33500" y="2944019"/>
            <a:ext cx="171831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50000"/>
              </a:lnSpc>
              <a:buNone/>
            </a:pPr>
            <a:r>
              <a:rPr lang="en-US" sz="10500" b="1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“</a:t>
            </a:r>
            <a:endParaRPr lang="en-US" sz="10500" dirty="0"/>
          </a:p>
        </p:txBody>
      </p:sp>
      <p:sp>
        <p:nvSpPr>
          <p:cNvPr id="4" name="Text 1"/>
          <p:cNvSpPr/>
          <p:nvPr/>
        </p:nvSpPr>
        <p:spPr>
          <a:xfrm>
            <a:off x="1333500" y="3972719"/>
            <a:ext cx="14519910" cy="2538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803"/>
              </a:lnSpc>
              <a:buNone/>
            </a:pPr>
            <a:r>
              <a:rPr lang="en-US" sz="5250" spc="-52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Passamos a resolver o caminhão parado em dois dias. Antes disso, a frota inteira ficava esperando peça de importação.</a:t>
            </a:r>
            <a:endParaRPr lang="en-US" sz="5250" dirty="0"/>
          </a:p>
        </p:txBody>
      </p:sp>
      <p:sp>
        <p:nvSpPr>
          <p:cNvPr id="5" name="Shape 2"/>
          <p:cNvSpPr/>
          <p:nvPr/>
        </p:nvSpPr>
        <p:spPr>
          <a:xfrm>
            <a:off x="1333500" y="7065169"/>
            <a:ext cx="533400" cy="28575"/>
          </a:xfrm>
          <a:prstGeom prst="rect">
            <a:avLst/>
          </a:prstGeom>
          <a:solidFill>
            <a:srgbClr val="F26800"/>
          </a:solidFill>
          <a:ln/>
        </p:spPr>
      </p:sp>
      <p:sp>
        <p:nvSpPr>
          <p:cNvPr id="6" name="Text 3"/>
          <p:cNvSpPr/>
          <p:nvPr/>
        </p:nvSpPr>
        <p:spPr>
          <a:xfrm>
            <a:off x="2076450" y="6892132"/>
            <a:ext cx="9092505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Carlos Menezes · Gerente de frota, Transportes Vale Norte</a:t>
            </a:r>
            <a:endParaRPr lang="en-US" sz="2250" dirty="0"/>
          </a:p>
        </p:txBody>
      </p:sp>
      <p:sp>
        <p:nvSpPr>
          <p:cNvPr id="7" name="Shape 4"/>
          <p:cNvSpPr/>
          <p:nvPr/>
        </p:nvSpPr>
        <p:spPr>
          <a:xfrm>
            <a:off x="1333500" y="9010650"/>
            <a:ext cx="156210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8" name="Text 5"/>
          <p:cNvSpPr/>
          <p:nvPr/>
        </p:nvSpPr>
        <p:spPr>
          <a:xfrm>
            <a:off x="1333500" y="9226550"/>
            <a:ext cx="286330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· Deck mestre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3245208" y="9226550"/>
            <a:ext cx="4080222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Citação / destaque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181620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PROBLEMA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71600"/>
            <a:ext cx="17811750" cy="69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3"/>
              </a:lnSpc>
              <a:buNone/>
            </a:pPr>
            <a:r>
              <a:rPr lang="en-US" sz="4650" b="1" spc="-46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O que está no caminho do crescimento</a:t>
            </a:r>
            <a:endParaRPr lang="en-US" sz="4650" dirty="0"/>
          </a:p>
        </p:txBody>
      </p:sp>
      <p:sp>
        <p:nvSpPr>
          <p:cNvPr id="5" name="Shape 2"/>
          <p:cNvSpPr/>
          <p:nvPr/>
        </p:nvSpPr>
        <p:spPr>
          <a:xfrm>
            <a:off x="1047750" y="2528292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6" name="Shape 3"/>
          <p:cNvSpPr/>
          <p:nvPr/>
        </p:nvSpPr>
        <p:spPr>
          <a:xfrm>
            <a:off x="6438900" y="2534642"/>
            <a:ext cx="9525" cy="3428603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7" name="Text 4"/>
          <p:cNvSpPr/>
          <p:nvPr/>
        </p:nvSpPr>
        <p:spPr>
          <a:xfrm>
            <a:off x="1047750" y="2915642"/>
            <a:ext cx="546925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SITUAÇÃO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047750" y="3449042"/>
            <a:ext cx="5121212" cy="1744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87"/>
              </a:lnSpc>
              <a:buNone/>
            </a:pPr>
            <a:r>
              <a:rPr lang="en-US" sz="24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 frota nacional acima de sete anos soma 61 mil veículos e sai da rede autorizada logo após o fim da garantia.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1836400" y="2534642"/>
            <a:ext cx="9525" cy="3428603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0" name="Text 7"/>
          <p:cNvSpPr/>
          <p:nvPr/>
        </p:nvSpPr>
        <p:spPr>
          <a:xfrm>
            <a:off x="6864350" y="2915642"/>
            <a:ext cx="500824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COMPLICAÇÃO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6864350" y="3449042"/>
            <a:ext cx="4689539" cy="1744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87"/>
              </a:lnSpc>
              <a:buNone/>
            </a:pPr>
            <a:r>
              <a:rPr lang="en-US" sz="24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Esse cliente passa a comprar de oficinas independentes, sem rastreabilidade de peça e sem histórico de manutenção.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2261850" y="2915642"/>
            <a:ext cx="547624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IMPLICAÇÃO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12261850" y="3449042"/>
            <a:ext cx="5127752" cy="21713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87"/>
              </a:lnSpc>
              <a:buNone/>
            </a:pPr>
            <a:r>
              <a:rPr lang="en-US" sz="24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Perdemos a maior janela de receita de pós-venda do ciclo de vida do veículo — justamente quando o consumo de peças acelera.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1047750" y="6382345"/>
            <a:ext cx="16192500" cy="1866900"/>
          </a:xfrm>
          <a:prstGeom prst="roundRect">
            <a:avLst>
              <a:gd name="adj" fmla="val 4082"/>
            </a:avLst>
          </a:prstGeom>
          <a:solidFill>
            <a:srgbClr val="012D2B"/>
          </a:solidFill>
          <a:ln/>
        </p:spPr>
      </p:sp>
      <p:sp>
        <p:nvSpPr>
          <p:cNvPr id="15" name="Text 12"/>
          <p:cNvSpPr/>
          <p:nvPr/>
        </p:nvSpPr>
        <p:spPr>
          <a:xfrm>
            <a:off x="1466850" y="6744295"/>
            <a:ext cx="2704088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923"/>
              </a:lnSpc>
              <a:buNone/>
            </a:pPr>
            <a:r>
              <a:rPr lang="en-US" sz="4500" b="1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R$ 380 mi</a:t>
            </a:r>
            <a:endParaRPr lang="en-US" sz="4500" dirty="0"/>
          </a:p>
        </p:txBody>
      </p:sp>
      <p:sp>
        <p:nvSpPr>
          <p:cNvPr id="16" name="Text 13"/>
          <p:cNvSpPr/>
          <p:nvPr/>
        </p:nvSpPr>
        <p:spPr>
          <a:xfrm>
            <a:off x="4473178" y="6904336"/>
            <a:ext cx="12718411" cy="86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40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de potencial anual de peças e serviços nessa faixa de frota, hoje capturado fora da rede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8" name="Text 15"/>
          <p:cNvSpPr/>
          <p:nvPr/>
        </p:nvSpPr>
        <p:spPr>
          <a:xfrm>
            <a:off x="1047750" y="9264650"/>
            <a:ext cx="286330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· Deck mestre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3162162" y="9264650"/>
            <a:ext cx="4485898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Definição de problema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341501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RECEITA POR LINHA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71600"/>
            <a:ext cx="17811750" cy="69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3"/>
              </a:lnSpc>
              <a:buNone/>
            </a:pPr>
            <a:r>
              <a:rPr lang="en-US" sz="4650" b="1" spc="-46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Peças usadas lideram o faturamento do trimestre</a:t>
            </a:r>
            <a:endParaRPr lang="en-US" sz="4650" dirty="0"/>
          </a:p>
        </p:txBody>
      </p:sp>
      <p:sp>
        <p:nvSpPr>
          <p:cNvPr id="5" name="Shape 2"/>
          <p:cNvSpPr/>
          <p:nvPr/>
        </p:nvSpPr>
        <p:spPr>
          <a:xfrm>
            <a:off x="1047750" y="8489950"/>
            <a:ext cx="16192500" cy="19050"/>
          </a:xfrm>
          <a:prstGeom prst="rect">
            <a:avLst/>
          </a:prstGeom>
          <a:solidFill>
            <a:srgbClr val="012D2B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2452092"/>
            <a:ext cx="16192500" cy="60569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31862" y="8699500"/>
            <a:ext cx="254952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Motores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3706813" y="8699500"/>
            <a:ext cx="254952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Câmbios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6481763" y="8699500"/>
            <a:ext cx="254952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Importadas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9256712" y="8699500"/>
            <a:ext cx="254952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Usadas</a:t>
            </a:r>
            <a:endParaRPr lang="en-US" sz="2100" dirty="0"/>
          </a:p>
        </p:txBody>
      </p:sp>
      <p:sp>
        <p:nvSpPr>
          <p:cNvPr id="11" name="Text 7"/>
          <p:cNvSpPr/>
          <p:nvPr/>
        </p:nvSpPr>
        <p:spPr>
          <a:xfrm>
            <a:off x="12031663" y="8699500"/>
            <a:ext cx="254952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Suspensão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14806613" y="8699500"/>
            <a:ext cx="254952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Serviços</a:t>
            </a:r>
            <a:endParaRPr lang="en-US" sz="2100" dirty="0"/>
          </a:p>
        </p:txBody>
      </p:sp>
      <p:sp>
        <p:nvSpPr>
          <p:cNvPr id="13" name="Shape 9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4" name="Text 10"/>
          <p:cNvSpPr/>
          <p:nvPr/>
        </p:nvSpPr>
        <p:spPr>
          <a:xfrm>
            <a:off x="1047750" y="9264650"/>
            <a:ext cx="5382052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Base: faturamento 1T26 · dados de exemplo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12660611" y="9264650"/>
            <a:ext cx="503760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Gráfico de barras verticais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360360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RANKING DE PRAÇAS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71600"/>
            <a:ext cx="17811750" cy="69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3"/>
              </a:lnSpc>
              <a:buNone/>
            </a:pPr>
            <a:r>
              <a:rPr lang="en-US" sz="4650" b="1" spc="-46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Penetração de mercado por região atendida</a:t>
            </a:r>
            <a:endParaRPr lang="en-US" sz="46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2490192"/>
            <a:ext cx="16192500" cy="440055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7" name="Text 3"/>
          <p:cNvSpPr/>
          <p:nvPr/>
        </p:nvSpPr>
        <p:spPr>
          <a:xfrm>
            <a:off x="1047750" y="9264650"/>
            <a:ext cx="7815888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Goiás é a praça com maior espaço aberto · dados de exemplo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12519124" y="9264650"/>
            <a:ext cx="5193238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Barras horizontais (ranking)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450357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COMPOSIÇÃO DA RECEITA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71600"/>
            <a:ext cx="17811750" cy="69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3"/>
              </a:lnSpc>
              <a:buNone/>
            </a:pPr>
            <a:r>
              <a:rPr lang="en-US" sz="4650" b="1" spc="-46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Participação de cada frente no faturamento</a:t>
            </a:r>
            <a:endParaRPr lang="en-US" sz="46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3521571"/>
            <a:ext cx="4381500" cy="43815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762750" y="4728071"/>
            <a:ext cx="10477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7" name="Shape 3"/>
          <p:cNvSpPr/>
          <p:nvPr/>
        </p:nvSpPr>
        <p:spPr>
          <a:xfrm>
            <a:off x="6762750" y="4159746"/>
            <a:ext cx="247650" cy="247650"/>
          </a:xfrm>
          <a:prstGeom prst="rect">
            <a:avLst/>
          </a:prstGeom>
          <a:solidFill>
            <a:srgbClr val="0C6D61"/>
          </a:solidFill>
          <a:ln/>
        </p:spPr>
      </p:sp>
      <p:sp>
        <p:nvSpPr>
          <p:cNvPr id="8" name="Text 4"/>
          <p:cNvSpPr/>
          <p:nvPr/>
        </p:nvSpPr>
        <p:spPr>
          <a:xfrm>
            <a:off x="7258050" y="4074021"/>
            <a:ext cx="994685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Peças usadas e desmonte</a:t>
            </a:r>
            <a:endParaRPr lang="en-US" sz="2550" dirty="0"/>
          </a:p>
        </p:txBody>
      </p:sp>
      <p:sp>
        <p:nvSpPr>
          <p:cNvPr id="9" name="Text 5"/>
          <p:cNvSpPr/>
          <p:nvPr/>
        </p:nvSpPr>
        <p:spPr>
          <a:xfrm>
            <a:off x="16548299" y="4048621"/>
            <a:ext cx="768152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42%</a:t>
            </a:r>
            <a:endParaRPr lang="en-US" sz="2850" dirty="0"/>
          </a:p>
        </p:txBody>
      </p:sp>
      <p:sp>
        <p:nvSpPr>
          <p:cNvPr id="10" name="Shape 6"/>
          <p:cNvSpPr/>
          <p:nvPr/>
        </p:nvSpPr>
        <p:spPr>
          <a:xfrm>
            <a:off x="6762750" y="5680571"/>
            <a:ext cx="10477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1" name="Shape 7"/>
          <p:cNvSpPr/>
          <p:nvPr/>
        </p:nvSpPr>
        <p:spPr>
          <a:xfrm>
            <a:off x="6762750" y="5112246"/>
            <a:ext cx="247650" cy="247650"/>
          </a:xfrm>
          <a:prstGeom prst="rect">
            <a:avLst/>
          </a:prstGeom>
          <a:solidFill>
            <a:srgbClr val="A3CCAB"/>
          </a:solidFill>
          <a:ln/>
        </p:spPr>
      </p:sp>
      <p:sp>
        <p:nvSpPr>
          <p:cNvPr id="12" name="Text 8"/>
          <p:cNvSpPr/>
          <p:nvPr/>
        </p:nvSpPr>
        <p:spPr>
          <a:xfrm>
            <a:off x="7258050" y="5026521"/>
            <a:ext cx="997774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Peças novas importadas</a:t>
            </a:r>
            <a:endParaRPr lang="en-US" sz="2550" dirty="0"/>
          </a:p>
        </p:txBody>
      </p:sp>
      <p:sp>
        <p:nvSpPr>
          <p:cNvPr id="13" name="Text 9"/>
          <p:cNvSpPr/>
          <p:nvPr/>
        </p:nvSpPr>
        <p:spPr>
          <a:xfrm>
            <a:off x="16576378" y="5001121"/>
            <a:ext cx="740073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27%</a:t>
            </a:r>
            <a:endParaRPr lang="en-US" sz="2850" dirty="0"/>
          </a:p>
        </p:txBody>
      </p:sp>
      <p:sp>
        <p:nvSpPr>
          <p:cNvPr id="14" name="Shape 10"/>
          <p:cNvSpPr/>
          <p:nvPr/>
        </p:nvSpPr>
        <p:spPr>
          <a:xfrm>
            <a:off x="6762750" y="6633071"/>
            <a:ext cx="10477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5" name="Shape 11"/>
          <p:cNvSpPr/>
          <p:nvPr/>
        </p:nvSpPr>
        <p:spPr>
          <a:xfrm>
            <a:off x="6762750" y="6064746"/>
            <a:ext cx="247650" cy="247650"/>
          </a:xfrm>
          <a:prstGeom prst="rect">
            <a:avLst/>
          </a:prstGeom>
          <a:solidFill>
            <a:srgbClr val="012D2B"/>
          </a:solidFill>
          <a:ln/>
        </p:spPr>
      </p:sp>
      <p:sp>
        <p:nvSpPr>
          <p:cNvPr id="16" name="Text 12"/>
          <p:cNvSpPr/>
          <p:nvPr/>
        </p:nvSpPr>
        <p:spPr>
          <a:xfrm>
            <a:off x="7258050" y="5979021"/>
            <a:ext cx="1001878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Motores e câmbios remanufaturados</a:t>
            </a:r>
            <a:endParaRPr lang="en-US" sz="2550" dirty="0"/>
          </a:p>
        </p:txBody>
      </p:sp>
      <p:sp>
        <p:nvSpPr>
          <p:cNvPr id="17" name="Text 13"/>
          <p:cNvSpPr/>
          <p:nvPr/>
        </p:nvSpPr>
        <p:spPr>
          <a:xfrm>
            <a:off x="16613684" y="5953621"/>
            <a:ext cx="702766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19%</a:t>
            </a:r>
            <a:endParaRPr lang="en-US" sz="2850" dirty="0"/>
          </a:p>
        </p:txBody>
      </p:sp>
      <p:sp>
        <p:nvSpPr>
          <p:cNvPr id="18" name="Shape 14"/>
          <p:cNvSpPr/>
          <p:nvPr/>
        </p:nvSpPr>
        <p:spPr>
          <a:xfrm>
            <a:off x="6762750" y="7017246"/>
            <a:ext cx="247650" cy="247650"/>
          </a:xfrm>
          <a:prstGeom prst="rect">
            <a:avLst/>
          </a:prstGeom>
          <a:solidFill>
            <a:srgbClr val="F26800"/>
          </a:solidFill>
          <a:ln/>
        </p:spPr>
      </p:sp>
      <p:sp>
        <p:nvSpPr>
          <p:cNvPr id="19" name="Text 15"/>
          <p:cNvSpPr/>
          <p:nvPr/>
        </p:nvSpPr>
        <p:spPr>
          <a:xfrm>
            <a:off x="7258050" y="6931521"/>
            <a:ext cx="1003504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Serviços de oficina</a:t>
            </a:r>
            <a:endParaRPr lang="en-US" sz="2550" dirty="0"/>
          </a:p>
        </p:txBody>
      </p:sp>
      <p:sp>
        <p:nvSpPr>
          <p:cNvPr id="20" name="Text 16"/>
          <p:cNvSpPr/>
          <p:nvPr/>
        </p:nvSpPr>
        <p:spPr>
          <a:xfrm>
            <a:off x="16628468" y="6906121"/>
            <a:ext cx="687983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12%</a:t>
            </a:r>
            <a:endParaRPr lang="en-US" sz="2850" dirty="0"/>
          </a:p>
        </p:txBody>
      </p:sp>
      <p:sp>
        <p:nvSpPr>
          <p:cNvPr id="21" name="Shape 17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2" name="Text 18"/>
          <p:cNvSpPr/>
          <p:nvPr/>
        </p:nvSpPr>
        <p:spPr>
          <a:xfrm>
            <a:off x="1047750" y="9264650"/>
            <a:ext cx="286330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· Deck mestre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13806190" y="9264650"/>
            <a:ext cx="3777466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Gráfico de rosca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335836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EVOLUÇÃO MENSAL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71600"/>
            <a:ext cx="17811750" cy="69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3"/>
              </a:lnSpc>
              <a:buNone/>
            </a:pPr>
            <a:r>
              <a:rPr lang="en-US" sz="4650" b="1" spc="-46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Carteira ativa de clientes ao longo de doze meses</a:t>
            </a:r>
            <a:endParaRPr lang="en-US" sz="46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2413992"/>
            <a:ext cx="16192500" cy="663475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7" name="Text 3"/>
          <p:cNvSpPr/>
          <p:nvPr/>
        </p:nvSpPr>
        <p:spPr>
          <a:xfrm>
            <a:off x="1047750" y="9264650"/>
            <a:ext cx="8214797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Clientes com pelo menos uma compra no mês · dados de exemplo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13897174" y="9264650"/>
            <a:ext cx="367738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Gráfico de linha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339438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RECEITA E MARGEM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71600"/>
            <a:ext cx="17811750" cy="69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3"/>
              </a:lnSpc>
              <a:buNone/>
            </a:pPr>
            <a:r>
              <a:rPr lang="en-US" sz="4650" b="1" spc="-46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Receita cresce sem perder margem bruta</a:t>
            </a:r>
            <a:endParaRPr lang="en-US" sz="4650" dirty="0"/>
          </a:p>
        </p:txBody>
      </p:sp>
      <p:sp>
        <p:nvSpPr>
          <p:cNvPr id="5" name="Shape 2"/>
          <p:cNvSpPr/>
          <p:nvPr/>
        </p:nvSpPr>
        <p:spPr>
          <a:xfrm>
            <a:off x="1047750" y="2318742"/>
            <a:ext cx="247650" cy="247650"/>
          </a:xfrm>
          <a:prstGeom prst="rect">
            <a:avLst/>
          </a:prstGeom>
          <a:solidFill>
            <a:srgbClr val="0C6D61"/>
          </a:solidFill>
          <a:ln/>
        </p:spPr>
      </p:sp>
      <p:sp>
        <p:nvSpPr>
          <p:cNvPr id="6" name="Text 3"/>
          <p:cNvSpPr/>
          <p:nvPr/>
        </p:nvSpPr>
        <p:spPr>
          <a:xfrm>
            <a:off x="1428750" y="2280642"/>
            <a:ext cx="1909862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Receita (R$ mi)</a:t>
            </a:r>
            <a:endParaRPr lang="en-US" sz="1950" dirty="0"/>
          </a:p>
        </p:txBody>
      </p:sp>
      <p:sp>
        <p:nvSpPr>
          <p:cNvPr id="7" name="Shape 4"/>
          <p:cNvSpPr/>
          <p:nvPr/>
        </p:nvSpPr>
        <p:spPr>
          <a:xfrm>
            <a:off x="3681512" y="2413992"/>
            <a:ext cx="323850" cy="57150"/>
          </a:xfrm>
          <a:prstGeom prst="rect">
            <a:avLst/>
          </a:prstGeom>
          <a:solidFill>
            <a:srgbClr val="F26800"/>
          </a:solidFill>
          <a:ln/>
        </p:spPr>
      </p:sp>
      <p:sp>
        <p:nvSpPr>
          <p:cNvPr id="8" name="Text 5"/>
          <p:cNvSpPr/>
          <p:nvPr/>
        </p:nvSpPr>
        <p:spPr>
          <a:xfrm>
            <a:off x="4138712" y="2280642"/>
            <a:ext cx="233799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Margem bruta (%)</a:t>
            </a:r>
            <a:endParaRPr lang="en-US" sz="19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2833092"/>
            <a:ext cx="16192500" cy="621565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1" name="Text 7"/>
          <p:cNvSpPr/>
          <p:nvPr/>
        </p:nvSpPr>
        <p:spPr>
          <a:xfrm>
            <a:off x="1047750" y="9264650"/>
            <a:ext cx="4366389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2T26 projetado · dados de exemplo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2216508" y="9264650"/>
            <a:ext cx="5526118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Gráfico combinado (dois eixos)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231421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INDICADORES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71600"/>
            <a:ext cx="17811750" cy="69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3"/>
              </a:lnSpc>
              <a:buNone/>
            </a:pPr>
            <a:r>
              <a:rPr lang="en-US" sz="4650" b="1" spc="-46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Resultado do trimestre em quatro números</a:t>
            </a:r>
            <a:endParaRPr lang="en-US" sz="4650" dirty="0"/>
          </a:p>
        </p:txBody>
      </p:sp>
      <p:sp>
        <p:nvSpPr>
          <p:cNvPr id="5" name="Shape 2"/>
          <p:cNvSpPr/>
          <p:nvPr/>
        </p:nvSpPr>
        <p:spPr>
          <a:xfrm>
            <a:off x="1047750" y="2566392"/>
            <a:ext cx="3819525" cy="2938066"/>
          </a:xfrm>
          <a:prstGeom prst="roundRect">
            <a:avLst>
              <a:gd name="adj" fmla="val 2594"/>
            </a:avLst>
          </a:prstGeom>
          <a:ln w="6350">
            <a:solidFill>
              <a:srgbClr val="D7E2D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397000" y="2953742"/>
            <a:ext cx="3433128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Receita líquida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397000" y="3455392"/>
            <a:ext cx="3433128" cy="798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878"/>
              </a:lnSpc>
              <a:buNone/>
            </a:pPr>
            <a:r>
              <a:rPr lang="en-US" sz="57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R$ 31,9</a:t>
            </a:r>
            <a:pPr algn="l" indent="0" marL="0">
              <a:lnSpc>
                <a:spcPct val="80878"/>
              </a:lnSpc>
              <a:buNone/>
            </a:pPr>
            <a:r>
              <a:rPr lang="en-US" sz="27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mi</a:t>
            </a:r>
            <a:endParaRPr lang="en-US" sz="5700" dirty="0"/>
          </a:p>
        </p:txBody>
      </p:sp>
      <p:sp>
        <p:nvSpPr>
          <p:cNvPr id="8" name="Text 5"/>
          <p:cNvSpPr/>
          <p:nvPr/>
        </p:nvSpPr>
        <p:spPr>
          <a:xfrm>
            <a:off x="1397000" y="4386858"/>
            <a:ext cx="3433128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+18,4% vs. 4T25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5172075" y="2566392"/>
            <a:ext cx="3819525" cy="2938066"/>
          </a:xfrm>
          <a:prstGeom prst="roundRect">
            <a:avLst>
              <a:gd name="adj" fmla="val 2594"/>
            </a:avLst>
          </a:prstGeom>
          <a:ln w="6350">
            <a:solidFill>
              <a:srgbClr val="D7E2D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521325" y="2953742"/>
            <a:ext cx="3433128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Margem bruta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5521325" y="3455392"/>
            <a:ext cx="3433128" cy="798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878"/>
              </a:lnSpc>
              <a:buNone/>
            </a:pPr>
            <a:r>
              <a:rPr lang="en-US" sz="57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34,2</a:t>
            </a:r>
            <a:pPr algn="l" indent="0" marL="0">
              <a:lnSpc>
                <a:spcPct val="80878"/>
              </a:lnSpc>
              <a:buNone/>
            </a:pPr>
            <a:r>
              <a:rPr lang="en-US" sz="27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%</a:t>
            </a:r>
            <a:endParaRPr lang="en-US" sz="5700" dirty="0"/>
          </a:p>
        </p:txBody>
      </p:sp>
      <p:sp>
        <p:nvSpPr>
          <p:cNvPr id="12" name="Text 9"/>
          <p:cNvSpPr/>
          <p:nvPr/>
        </p:nvSpPr>
        <p:spPr>
          <a:xfrm>
            <a:off x="5521325" y="4386858"/>
            <a:ext cx="3433128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+2,1 p.p.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9296400" y="2566392"/>
            <a:ext cx="3819525" cy="2938066"/>
          </a:xfrm>
          <a:prstGeom prst="roundRect">
            <a:avLst>
              <a:gd name="adj" fmla="val 2594"/>
            </a:avLst>
          </a:prstGeom>
          <a:ln w="6350">
            <a:solidFill>
              <a:srgbClr val="D7E2D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645650" y="2953742"/>
            <a:ext cx="3433128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Clientes ativos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9645650" y="3455392"/>
            <a:ext cx="3433128" cy="798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878"/>
              </a:lnSpc>
              <a:buNone/>
            </a:pPr>
            <a:r>
              <a:rPr lang="en-US" sz="57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742</a:t>
            </a:r>
            <a:endParaRPr lang="en-US" sz="5700" dirty="0"/>
          </a:p>
        </p:txBody>
      </p:sp>
      <p:sp>
        <p:nvSpPr>
          <p:cNvPr id="16" name="Text 13"/>
          <p:cNvSpPr/>
          <p:nvPr/>
        </p:nvSpPr>
        <p:spPr>
          <a:xfrm>
            <a:off x="9645650" y="4386858"/>
            <a:ext cx="3433128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+96 no trimestre</a:t>
            </a:r>
            <a:endParaRPr lang="en-US" sz="2100" dirty="0"/>
          </a:p>
        </p:txBody>
      </p:sp>
      <p:sp>
        <p:nvSpPr>
          <p:cNvPr id="17" name="Shape 14"/>
          <p:cNvSpPr/>
          <p:nvPr/>
        </p:nvSpPr>
        <p:spPr>
          <a:xfrm>
            <a:off x="13420725" y="5498108"/>
            <a:ext cx="3819525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8" name="Shape 15"/>
          <p:cNvSpPr/>
          <p:nvPr/>
        </p:nvSpPr>
        <p:spPr>
          <a:xfrm>
            <a:off x="13420725" y="2566392"/>
            <a:ext cx="3819525" cy="38100"/>
          </a:xfrm>
          <a:prstGeom prst="rect">
            <a:avLst/>
          </a:prstGeom>
          <a:solidFill>
            <a:srgbClr val="F26800"/>
          </a:solidFill>
          <a:ln/>
        </p:spPr>
      </p:sp>
      <p:sp>
        <p:nvSpPr>
          <p:cNvPr id="19" name="Shape 16"/>
          <p:cNvSpPr/>
          <p:nvPr/>
        </p:nvSpPr>
        <p:spPr>
          <a:xfrm>
            <a:off x="13420725" y="2566392"/>
            <a:ext cx="9525" cy="2938066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0" name="Shape 17"/>
          <p:cNvSpPr/>
          <p:nvPr/>
        </p:nvSpPr>
        <p:spPr>
          <a:xfrm>
            <a:off x="17233900" y="2566392"/>
            <a:ext cx="9525" cy="2938066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1" name="Text 18"/>
          <p:cNvSpPr/>
          <p:nvPr/>
        </p:nvSpPr>
        <p:spPr>
          <a:xfrm>
            <a:off x="13769976" y="2985492"/>
            <a:ext cx="3214656" cy="73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Prazo médio de entrega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13769976" y="3836392"/>
            <a:ext cx="3433128" cy="798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878"/>
              </a:lnSpc>
              <a:buNone/>
            </a:pPr>
            <a:r>
              <a:rPr lang="en-US" sz="57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6,1</a:t>
            </a:r>
            <a:pPr algn="l" indent="0" marL="0">
              <a:lnSpc>
                <a:spcPct val="80878"/>
              </a:lnSpc>
              <a:buNone/>
            </a:pPr>
            <a:r>
              <a:rPr lang="en-US" sz="27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dias</a:t>
            </a:r>
            <a:endParaRPr lang="en-US" sz="5700" dirty="0"/>
          </a:p>
        </p:txBody>
      </p:sp>
      <p:sp>
        <p:nvSpPr>
          <p:cNvPr id="23" name="Text 20"/>
          <p:cNvSpPr/>
          <p:nvPr/>
        </p:nvSpPr>
        <p:spPr>
          <a:xfrm>
            <a:off x="13769976" y="4767858"/>
            <a:ext cx="3433128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991B1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+0,4 dia vs. meta</a:t>
            </a:r>
            <a:endParaRPr lang="en-US" sz="2100" dirty="0"/>
          </a:p>
        </p:txBody>
      </p:sp>
      <p:sp>
        <p:nvSpPr>
          <p:cNvPr id="24" name="Shape 21"/>
          <p:cNvSpPr/>
          <p:nvPr/>
        </p:nvSpPr>
        <p:spPr>
          <a:xfrm>
            <a:off x="1047750" y="5961658"/>
            <a:ext cx="16192500" cy="1074341"/>
          </a:xfrm>
          <a:prstGeom prst="roundRect">
            <a:avLst>
              <a:gd name="adj" fmla="val 7093"/>
            </a:avLst>
          </a:prstGeom>
          <a:solidFill>
            <a:srgbClr val="EAF0EC"/>
          </a:solidFill>
          <a:ln/>
        </p:spPr>
      </p:sp>
      <p:sp>
        <p:nvSpPr>
          <p:cNvPr id="25" name="Text 22"/>
          <p:cNvSpPr/>
          <p:nvPr/>
        </p:nvSpPr>
        <p:spPr>
          <a:xfrm>
            <a:off x="1428750" y="6285508"/>
            <a:ext cx="15916275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87"/>
              </a:lnSpc>
              <a:buNone/>
            </a:pPr>
            <a:r>
              <a:rPr lang="en-US" sz="24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O crescimento veio de volume, não de preço: o ticket médio ficou estável em R$ 4.180 no período.</a:t>
            </a:r>
            <a:endParaRPr lang="en-US" sz="2400" dirty="0"/>
          </a:p>
        </p:txBody>
      </p:sp>
      <p:sp>
        <p:nvSpPr>
          <p:cNvPr id="26" name="Shape 23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7" name="Text 24"/>
          <p:cNvSpPr/>
          <p:nvPr/>
        </p:nvSpPr>
        <p:spPr>
          <a:xfrm>
            <a:off x="1047750" y="9264650"/>
            <a:ext cx="4627453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Fechamento 1T26 · dados de exemplo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14194830" y="9264650"/>
            <a:ext cx="3349963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Cards de KPI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241419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COMPARAÇÃO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71600"/>
            <a:ext cx="17811750" cy="69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3"/>
              </a:lnSpc>
              <a:buNone/>
            </a:pPr>
            <a:r>
              <a:rPr lang="en-US" sz="4650" b="1" spc="-46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Três modelos de operação para a nova praça</a:t>
            </a:r>
            <a:endParaRPr lang="en-US" sz="4650" dirty="0"/>
          </a:p>
        </p:txBody>
      </p:sp>
      <p:sp>
        <p:nvSpPr>
          <p:cNvPr id="5" name="Shape 2"/>
          <p:cNvSpPr/>
          <p:nvPr/>
        </p:nvSpPr>
        <p:spPr>
          <a:xfrm>
            <a:off x="1047750" y="2490192"/>
            <a:ext cx="4200525" cy="809625"/>
          </a:xfrm>
          <a:prstGeom prst="rect">
            <a:avLst/>
          </a:prstGeom>
          <a:solidFill>
            <a:srgbClr val="EAF0EC"/>
          </a:solidFill>
          <a:ln/>
        </p:spPr>
      </p:sp>
      <p:sp>
        <p:nvSpPr>
          <p:cNvPr id="6" name="Shape 3"/>
          <p:cNvSpPr/>
          <p:nvPr/>
        </p:nvSpPr>
        <p:spPr>
          <a:xfrm>
            <a:off x="1047750" y="3293467"/>
            <a:ext cx="4200525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7" name="Text 4"/>
          <p:cNvSpPr/>
          <p:nvPr/>
        </p:nvSpPr>
        <p:spPr>
          <a:xfrm>
            <a:off x="1314450" y="2718792"/>
            <a:ext cx="3793141" cy="384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Critério</a:t>
            </a:r>
            <a:endParaRPr lang="en-US" sz="1950" dirty="0"/>
          </a:p>
        </p:txBody>
      </p:sp>
      <p:sp>
        <p:nvSpPr>
          <p:cNvPr id="8" name="Shape 5"/>
          <p:cNvSpPr/>
          <p:nvPr/>
        </p:nvSpPr>
        <p:spPr>
          <a:xfrm>
            <a:off x="5248275" y="2490192"/>
            <a:ext cx="2996307" cy="809625"/>
          </a:xfrm>
          <a:prstGeom prst="rect">
            <a:avLst/>
          </a:prstGeom>
          <a:solidFill>
            <a:srgbClr val="EAF0EC"/>
          </a:solidFill>
          <a:ln/>
        </p:spPr>
      </p:sp>
      <p:sp>
        <p:nvSpPr>
          <p:cNvPr id="9" name="Shape 6"/>
          <p:cNvSpPr/>
          <p:nvPr/>
        </p:nvSpPr>
        <p:spPr>
          <a:xfrm>
            <a:off x="5248275" y="3293467"/>
            <a:ext cx="2996307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0" name="Text 7"/>
          <p:cNvSpPr/>
          <p:nvPr/>
        </p:nvSpPr>
        <p:spPr>
          <a:xfrm>
            <a:off x="5514975" y="2718792"/>
            <a:ext cx="2552796" cy="384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 · Filial própria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8244582" y="2490192"/>
            <a:ext cx="4175224" cy="809625"/>
          </a:xfrm>
          <a:prstGeom prst="rect">
            <a:avLst/>
          </a:prstGeom>
          <a:solidFill>
            <a:srgbClr val="012D2B"/>
          </a:solidFill>
          <a:ln/>
        </p:spPr>
      </p:sp>
      <p:sp>
        <p:nvSpPr>
          <p:cNvPr id="12" name="Shape 9"/>
          <p:cNvSpPr/>
          <p:nvPr/>
        </p:nvSpPr>
        <p:spPr>
          <a:xfrm>
            <a:off x="8244582" y="3293467"/>
            <a:ext cx="4175224" cy="9525"/>
          </a:xfrm>
          <a:prstGeom prst="rect">
            <a:avLst/>
          </a:prstGeom>
          <a:solidFill>
            <a:srgbClr val="012D2B"/>
          </a:solidFill>
          <a:ln/>
        </p:spPr>
      </p:sp>
      <p:sp>
        <p:nvSpPr>
          <p:cNvPr id="13" name="Text 10"/>
          <p:cNvSpPr/>
          <p:nvPr/>
        </p:nvSpPr>
        <p:spPr>
          <a:xfrm>
            <a:off x="8511282" y="2718792"/>
            <a:ext cx="3767081" cy="384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B · Distribuidor parceiro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12419807" y="2490192"/>
            <a:ext cx="4820444" cy="809625"/>
          </a:xfrm>
          <a:prstGeom prst="rect">
            <a:avLst/>
          </a:prstGeom>
          <a:solidFill>
            <a:srgbClr val="EAF0EC"/>
          </a:solidFill>
          <a:ln/>
        </p:spPr>
      </p:sp>
      <p:sp>
        <p:nvSpPr>
          <p:cNvPr id="15" name="Shape 12"/>
          <p:cNvSpPr/>
          <p:nvPr/>
        </p:nvSpPr>
        <p:spPr>
          <a:xfrm>
            <a:off x="12419807" y="3293467"/>
            <a:ext cx="4820444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6" name="Text 13"/>
          <p:cNvSpPr/>
          <p:nvPr/>
        </p:nvSpPr>
        <p:spPr>
          <a:xfrm>
            <a:off x="12686507" y="2718792"/>
            <a:ext cx="4431657" cy="384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 · Representante autônomo</a:t>
            </a:r>
            <a:endParaRPr lang="en-US" sz="2100" dirty="0"/>
          </a:p>
        </p:txBody>
      </p:sp>
      <p:sp>
        <p:nvSpPr>
          <p:cNvPr id="17" name="Shape 14"/>
          <p:cNvSpPr/>
          <p:nvPr/>
        </p:nvSpPr>
        <p:spPr>
          <a:xfrm>
            <a:off x="1047750" y="4169767"/>
            <a:ext cx="4200525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8" name="Text 15"/>
          <p:cNvSpPr/>
          <p:nvPr/>
        </p:nvSpPr>
        <p:spPr>
          <a:xfrm>
            <a:off x="1314450" y="3547467"/>
            <a:ext cx="3793141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Investimento inicial</a:t>
            </a:r>
            <a:endParaRPr lang="en-US" sz="2250" dirty="0"/>
          </a:p>
        </p:txBody>
      </p:sp>
      <p:sp>
        <p:nvSpPr>
          <p:cNvPr id="19" name="Shape 16"/>
          <p:cNvSpPr/>
          <p:nvPr/>
        </p:nvSpPr>
        <p:spPr>
          <a:xfrm>
            <a:off x="5248275" y="4169767"/>
            <a:ext cx="2996307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0" name="Text 17"/>
          <p:cNvSpPr/>
          <p:nvPr/>
        </p:nvSpPr>
        <p:spPr>
          <a:xfrm>
            <a:off x="5514975" y="3547467"/>
            <a:ext cx="2552796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R$ 2,4 mi</a:t>
            </a:r>
            <a:endParaRPr lang="en-US" sz="2250" dirty="0"/>
          </a:p>
        </p:txBody>
      </p:sp>
      <p:sp>
        <p:nvSpPr>
          <p:cNvPr id="21" name="Shape 18"/>
          <p:cNvSpPr/>
          <p:nvPr/>
        </p:nvSpPr>
        <p:spPr>
          <a:xfrm>
            <a:off x="8244582" y="3299817"/>
            <a:ext cx="4175224" cy="876300"/>
          </a:xfrm>
          <a:prstGeom prst="rect">
            <a:avLst/>
          </a:prstGeom>
          <a:solidFill>
            <a:srgbClr val="F5F9F6"/>
          </a:solidFill>
          <a:ln/>
        </p:spPr>
      </p:sp>
      <p:sp>
        <p:nvSpPr>
          <p:cNvPr id="22" name="Shape 19"/>
          <p:cNvSpPr/>
          <p:nvPr/>
        </p:nvSpPr>
        <p:spPr>
          <a:xfrm>
            <a:off x="8244582" y="4169767"/>
            <a:ext cx="4175224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3" name="Text 20"/>
          <p:cNvSpPr/>
          <p:nvPr/>
        </p:nvSpPr>
        <p:spPr>
          <a:xfrm>
            <a:off x="8511282" y="3547467"/>
            <a:ext cx="3767081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R$ 680 mil</a:t>
            </a:r>
            <a:endParaRPr lang="en-US" sz="2250" dirty="0"/>
          </a:p>
        </p:txBody>
      </p:sp>
      <p:sp>
        <p:nvSpPr>
          <p:cNvPr id="24" name="Shape 21"/>
          <p:cNvSpPr/>
          <p:nvPr/>
        </p:nvSpPr>
        <p:spPr>
          <a:xfrm>
            <a:off x="12419807" y="4169767"/>
            <a:ext cx="4820444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5" name="Text 22"/>
          <p:cNvSpPr/>
          <p:nvPr/>
        </p:nvSpPr>
        <p:spPr>
          <a:xfrm>
            <a:off x="12686507" y="3547467"/>
            <a:ext cx="4431657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R$ 120 mil</a:t>
            </a:r>
            <a:endParaRPr lang="en-US" sz="2250" dirty="0"/>
          </a:p>
        </p:txBody>
      </p:sp>
      <p:sp>
        <p:nvSpPr>
          <p:cNvPr id="26" name="Shape 23"/>
          <p:cNvSpPr/>
          <p:nvPr/>
        </p:nvSpPr>
        <p:spPr>
          <a:xfrm>
            <a:off x="1047750" y="5046067"/>
            <a:ext cx="4200525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7" name="Text 24"/>
          <p:cNvSpPr/>
          <p:nvPr/>
        </p:nvSpPr>
        <p:spPr>
          <a:xfrm>
            <a:off x="1314450" y="4423767"/>
            <a:ext cx="3793141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Prazo de abertura</a:t>
            </a:r>
            <a:endParaRPr lang="en-US" sz="2250" dirty="0"/>
          </a:p>
        </p:txBody>
      </p:sp>
      <p:sp>
        <p:nvSpPr>
          <p:cNvPr id="28" name="Shape 25"/>
          <p:cNvSpPr/>
          <p:nvPr/>
        </p:nvSpPr>
        <p:spPr>
          <a:xfrm>
            <a:off x="5248275" y="5046067"/>
            <a:ext cx="2996307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9" name="Text 26"/>
          <p:cNvSpPr/>
          <p:nvPr/>
        </p:nvSpPr>
        <p:spPr>
          <a:xfrm>
            <a:off x="5514975" y="4423767"/>
            <a:ext cx="2552796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9 meses</a:t>
            </a:r>
            <a:endParaRPr lang="en-US" sz="2250" dirty="0"/>
          </a:p>
        </p:txBody>
      </p:sp>
      <p:sp>
        <p:nvSpPr>
          <p:cNvPr id="30" name="Shape 27"/>
          <p:cNvSpPr/>
          <p:nvPr/>
        </p:nvSpPr>
        <p:spPr>
          <a:xfrm>
            <a:off x="8244582" y="4176117"/>
            <a:ext cx="4175224" cy="876300"/>
          </a:xfrm>
          <a:prstGeom prst="rect">
            <a:avLst/>
          </a:prstGeom>
          <a:solidFill>
            <a:srgbClr val="F5F9F6"/>
          </a:solidFill>
          <a:ln/>
        </p:spPr>
      </p:sp>
      <p:sp>
        <p:nvSpPr>
          <p:cNvPr id="31" name="Shape 28"/>
          <p:cNvSpPr/>
          <p:nvPr/>
        </p:nvSpPr>
        <p:spPr>
          <a:xfrm>
            <a:off x="8244582" y="5046067"/>
            <a:ext cx="4175224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32" name="Text 29"/>
          <p:cNvSpPr/>
          <p:nvPr/>
        </p:nvSpPr>
        <p:spPr>
          <a:xfrm>
            <a:off x="8511282" y="4423767"/>
            <a:ext cx="3767081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4 meses</a:t>
            </a:r>
            <a:endParaRPr lang="en-US" sz="2250" dirty="0"/>
          </a:p>
        </p:txBody>
      </p:sp>
      <p:sp>
        <p:nvSpPr>
          <p:cNvPr id="33" name="Shape 30"/>
          <p:cNvSpPr/>
          <p:nvPr/>
        </p:nvSpPr>
        <p:spPr>
          <a:xfrm>
            <a:off x="12419807" y="5046067"/>
            <a:ext cx="4820444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34" name="Text 31"/>
          <p:cNvSpPr/>
          <p:nvPr/>
        </p:nvSpPr>
        <p:spPr>
          <a:xfrm>
            <a:off x="12686507" y="4423767"/>
            <a:ext cx="4431657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6 semanas</a:t>
            </a:r>
            <a:endParaRPr lang="en-US" sz="2250" dirty="0"/>
          </a:p>
        </p:txBody>
      </p:sp>
      <p:sp>
        <p:nvSpPr>
          <p:cNvPr id="35" name="Shape 32"/>
          <p:cNvSpPr/>
          <p:nvPr/>
        </p:nvSpPr>
        <p:spPr>
          <a:xfrm>
            <a:off x="1047750" y="5922367"/>
            <a:ext cx="4200525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36" name="Text 33"/>
          <p:cNvSpPr/>
          <p:nvPr/>
        </p:nvSpPr>
        <p:spPr>
          <a:xfrm>
            <a:off x="1314450" y="5300067"/>
            <a:ext cx="3793141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Controle da experiência</a:t>
            </a:r>
            <a:endParaRPr lang="en-US" sz="2250" dirty="0"/>
          </a:p>
        </p:txBody>
      </p:sp>
      <p:sp>
        <p:nvSpPr>
          <p:cNvPr id="37" name="Shape 34"/>
          <p:cNvSpPr/>
          <p:nvPr/>
        </p:nvSpPr>
        <p:spPr>
          <a:xfrm>
            <a:off x="5248275" y="5922367"/>
            <a:ext cx="2996307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38" name="Text 35"/>
          <p:cNvSpPr/>
          <p:nvPr/>
        </p:nvSpPr>
        <p:spPr>
          <a:xfrm>
            <a:off x="5514975" y="5300067"/>
            <a:ext cx="2552796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Total</a:t>
            </a:r>
            <a:endParaRPr lang="en-US" sz="2250" dirty="0"/>
          </a:p>
        </p:txBody>
      </p:sp>
      <p:sp>
        <p:nvSpPr>
          <p:cNvPr id="39" name="Shape 36"/>
          <p:cNvSpPr/>
          <p:nvPr/>
        </p:nvSpPr>
        <p:spPr>
          <a:xfrm>
            <a:off x="8244582" y="5052417"/>
            <a:ext cx="4175224" cy="876300"/>
          </a:xfrm>
          <a:prstGeom prst="rect">
            <a:avLst/>
          </a:prstGeom>
          <a:solidFill>
            <a:srgbClr val="F5F9F6"/>
          </a:solidFill>
          <a:ln/>
        </p:spPr>
      </p:sp>
      <p:sp>
        <p:nvSpPr>
          <p:cNvPr id="40" name="Shape 37"/>
          <p:cNvSpPr/>
          <p:nvPr/>
        </p:nvSpPr>
        <p:spPr>
          <a:xfrm>
            <a:off x="8244582" y="5922367"/>
            <a:ext cx="4175224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41" name="Text 38"/>
          <p:cNvSpPr/>
          <p:nvPr/>
        </p:nvSpPr>
        <p:spPr>
          <a:xfrm>
            <a:off x="8511282" y="5300067"/>
            <a:ext cx="3767081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Compartilhado</a:t>
            </a:r>
            <a:endParaRPr lang="en-US" sz="2250" dirty="0"/>
          </a:p>
        </p:txBody>
      </p:sp>
      <p:sp>
        <p:nvSpPr>
          <p:cNvPr id="42" name="Shape 39"/>
          <p:cNvSpPr/>
          <p:nvPr/>
        </p:nvSpPr>
        <p:spPr>
          <a:xfrm>
            <a:off x="12419807" y="5922367"/>
            <a:ext cx="4820444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43" name="Text 40"/>
          <p:cNvSpPr/>
          <p:nvPr/>
        </p:nvSpPr>
        <p:spPr>
          <a:xfrm>
            <a:off x="12686507" y="5300067"/>
            <a:ext cx="4431657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Baixo</a:t>
            </a:r>
            <a:endParaRPr lang="en-US" sz="2250" dirty="0"/>
          </a:p>
        </p:txBody>
      </p:sp>
      <p:sp>
        <p:nvSpPr>
          <p:cNvPr id="44" name="Shape 41"/>
          <p:cNvSpPr/>
          <p:nvPr/>
        </p:nvSpPr>
        <p:spPr>
          <a:xfrm>
            <a:off x="1047750" y="6798667"/>
            <a:ext cx="4200525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45" name="Text 42"/>
          <p:cNvSpPr/>
          <p:nvPr/>
        </p:nvSpPr>
        <p:spPr>
          <a:xfrm>
            <a:off x="1314450" y="6176367"/>
            <a:ext cx="3793141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Margem retida</a:t>
            </a:r>
            <a:endParaRPr lang="en-US" sz="2250" dirty="0"/>
          </a:p>
        </p:txBody>
      </p:sp>
      <p:sp>
        <p:nvSpPr>
          <p:cNvPr id="46" name="Shape 43"/>
          <p:cNvSpPr/>
          <p:nvPr/>
        </p:nvSpPr>
        <p:spPr>
          <a:xfrm>
            <a:off x="5248275" y="6798667"/>
            <a:ext cx="2996307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47" name="Text 44"/>
          <p:cNvSpPr/>
          <p:nvPr/>
        </p:nvSpPr>
        <p:spPr>
          <a:xfrm>
            <a:off x="5514975" y="6176367"/>
            <a:ext cx="2552796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38%</a:t>
            </a:r>
            <a:endParaRPr lang="en-US" sz="2250" dirty="0"/>
          </a:p>
        </p:txBody>
      </p:sp>
      <p:sp>
        <p:nvSpPr>
          <p:cNvPr id="48" name="Shape 45"/>
          <p:cNvSpPr/>
          <p:nvPr/>
        </p:nvSpPr>
        <p:spPr>
          <a:xfrm>
            <a:off x="8244582" y="5928717"/>
            <a:ext cx="4175224" cy="876300"/>
          </a:xfrm>
          <a:prstGeom prst="rect">
            <a:avLst/>
          </a:prstGeom>
          <a:solidFill>
            <a:srgbClr val="F5F9F6"/>
          </a:solidFill>
          <a:ln/>
        </p:spPr>
      </p:sp>
      <p:sp>
        <p:nvSpPr>
          <p:cNvPr id="49" name="Shape 46"/>
          <p:cNvSpPr/>
          <p:nvPr/>
        </p:nvSpPr>
        <p:spPr>
          <a:xfrm>
            <a:off x="8244582" y="6798667"/>
            <a:ext cx="4175224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50" name="Text 47"/>
          <p:cNvSpPr/>
          <p:nvPr/>
        </p:nvSpPr>
        <p:spPr>
          <a:xfrm>
            <a:off x="8511282" y="6176367"/>
            <a:ext cx="3767081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29%</a:t>
            </a:r>
            <a:endParaRPr lang="en-US" sz="2250" dirty="0"/>
          </a:p>
        </p:txBody>
      </p:sp>
      <p:sp>
        <p:nvSpPr>
          <p:cNvPr id="51" name="Shape 48"/>
          <p:cNvSpPr/>
          <p:nvPr/>
        </p:nvSpPr>
        <p:spPr>
          <a:xfrm>
            <a:off x="12419807" y="6798667"/>
            <a:ext cx="4820444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52" name="Text 49"/>
          <p:cNvSpPr/>
          <p:nvPr/>
        </p:nvSpPr>
        <p:spPr>
          <a:xfrm>
            <a:off x="12686507" y="6176367"/>
            <a:ext cx="4431657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22%</a:t>
            </a:r>
            <a:endParaRPr lang="en-US" sz="2250" dirty="0"/>
          </a:p>
        </p:txBody>
      </p:sp>
      <p:sp>
        <p:nvSpPr>
          <p:cNvPr id="53" name="Text 50"/>
          <p:cNvSpPr/>
          <p:nvPr/>
        </p:nvSpPr>
        <p:spPr>
          <a:xfrm>
            <a:off x="1314450" y="7052667"/>
            <a:ext cx="3793141" cy="415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Risco de execução</a:t>
            </a:r>
            <a:endParaRPr lang="en-US" sz="2250" dirty="0"/>
          </a:p>
        </p:txBody>
      </p:sp>
      <p:sp>
        <p:nvSpPr>
          <p:cNvPr id="54" name="Text 51"/>
          <p:cNvSpPr/>
          <p:nvPr/>
        </p:nvSpPr>
        <p:spPr>
          <a:xfrm>
            <a:off x="5514975" y="7052667"/>
            <a:ext cx="2552796" cy="415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Alto</a:t>
            </a:r>
            <a:endParaRPr lang="en-US" sz="2250" dirty="0"/>
          </a:p>
        </p:txBody>
      </p:sp>
      <p:sp>
        <p:nvSpPr>
          <p:cNvPr id="55" name="Shape 52"/>
          <p:cNvSpPr/>
          <p:nvPr/>
        </p:nvSpPr>
        <p:spPr>
          <a:xfrm>
            <a:off x="8244582" y="6805017"/>
            <a:ext cx="4175224" cy="873125"/>
          </a:xfrm>
          <a:prstGeom prst="rect">
            <a:avLst/>
          </a:prstGeom>
          <a:solidFill>
            <a:srgbClr val="F5F9F6"/>
          </a:solidFill>
          <a:ln/>
        </p:spPr>
      </p:sp>
      <p:sp>
        <p:nvSpPr>
          <p:cNvPr id="56" name="Text 53"/>
          <p:cNvSpPr/>
          <p:nvPr/>
        </p:nvSpPr>
        <p:spPr>
          <a:xfrm>
            <a:off x="8511282" y="7052667"/>
            <a:ext cx="3767081" cy="415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Médio · recomendado</a:t>
            </a:r>
            <a:endParaRPr lang="en-US" sz="2250" dirty="0"/>
          </a:p>
        </p:txBody>
      </p:sp>
      <p:sp>
        <p:nvSpPr>
          <p:cNvPr id="57" name="Text 54"/>
          <p:cNvSpPr/>
          <p:nvPr/>
        </p:nvSpPr>
        <p:spPr>
          <a:xfrm>
            <a:off x="12686507" y="7052667"/>
            <a:ext cx="4431657" cy="415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Médio</a:t>
            </a:r>
            <a:endParaRPr lang="en-US" sz="2250" dirty="0"/>
          </a:p>
        </p:txBody>
      </p:sp>
      <p:sp>
        <p:nvSpPr>
          <p:cNvPr id="58" name="Shape 55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59" name="Text 56"/>
          <p:cNvSpPr/>
          <p:nvPr/>
        </p:nvSpPr>
        <p:spPr>
          <a:xfrm>
            <a:off x="1047750" y="9264650"/>
            <a:ext cx="286330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· Deck mestre</a:t>
            </a:r>
            <a:endParaRPr lang="en-US" sz="1800" dirty="0"/>
          </a:p>
        </p:txBody>
      </p:sp>
      <p:sp>
        <p:nvSpPr>
          <p:cNvPr id="60" name="Text 57"/>
          <p:cNvSpPr/>
          <p:nvPr/>
        </p:nvSpPr>
        <p:spPr>
          <a:xfrm>
            <a:off x="13454559" y="9264650"/>
            <a:ext cx="4164261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Tabela comparativa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420125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PRIORIDADE COMERCIAL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71600"/>
            <a:ext cx="17811750" cy="69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3"/>
              </a:lnSpc>
              <a:buNone/>
            </a:pPr>
            <a:r>
              <a:rPr lang="en-US" sz="4650" b="1" spc="-46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Dez maiores grupos por potencial não atendido</a:t>
            </a:r>
            <a:endParaRPr lang="en-US" sz="4650" dirty="0"/>
          </a:p>
        </p:txBody>
      </p:sp>
      <p:sp>
        <p:nvSpPr>
          <p:cNvPr id="5" name="Shape 2"/>
          <p:cNvSpPr/>
          <p:nvPr/>
        </p:nvSpPr>
        <p:spPr>
          <a:xfrm>
            <a:off x="1047750" y="2452092"/>
            <a:ext cx="1219200" cy="679450"/>
          </a:xfrm>
          <a:prstGeom prst="rect">
            <a:avLst/>
          </a:prstGeom>
          <a:solidFill>
            <a:srgbClr val="EAF0EC"/>
          </a:solidFill>
          <a:ln/>
        </p:spPr>
      </p:sp>
      <p:sp>
        <p:nvSpPr>
          <p:cNvPr id="6" name="Text 3"/>
          <p:cNvSpPr/>
          <p:nvPr/>
        </p:nvSpPr>
        <p:spPr>
          <a:xfrm>
            <a:off x="1276350" y="2642592"/>
            <a:ext cx="8382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#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2266950" y="2452092"/>
            <a:ext cx="5405339" cy="679450"/>
          </a:xfrm>
          <a:prstGeom prst="rect">
            <a:avLst/>
          </a:prstGeom>
          <a:solidFill>
            <a:srgbClr val="EAF0EC"/>
          </a:solidFill>
          <a:ln/>
        </p:spPr>
      </p:sp>
      <p:sp>
        <p:nvSpPr>
          <p:cNvPr id="8" name="Text 5"/>
          <p:cNvSpPr/>
          <p:nvPr/>
        </p:nvSpPr>
        <p:spPr>
          <a:xfrm>
            <a:off x="2495550" y="2642592"/>
            <a:ext cx="5110299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Grupo econômico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672289" y="2452092"/>
            <a:ext cx="1628974" cy="679450"/>
          </a:xfrm>
          <a:prstGeom prst="rect">
            <a:avLst/>
          </a:prstGeom>
          <a:solidFill>
            <a:srgbClr val="EAF0EC"/>
          </a:solidFill>
          <a:ln/>
        </p:spPr>
      </p:sp>
      <p:sp>
        <p:nvSpPr>
          <p:cNvPr id="10" name="Text 7"/>
          <p:cNvSpPr/>
          <p:nvPr/>
        </p:nvSpPr>
        <p:spPr>
          <a:xfrm>
            <a:off x="7900889" y="2642592"/>
            <a:ext cx="124797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Frota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9301262" y="2452092"/>
            <a:ext cx="3367385" cy="679450"/>
          </a:xfrm>
          <a:prstGeom prst="rect">
            <a:avLst/>
          </a:prstGeom>
          <a:solidFill>
            <a:srgbClr val="EAF0EC"/>
          </a:solidFill>
          <a:ln/>
        </p:spPr>
      </p:sp>
      <p:sp>
        <p:nvSpPr>
          <p:cNvPr id="12" name="Text 9"/>
          <p:cNvSpPr/>
          <p:nvPr/>
        </p:nvSpPr>
        <p:spPr>
          <a:xfrm>
            <a:off x="9529862" y="2642592"/>
            <a:ext cx="3011207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Potencial anual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12668648" y="2452092"/>
            <a:ext cx="4571603" cy="679450"/>
          </a:xfrm>
          <a:prstGeom prst="rect">
            <a:avLst/>
          </a:prstGeom>
          <a:solidFill>
            <a:srgbClr val="EAF0EC"/>
          </a:solidFill>
          <a:ln/>
        </p:spPr>
      </p:sp>
      <p:sp>
        <p:nvSpPr>
          <p:cNvPr id="14" name="Text 11"/>
          <p:cNvSpPr/>
          <p:nvPr/>
        </p:nvSpPr>
        <p:spPr>
          <a:xfrm>
            <a:off x="12897248" y="2642592"/>
            <a:ext cx="4251551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Penetração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047750" y="3858617"/>
            <a:ext cx="12192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6" name="Text 13"/>
          <p:cNvSpPr/>
          <p:nvPr/>
        </p:nvSpPr>
        <p:spPr>
          <a:xfrm>
            <a:off x="1276350" y="3322042"/>
            <a:ext cx="838200" cy="384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01</a:t>
            </a:r>
            <a:endParaRPr lang="en-US" sz="2100" dirty="0"/>
          </a:p>
        </p:txBody>
      </p:sp>
      <p:sp>
        <p:nvSpPr>
          <p:cNvPr id="17" name="Shape 14"/>
          <p:cNvSpPr/>
          <p:nvPr/>
        </p:nvSpPr>
        <p:spPr>
          <a:xfrm>
            <a:off x="2266950" y="3858617"/>
            <a:ext cx="5405339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8" name="Text 15"/>
          <p:cNvSpPr/>
          <p:nvPr/>
        </p:nvSpPr>
        <p:spPr>
          <a:xfrm>
            <a:off x="2495550" y="3322042"/>
            <a:ext cx="5110299" cy="384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Transportes Vale Norte</a:t>
            </a:r>
            <a:endParaRPr lang="en-US" sz="2100" dirty="0"/>
          </a:p>
        </p:txBody>
      </p:sp>
      <p:sp>
        <p:nvSpPr>
          <p:cNvPr id="19" name="Shape 16"/>
          <p:cNvSpPr/>
          <p:nvPr/>
        </p:nvSpPr>
        <p:spPr>
          <a:xfrm>
            <a:off x="7672289" y="3858617"/>
            <a:ext cx="1628974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0" name="Text 17"/>
          <p:cNvSpPr/>
          <p:nvPr/>
        </p:nvSpPr>
        <p:spPr>
          <a:xfrm>
            <a:off x="7900889" y="3322042"/>
            <a:ext cx="1247974" cy="384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312</a:t>
            </a:r>
            <a:endParaRPr lang="en-US" sz="2100" dirty="0"/>
          </a:p>
        </p:txBody>
      </p:sp>
      <p:sp>
        <p:nvSpPr>
          <p:cNvPr id="21" name="Shape 18"/>
          <p:cNvSpPr/>
          <p:nvPr/>
        </p:nvSpPr>
        <p:spPr>
          <a:xfrm>
            <a:off x="9301262" y="3858617"/>
            <a:ext cx="3367385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2" name="Text 19"/>
          <p:cNvSpPr/>
          <p:nvPr/>
        </p:nvSpPr>
        <p:spPr>
          <a:xfrm>
            <a:off x="9529862" y="3322042"/>
            <a:ext cx="3011207" cy="384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R$ 8,4 mi</a:t>
            </a:r>
            <a:endParaRPr lang="en-US" sz="2100" dirty="0"/>
          </a:p>
        </p:txBody>
      </p:sp>
      <p:sp>
        <p:nvSpPr>
          <p:cNvPr id="23" name="Shape 20"/>
          <p:cNvSpPr/>
          <p:nvPr/>
        </p:nvSpPr>
        <p:spPr>
          <a:xfrm>
            <a:off x="12668648" y="3858617"/>
            <a:ext cx="4571603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4" name="Shape 21"/>
          <p:cNvSpPr/>
          <p:nvPr/>
        </p:nvSpPr>
        <p:spPr>
          <a:xfrm>
            <a:off x="12897248" y="3458071"/>
            <a:ext cx="1714500" cy="133350"/>
          </a:xfrm>
          <a:prstGeom prst="rect">
            <a:avLst/>
          </a:prstGeom>
          <a:solidFill>
            <a:srgbClr val="EAF0EC"/>
          </a:solidFill>
          <a:ln/>
        </p:spPr>
      </p:sp>
      <p:sp>
        <p:nvSpPr>
          <p:cNvPr id="25" name="Shape 22"/>
          <p:cNvSpPr/>
          <p:nvPr/>
        </p:nvSpPr>
        <p:spPr>
          <a:xfrm>
            <a:off x="12897248" y="3458071"/>
            <a:ext cx="377130" cy="133350"/>
          </a:xfrm>
          <a:prstGeom prst="rect">
            <a:avLst/>
          </a:prstGeom>
          <a:solidFill>
            <a:srgbClr val="F26800"/>
          </a:solidFill>
          <a:ln/>
        </p:spPr>
      </p:sp>
      <p:sp>
        <p:nvSpPr>
          <p:cNvPr id="26" name="Text 23"/>
          <p:cNvSpPr/>
          <p:nvPr/>
        </p:nvSpPr>
        <p:spPr>
          <a:xfrm>
            <a:off x="14859595" y="3322042"/>
            <a:ext cx="573683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22%</a:t>
            </a:r>
            <a:endParaRPr lang="en-US" sz="2100" dirty="0"/>
          </a:p>
        </p:txBody>
      </p:sp>
      <p:sp>
        <p:nvSpPr>
          <p:cNvPr id="27" name="Shape 24"/>
          <p:cNvSpPr/>
          <p:nvPr/>
        </p:nvSpPr>
        <p:spPr>
          <a:xfrm>
            <a:off x="1047750" y="4595217"/>
            <a:ext cx="12192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8" name="Text 25"/>
          <p:cNvSpPr/>
          <p:nvPr/>
        </p:nvSpPr>
        <p:spPr>
          <a:xfrm>
            <a:off x="1276350" y="4055467"/>
            <a:ext cx="83820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02</a:t>
            </a:r>
            <a:endParaRPr lang="en-US" sz="2100" dirty="0"/>
          </a:p>
        </p:txBody>
      </p:sp>
      <p:sp>
        <p:nvSpPr>
          <p:cNvPr id="29" name="Shape 26"/>
          <p:cNvSpPr/>
          <p:nvPr/>
        </p:nvSpPr>
        <p:spPr>
          <a:xfrm>
            <a:off x="2266950" y="4595217"/>
            <a:ext cx="5405339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30" name="Text 27"/>
          <p:cNvSpPr/>
          <p:nvPr/>
        </p:nvSpPr>
        <p:spPr>
          <a:xfrm>
            <a:off x="2495550" y="4055467"/>
            <a:ext cx="5110299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Log Sul Cargas</a:t>
            </a:r>
            <a:endParaRPr lang="en-US" sz="2100" dirty="0"/>
          </a:p>
        </p:txBody>
      </p:sp>
      <p:sp>
        <p:nvSpPr>
          <p:cNvPr id="31" name="Shape 28"/>
          <p:cNvSpPr/>
          <p:nvPr/>
        </p:nvSpPr>
        <p:spPr>
          <a:xfrm>
            <a:off x="7672289" y="4595217"/>
            <a:ext cx="1628974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32" name="Text 29"/>
          <p:cNvSpPr/>
          <p:nvPr/>
        </p:nvSpPr>
        <p:spPr>
          <a:xfrm>
            <a:off x="7900889" y="4055467"/>
            <a:ext cx="1247974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268</a:t>
            </a:r>
            <a:endParaRPr lang="en-US" sz="2100" dirty="0"/>
          </a:p>
        </p:txBody>
      </p:sp>
      <p:sp>
        <p:nvSpPr>
          <p:cNvPr id="33" name="Shape 30"/>
          <p:cNvSpPr/>
          <p:nvPr/>
        </p:nvSpPr>
        <p:spPr>
          <a:xfrm>
            <a:off x="9301262" y="4595217"/>
            <a:ext cx="3367385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34" name="Text 31"/>
          <p:cNvSpPr/>
          <p:nvPr/>
        </p:nvSpPr>
        <p:spPr>
          <a:xfrm>
            <a:off x="9529862" y="4055467"/>
            <a:ext cx="3011207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R$ 7,1 mi</a:t>
            </a:r>
            <a:endParaRPr lang="en-US" sz="2100" dirty="0"/>
          </a:p>
        </p:txBody>
      </p:sp>
      <p:sp>
        <p:nvSpPr>
          <p:cNvPr id="35" name="Shape 32"/>
          <p:cNvSpPr/>
          <p:nvPr/>
        </p:nvSpPr>
        <p:spPr>
          <a:xfrm>
            <a:off x="12668648" y="4595217"/>
            <a:ext cx="4571603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36" name="Shape 33"/>
          <p:cNvSpPr/>
          <p:nvPr/>
        </p:nvSpPr>
        <p:spPr>
          <a:xfrm>
            <a:off x="12897248" y="4194671"/>
            <a:ext cx="1714500" cy="133350"/>
          </a:xfrm>
          <a:prstGeom prst="rect">
            <a:avLst/>
          </a:prstGeom>
          <a:solidFill>
            <a:srgbClr val="EAF0EC"/>
          </a:solidFill>
          <a:ln/>
        </p:spPr>
      </p:sp>
      <p:sp>
        <p:nvSpPr>
          <p:cNvPr id="37" name="Shape 34"/>
          <p:cNvSpPr/>
          <p:nvPr/>
        </p:nvSpPr>
        <p:spPr>
          <a:xfrm>
            <a:off x="12897248" y="4194671"/>
            <a:ext cx="531416" cy="133350"/>
          </a:xfrm>
          <a:prstGeom prst="rect">
            <a:avLst/>
          </a:prstGeom>
          <a:solidFill>
            <a:srgbClr val="0C6D61"/>
          </a:solidFill>
          <a:ln/>
        </p:spPr>
      </p:sp>
      <p:sp>
        <p:nvSpPr>
          <p:cNvPr id="38" name="Text 35"/>
          <p:cNvSpPr/>
          <p:nvPr/>
        </p:nvSpPr>
        <p:spPr>
          <a:xfrm>
            <a:off x="14859595" y="4058642"/>
            <a:ext cx="520303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31%</a:t>
            </a:r>
            <a:endParaRPr lang="en-US" sz="2100" dirty="0"/>
          </a:p>
        </p:txBody>
      </p:sp>
      <p:sp>
        <p:nvSpPr>
          <p:cNvPr id="39" name="Shape 36"/>
          <p:cNvSpPr/>
          <p:nvPr/>
        </p:nvSpPr>
        <p:spPr>
          <a:xfrm>
            <a:off x="1047750" y="5331817"/>
            <a:ext cx="12192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40" name="Text 37"/>
          <p:cNvSpPr/>
          <p:nvPr/>
        </p:nvSpPr>
        <p:spPr>
          <a:xfrm>
            <a:off x="1276350" y="4792067"/>
            <a:ext cx="83820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03</a:t>
            </a:r>
            <a:endParaRPr lang="en-US" sz="2100" dirty="0"/>
          </a:p>
        </p:txBody>
      </p:sp>
      <p:sp>
        <p:nvSpPr>
          <p:cNvPr id="41" name="Shape 38"/>
          <p:cNvSpPr/>
          <p:nvPr/>
        </p:nvSpPr>
        <p:spPr>
          <a:xfrm>
            <a:off x="2266950" y="5331817"/>
            <a:ext cx="5405339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42" name="Text 39"/>
          <p:cNvSpPr/>
          <p:nvPr/>
        </p:nvSpPr>
        <p:spPr>
          <a:xfrm>
            <a:off x="2495550" y="4792067"/>
            <a:ext cx="5110299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Agro Paraná Logística</a:t>
            </a:r>
            <a:endParaRPr lang="en-US" sz="2100" dirty="0"/>
          </a:p>
        </p:txBody>
      </p:sp>
      <p:sp>
        <p:nvSpPr>
          <p:cNvPr id="43" name="Shape 40"/>
          <p:cNvSpPr/>
          <p:nvPr/>
        </p:nvSpPr>
        <p:spPr>
          <a:xfrm>
            <a:off x="7672289" y="5331817"/>
            <a:ext cx="1628974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44" name="Text 41"/>
          <p:cNvSpPr/>
          <p:nvPr/>
        </p:nvSpPr>
        <p:spPr>
          <a:xfrm>
            <a:off x="7900889" y="4792067"/>
            <a:ext cx="1247974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241</a:t>
            </a:r>
            <a:endParaRPr lang="en-US" sz="2100" dirty="0"/>
          </a:p>
        </p:txBody>
      </p:sp>
      <p:sp>
        <p:nvSpPr>
          <p:cNvPr id="45" name="Shape 42"/>
          <p:cNvSpPr/>
          <p:nvPr/>
        </p:nvSpPr>
        <p:spPr>
          <a:xfrm>
            <a:off x="9301262" y="5331817"/>
            <a:ext cx="3367385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46" name="Text 43"/>
          <p:cNvSpPr/>
          <p:nvPr/>
        </p:nvSpPr>
        <p:spPr>
          <a:xfrm>
            <a:off x="9529862" y="4792067"/>
            <a:ext cx="3011207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R$ 6,3 mi</a:t>
            </a:r>
            <a:endParaRPr lang="en-US" sz="2100" dirty="0"/>
          </a:p>
        </p:txBody>
      </p:sp>
      <p:sp>
        <p:nvSpPr>
          <p:cNvPr id="47" name="Shape 44"/>
          <p:cNvSpPr/>
          <p:nvPr/>
        </p:nvSpPr>
        <p:spPr>
          <a:xfrm>
            <a:off x="12668648" y="5331817"/>
            <a:ext cx="4571603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48" name="Shape 45"/>
          <p:cNvSpPr/>
          <p:nvPr/>
        </p:nvSpPr>
        <p:spPr>
          <a:xfrm>
            <a:off x="12897248" y="4931271"/>
            <a:ext cx="1714500" cy="133350"/>
          </a:xfrm>
          <a:prstGeom prst="rect">
            <a:avLst/>
          </a:prstGeom>
          <a:solidFill>
            <a:srgbClr val="EAF0EC"/>
          </a:solidFill>
          <a:ln/>
        </p:spPr>
      </p:sp>
      <p:sp>
        <p:nvSpPr>
          <p:cNvPr id="49" name="Shape 46"/>
          <p:cNvSpPr/>
          <p:nvPr/>
        </p:nvSpPr>
        <p:spPr>
          <a:xfrm>
            <a:off x="12897248" y="4931271"/>
            <a:ext cx="308570" cy="133350"/>
          </a:xfrm>
          <a:prstGeom prst="rect">
            <a:avLst/>
          </a:prstGeom>
          <a:solidFill>
            <a:srgbClr val="F26800"/>
          </a:solidFill>
          <a:ln/>
        </p:spPr>
      </p:sp>
      <p:sp>
        <p:nvSpPr>
          <p:cNvPr id="50" name="Text 47"/>
          <p:cNvSpPr/>
          <p:nvPr/>
        </p:nvSpPr>
        <p:spPr>
          <a:xfrm>
            <a:off x="14859595" y="4795242"/>
            <a:ext cx="50859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18%</a:t>
            </a:r>
            <a:endParaRPr lang="en-US" sz="2100" dirty="0"/>
          </a:p>
        </p:txBody>
      </p:sp>
      <p:sp>
        <p:nvSpPr>
          <p:cNvPr id="51" name="Shape 48"/>
          <p:cNvSpPr/>
          <p:nvPr/>
        </p:nvSpPr>
        <p:spPr>
          <a:xfrm>
            <a:off x="1047750" y="6068417"/>
            <a:ext cx="12192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52" name="Text 49"/>
          <p:cNvSpPr/>
          <p:nvPr/>
        </p:nvSpPr>
        <p:spPr>
          <a:xfrm>
            <a:off x="1276350" y="5528667"/>
            <a:ext cx="83820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04</a:t>
            </a:r>
            <a:endParaRPr lang="en-US" sz="2100" dirty="0"/>
          </a:p>
        </p:txBody>
      </p:sp>
      <p:sp>
        <p:nvSpPr>
          <p:cNvPr id="53" name="Shape 50"/>
          <p:cNvSpPr/>
          <p:nvPr/>
        </p:nvSpPr>
        <p:spPr>
          <a:xfrm>
            <a:off x="2266950" y="6068417"/>
            <a:ext cx="5405339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54" name="Text 51"/>
          <p:cNvSpPr/>
          <p:nvPr/>
        </p:nvSpPr>
        <p:spPr>
          <a:xfrm>
            <a:off x="2495550" y="5528667"/>
            <a:ext cx="5110299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Rodofrete Brasil</a:t>
            </a:r>
            <a:endParaRPr lang="en-US" sz="2100" dirty="0"/>
          </a:p>
        </p:txBody>
      </p:sp>
      <p:sp>
        <p:nvSpPr>
          <p:cNvPr id="55" name="Shape 52"/>
          <p:cNvSpPr/>
          <p:nvPr/>
        </p:nvSpPr>
        <p:spPr>
          <a:xfrm>
            <a:off x="7672289" y="6068417"/>
            <a:ext cx="1628974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56" name="Text 53"/>
          <p:cNvSpPr/>
          <p:nvPr/>
        </p:nvSpPr>
        <p:spPr>
          <a:xfrm>
            <a:off x="7900889" y="5528667"/>
            <a:ext cx="1247974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197</a:t>
            </a:r>
            <a:endParaRPr lang="en-US" sz="2100" dirty="0"/>
          </a:p>
        </p:txBody>
      </p:sp>
      <p:sp>
        <p:nvSpPr>
          <p:cNvPr id="57" name="Shape 54"/>
          <p:cNvSpPr/>
          <p:nvPr/>
        </p:nvSpPr>
        <p:spPr>
          <a:xfrm>
            <a:off x="9301262" y="6068417"/>
            <a:ext cx="3367385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58" name="Text 55"/>
          <p:cNvSpPr/>
          <p:nvPr/>
        </p:nvSpPr>
        <p:spPr>
          <a:xfrm>
            <a:off x="9529862" y="5528667"/>
            <a:ext cx="3011207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R$ 5,2 mi</a:t>
            </a:r>
            <a:endParaRPr lang="en-US" sz="2100" dirty="0"/>
          </a:p>
        </p:txBody>
      </p:sp>
      <p:sp>
        <p:nvSpPr>
          <p:cNvPr id="59" name="Shape 56"/>
          <p:cNvSpPr/>
          <p:nvPr/>
        </p:nvSpPr>
        <p:spPr>
          <a:xfrm>
            <a:off x="12668648" y="6068417"/>
            <a:ext cx="4571603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60" name="Shape 57"/>
          <p:cNvSpPr/>
          <p:nvPr/>
        </p:nvSpPr>
        <p:spPr>
          <a:xfrm>
            <a:off x="12897248" y="5667871"/>
            <a:ext cx="1714500" cy="133350"/>
          </a:xfrm>
          <a:prstGeom prst="rect">
            <a:avLst/>
          </a:prstGeom>
          <a:solidFill>
            <a:srgbClr val="EAF0EC"/>
          </a:solidFill>
          <a:ln/>
        </p:spPr>
      </p:sp>
      <p:sp>
        <p:nvSpPr>
          <p:cNvPr id="61" name="Shape 58"/>
          <p:cNvSpPr/>
          <p:nvPr/>
        </p:nvSpPr>
        <p:spPr>
          <a:xfrm>
            <a:off x="12897248" y="5667871"/>
            <a:ext cx="754360" cy="133350"/>
          </a:xfrm>
          <a:prstGeom prst="rect">
            <a:avLst/>
          </a:prstGeom>
          <a:solidFill>
            <a:srgbClr val="0C6D61"/>
          </a:solidFill>
          <a:ln/>
        </p:spPr>
      </p:sp>
      <p:sp>
        <p:nvSpPr>
          <p:cNvPr id="62" name="Text 59"/>
          <p:cNvSpPr/>
          <p:nvPr/>
        </p:nvSpPr>
        <p:spPr>
          <a:xfrm>
            <a:off x="14859595" y="5531843"/>
            <a:ext cx="582216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44%</a:t>
            </a:r>
            <a:endParaRPr lang="en-US" sz="2100" dirty="0"/>
          </a:p>
        </p:txBody>
      </p:sp>
      <p:sp>
        <p:nvSpPr>
          <p:cNvPr id="63" name="Shape 60"/>
          <p:cNvSpPr/>
          <p:nvPr/>
        </p:nvSpPr>
        <p:spPr>
          <a:xfrm>
            <a:off x="1047750" y="6805018"/>
            <a:ext cx="12192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64" name="Text 61"/>
          <p:cNvSpPr/>
          <p:nvPr/>
        </p:nvSpPr>
        <p:spPr>
          <a:xfrm>
            <a:off x="1276350" y="6265268"/>
            <a:ext cx="83820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05</a:t>
            </a:r>
            <a:endParaRPr lang="en-US" sz="2100" dirty="0"/>
          </a:p>
        </p:txBody>
      </p:sp>
      <p:sp>
        <p:nvSpPr>
          <p:cNvPr id="65" name="Shape 62"/>
          <p:cNvSpPr/>
          <p:nvPr/>
        </p:nvSpPr>
        <p:spPr>
          <a:xfrm>
            <a:off x="2266950" y="6805018"/>
            <a:ext cx="5405339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66" name="Text 63"/>
          <p:cNvSpPr/>
          <p:nvPr/>
        </p:nvSpPr>
        <p:spPr>
          <a:xfrm>
            <a:off x="2495550" y="6265268"/>
            <a:ext cx="5110299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Expresso Guaíba</a:t>
            </a:r>
            <a:endParaRPr lang="en-US" sz="2100" dirty="0"/>
          </a:p>
        </p:txBody>
      </p:sp>
      <p:sp>
        <p:nvSpPr>
          <p:cNvPr id="67" name="Shape 64"/>
          <p:cNvSpPr/>
          <p:nvPr/>
        </p:nvSpPr>
        <p:spPr>
          <a:xfrm>
            <a:off x="7672289" y="6805018"/>
            <a:ext cx="1628974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68" name="Text 65"/>
          <p:cNvSpPr/>
          <p:nvPr/>
        </p:nvSpPr>
        <p:spPr>
          <a:xfrm>
            <a:off x="7900889" y="6265268"/>
            <a:ext cx="1247974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164</a:t>
            </a:r>
            <a:endParaRPr lang="en-US" sz="2100" dirty="0"/>
          </a:p>
        </p:txBody>
      </p:sp>
      <p:sp>
        <p:nvSpPr>
          <p:cNvPr id="69" name="Shape 66"/>
          <p:cNvSpPr/>
          <p:nvPr/>
        </p:nvSpPr>
        <p:spPr>
          <a:xfrm>
            <a:off x="9301262" y="6805018"/>
            <a:ext cx="3367385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70" name="Text 67"/>
          <p:cNvSpPr/>
          <p:nvPr/>
        </p:nvSpPr>
        <p:spPr>
          <a:xfrm>
            <a:off x="9529862" y="6265268"/>
            <a:ext cx="3011207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R$ 4,4 mi</a:t>
            </a:r>
            <a:endParaRPr lang="en-US" sz="2100" dirty="0"/>
          </a:p>
        </p:txBody>
      </p:sp>
      <p:sp>
        <p:nvSpPr>
          <p:cNvPr id="71" name="Shape 68"/>
          <p:cNvSpPr/>
          <p:nvPr/>
        </p:nvSpPr>
        <p:spPr>
          <a:xfrm>
            <a:off x="12668648" y="6805018"/>
            <a:ext cx="4571603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72" name="Shape 69"/>
          <p:cNvSpPr/>
          <p:nvPr/>
        </p:nvSpPr>
        <p:spPr>
          <a:xfrm>
            <a:off x="12897248" y="6404471"/>
            <a:ext cx="1714500" cy="133350"/>
          </a:xfrm>
          <a:prstGeom prst="rect">
            <a:avLst/>
          </a:prstGeom>
          <a:solidFill>
            <a:srgbClr val="EAF0EC"/>
          </a:solidFill>
          <a:ln/>
        </p:spPr>
      </p:sp>
      <p:sp>
        <p:nvSpPr>
          <p:cNvPr id="73" name="Shape 70"/>
          <p:cNvSpPr/>
          <p:nvPr/>
        </p:nvSpPr>
        <p:spPr>
          <a:xfrm>
            <a:off x="12897248" y="6404471"/>
            <a:ext cx="891480" cy="133350"/>
          </a:xfrm>
          <a:prstGeom prst="rect">
            <a:avLst/>
          </a:prstGeom>
          <a:solidFill>
            <a:srgbClr val="0C6D61"/>
          </a:solidFill>
          <a:ln/>
        </p:spPr>
      </p:sp>
      <p:sp>
        <p:nvSpPr>
          <p:cNvPr id="74" name="Text 71"/>
          <p:cNvSpPr/>
          <p:nvPr/>
        </p:nvSpPr>
        <p:spPr>
          <a:xfrm>
            <a:off x="14859595" y="6268442"/>
            <a:ext cx="595511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52%</a:t>
            </a:r>
            <a:endParaRPr lang="en-US" sz="2100" dirty="0"/>
          </a:p>
        </p:txBody>
      </p:sp>
      <p:sp>
        <p:nvSpPr>
          <p:cNvPr id="75" name="Shape 72"/>
          <p:cNvSpPr/>
          <p:nvPr/>
        </p:nvSpPr>
        <p:spPr>
          <a:xfrm>
            <a:off x="1047750" y="7541617"/>
            <a:ext cx="12192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76" name="Text 73"/>
          <p:cNvSpPr/>
          <p:nvPr/>
        </p:nvSpPr>
        <p:spPr>
          <a:xfrm>
            <a:off x="1276350" y="7001867"/>
            <a:ext cx="83820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06</a:t>
            </a:r>
            <a:endParaRPr lang="en-US" sz="2100" dirty="0"/>
          </a:p>
        </p:txBody>
      </p:sp>
      <p:sp>
        <p:nvSpPr>
          <p:cNvPr id="77" name="Shape 74"/>
          <p:cNvSpPr/>
          <p:nvPr/>
        </p:nvSpPr>
        <p:spPr>
          <a:xfrm>
            <a:off x="2266950" y="7541617"/>
            <a:ext cx="5405339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78" name="Text 75"/>
          <p:cNvSpPr/>
          <p:nvPr/>
        </p:nvSpPr>
        <p:spPr>
          <a:xfrm>
            <a:off x="2495550" y="7001867"/>
            <a:ext cx="5110299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Cooperativa Oeste</a:t>
            </a:r>
            <a:endParaRPr lang="en-US" sz="2100" dirty="0"/>
          </a:p>
        </p:txBody>
      </p:sp>
      <p:sp>
        <p:nvSpPr>
          <p:cNvPr id="79" name="Shape 76"/>
          <p:cNvSpPr/>
          <p:nvPr/>
        </p:nvSpPr>
        <p:spPr>
          <a:xfrm>
            <a:off x="7672289" y="7541617"/>
            <a:ext cx="1628974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80" name="Text 77"/>
          <p:cNvSpPr/>
          <p:nvPr/>
        </p:nvSpPr>
        <p:spPr>
          <a:xfrm>
            <a:off x="7900889" y="7001867"/>
            <a:ext cx="1247974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148</a:t>
            </a:r>
            <a:endParaRPr lang="en-US" sz="2100" dirty="0"/>
          </a:p>
        </p:txBody>
      </p:sp>
      <p:sp>
        <p:nvSpPr>
          <p:cNvPr id="81" name="Shape 78"/>
          <p:cNvSpPr/>
          <p:nvPr/>
        </p:nvSpPr>
        <p:spPr>
          <a:xfrm>
            <a:off x="9301262" y="7541617"/>
            <a:ext cx="3367385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82" name="Text 79"/>
          <p:cNvSpPr/>
          <p:nvPr/>
        </p:nvSpPr>
        <p:spPr>
          <a:xfrm>
            <a:off x="9529862" y="7001867"/>
            <a:ext cx="3011207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R$ 3,9 mi</a:t>
            </a:r>
            <a:endParaRPr lang="en-US" sz="2100" dirty="0"/>
          </a:p>
        </p:txBody>
      </p:sp>
      <p:sp>
        <p:nvSpPr>
          <p:cNvPr id="83" name="Shape 80"/>
          <p:cNvSpPr/>
          <p:nvPr/>
        </p:nvSpPr>
        <p:spPr>
          <a:xfrm>
            <a:off x="12668648" y="7541617"/>
            <a:ext cx="4571603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84" name="Shape 81"/>
          <p:cNvSpPr/>
          <p:nvPr/>
        </p:nvSpPr>
        <p:spPr>
          <a:xfrm>
            <a:off x="12897248" y="7141071"/>
            <a:ext cx="1714500" cy="133350"/>
          </a:xfrm>
          <a:prstGeom prst="rect">
            <a:avLst/>
          </a:prstGeom>
          <a:solidFill>
            <a:srgbClr val="EAF0EC"/>
          </a:solidFill>
          <a:ln/>
        </p:spPr>
      </p:sp>
      <p:sp>
        <p:nvSpPr>
          <p:cNvPr id="85" name="Shape 82"/>
          <p:cNvSpPr/>
          <p:nvPr/>
        </p:nvSpPr>
        <p:spPr>
          <a:xfrm>
            <a:off x="12897248" y="7141071"/>
            <a:ext cx="462855" cy="133350"/>
          </a:xfrm>
          <a:prstGeom prst="rect">
            <a:avLst/>
          </a:prstGeom>
          <a:solidFill>
            <a:srgbClr val="0C6D61"/>
          </a:solidFill>
          <a:ln/>
        </p:spPr>
      </p:sp>
      <p:sp>
        <p:nvSpPr>
          <p:cNvPr id="86" name="Text 83"/>
          <p:cNvSpPr/>
          <p:nvPr/>
        </p:nvSpPr>
        <p:spPr>
          <a:xfrm>
            <a:off x="14859595" y="7005042"/>
            <a:ext cx="554137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27%</a:t>
            </a:r>
            <a:endParaRPr lang="en-US" sz="2100" dirty="0"/>
          </a:p>
        </p:txBody>
      </p:sp>
      <p:sp>
        <p:nvSpPr>
          <p:cNvPr id="87" name="Text 84"/>
          <p:cNvSpPr/>
          <p:nvPr/>
        </p:nvSpPr>
        <p:spPr>
          <a:xfrm>
            <a:off x="1276350" y="7738467"/>
            <a:ext cx="8382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07</a:t>
            </a:r>
            <a:endParaRPr lang="en-US" sz="2100" dirty="0"/>
          </a:p>
        </p:txBody>
      </p:sp>
      <p:sp>
        <p:nvSpPr>
          <p:cNvPr id="88" name="Text 85"/>
          <p:cNvSpPr/>
          <p:nvPr/>
        </p:nvSpPr>
        <p:spPr>
          <a:xfrm>
            <a:off x="2495550" y="7738467"/>
            <a:ext cx="511029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Trans Litoral</a:t>
            </a:r>
            <a:endParaRPr lang="en-US" sz="2100" dirty="0"/>
          </a:p>
        </p:txBody>
      </p:sp>
      <p:sp>
        <p:nvSpPr>
          <p:cNvPr id="89" name="Text 86"/>
          <p:cNvSpPr/>
          <p:nvPr/>
        </p:nvSpPr>
        <p:spPr>
          <a:xfrm>
            <a:off x="7900889" y="7738467"/>
            <a:ext cx="124797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131</a:t>
            </a:r>
            <a:endParaRPr lang="en-US" sz="2100" dirty="0"/>
          </a:p>
        </p:txBody>
      </p:sp>
      <p:sp>
        <p:nvSpPr>
          <p:cNvPr id="90" name="Text 87"/>
          <p:cNvSpPr/>
          <p:nvPr/>
        </p:nvSpPr>
        <p:spPr>
          <a:xfrm>
            <a:off x="9529862" y="7738467"/>
            <a:ext cx="301120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R$ 3,4 mi</a:t>
            </a:r>
            <a:endParaRPr lang="en-US" sz="2100" dirty="0"/>
          </a:p>
        </p:txBody>
      </p:sp>
      <p:sp>
        <p:nvSpPr>
          <p:cNvPr id="91" name="Shape 88"/>
          <p:cNvSpPr/>
          <p:nvPr/>
        </p:nvSpPr>
        <p:spPr>
          <a:xfrm>
            <a:off x="12897248" y="7877671"/>
            <a:ext cx="1714500" cy="133350"/>
          </a:xfrm>
          <a:prstGeom prst="rect">
            <a:avLst/>
          </a:prstGeom>
          <a:solidFill>
            <a:srgbClr val="EAF0EC"/>
          </a:solidFill>
          <a:ln/>
        </p:spPr>
      </p:sp>
      <p:sp>
        <p:nvSpPr>
          <p:cNvPr id="92" name="Shape 89"/>
          <p:cNvSpPr/>
          <p:nvPr/>
        </p:nvSpPr>
        <p:spPr>
          <a:xfrm>
            <a:off x="12897248" y="7877671"/>
            <a:ext cx="274241" cy="133350"/>
          </a:xfrm>
          <a:prstGeom prst="rect">
            <a:avLst/>
          </a:prstGeom>
          <a:solidFill>
            <a:srgbClr val="F26800"/>
          </a:solidFill>
          <a:ln/>
        </p:spPr>
      </p:sp>
      <p:sp>
        <p:nvSpPr>
          <p:cNvPr id="93" name="Text 90"/>
          <p:cNvSpPr/>
          <p:nvPr/>
        </p:nvSpPr>
        <p:spPr>
          <a:xfrm>
            <a:off x="14859595" y="7741643"/>
            <a:ext cx="52328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16%</a:t>
            </a:r>
            <a:endParaRPr lang="en-US" sz="2100" dirty="0"/>
          </a:p>
        </p:txBody>
      </p:sp>
      <p:sp>
        <p:nvSpPr>
          <p:cNvPr id="94" name="Shape 91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95" name="Text 92"/>
          <p:cNvSpPr/>
          <p:nvPr/>
        </p:nvSpPr>
        <p:spPr>
          <a:xfrm>
            <a:off x="1047750" y="9264650"/>
            <a:ext cx="775662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Laranja marca penetração abaixo de 25% · dados de exemplo</a:t>
            </a:r>
            <a:endParaRPr lang="en-US" sz="1800" dirty="0"/>
          </a:p>
        </p:txBody>
      </p:sp>
      <p:sp>
        <p:nvSpPr>
          <p:cNvPr id="96" name="Text 93"/>
          <p:cNvSpPr/>
          <p:nvPr/>
        </p:nvSpPr>
        <p:spPr>
          <a:xfrm>
            <a:off x="13650516" y="9264650"/>
            <a:ext cx="3948708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Tabela de ranking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185440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HISTÓRICO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71600"/>
            <a:ext cx="17811750" cy="69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3"/>
              </a:lnSpc>
              <a:buNone/>
            </a:pPr>
            <a:r>
              <a:rPr lang="en-US" sz="4650" b="1" spc="-46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Marcos da operação desde a fundação</a:t>
            </a:r>
            <a:endParaRPr lang="en-US" sz="4650" dirty="0"/>
          </a:p>
        </p:txBody>
      </p:sp>
      <p:sp>
        <p:nvSpPr>
          <p:cNvPr id="5" name="Text 2"/>
          <p:cNvSpPr/>
          <p:nvPr/>
        </p:nvSpPr>
        <p:spPr>
          <a:xfrm>
            <a:off x="1047750" y="2756892"/>
            <a:ext cx="333565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2019</a:t>
            </a:r>
            <a:endParaRPr lang="en-US" sz="2550" dirty="0"/>
          </a:p>
        </p:txBody>
      </p:sp>
      <p:sp>
        <p:nvSpPr>
          <p:cNvPr id="6" name="Shape 3"/>
          <p:cNvSpPr/>
          <p:nvPr/>
        </p:nvSpPr>
        <p:spPr>
          <a:xfrm>
            <a:off x="1047750" y="3404592"/>
            <a:ext cx="3238500" cy="38100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7" name="Shape 4"/>
          <p:cNvSpPr/>
          <p:nvPr/>
        </p:nvSpPr>
        <p:spPr>
          <a:xfrm>
            <a:off x="1047750" y="3309342"/>
            <a:ext cx="228600" cy="228600"/>
          </a:xfrm>
          <a:prstGeom prst="ellipse">
            <a:avLst/>
          </a:prstGeom>
          <a:solidFill>
            <a:srgbClr val="0C6D61"/>
          </a:solidFill>
          <a:ln/>
        </p:spPr>
      </p:sp>
      <p:sp>
        <p:nvSpPr>
          <p:cNvPr id="8" name="Text 5"/>
          <p:cNvSpPr/>
          <p:nvPr/>
        </p:nvSpPr>
        <p:spPr>
          <a:xfrm>
            <a:off x="1047750" y="3709392"/>
            <a:ext cx="2916555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966"/>
              </a:lnSpc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Primeiro pátio de desmonte em Curitiba, com nove colaboradores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4286250" y="2756892"/>
            <a:ext cx="333565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2021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4286250" y="3404592"/>
            <a:ext cx="3238500" cy="38100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1" name="Shape 8"/>
          <p:cNvSpPr/>
          <p:nvPr/>
        </p:nvSpPr>
        <p:spPr>
          <a:xfrm>
            <a:off x="4286250" y="3309342"/>
            <a:ext cx="228600" cy="228600"/>
          </a:xfrm>
          <a:prstGeom prst="ellipse">
            <a:avLst/>
          </a:prstGeom>
          <a:solidFill>
            <a:srgbClr val="0C6D61"/>
          </a:solidFill>
          <a:ln/>
        </p:spPr>
      </p:sp>
      <p:sp>
        <p:nvSpPr>
          <p:cNvPr id="12" name="Text 9"/>
          <p:cNvSpPr/>
          <p:nvPr/>
        </p:nvSpPr>
        <p:spPr>
          <a:xfrm>
            <a:off x="4286250" y="3709392"/>
            <a:ext cx="2916555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966"/>
              </a:lnSpc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Catálogo digital de peças e início da venda para fora do estado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7524750" y="2756892"/>
            <a:ext cx="333565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2023</a:t>
            </a:r>
            <a:endParaRPr lang="en-US" sz="2550" dirty="0"/>
          </a:p>
        </p:txBody>
      </p:sp>
      <p:sp>
        <p:nvSpPr>
          <p:cNvPr id="14" name="Shape 11"/>
          <p:cNvSpPr/>
          <p:nvPr/>
        </p:nvSpPr>
        <p:spPr>
          <a:xfrm>
            <a:off x="7524750" y="3404592"/>
            <a:ext cx="3238500" cy="38100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5" name="Shape 12"/>
          <p:cNvSpPr/>
          <p:nvPr/>
        </p:nvSpPr>
        <p:spPr>
          <a:xfrm>
            <a:off x="7524750" y="3309342"/>
            <a:ext cx="228600" cy="228600"/>
          </a:xfrm>
          <a:prstGeom prst="ellipse">
            <a:avLst/>
          </a:prstGeom>
          <a:solidFill>
            <a:srgbClr val="0C6D61"/>
          </a:solidFill>
          <a:ln/>
        </p:spPr>
      </p:sp>
      <p:sp>
        <p:nvSpPr>
          <p:cNvPr id="16" name="Text 13"/>
          <p:cNvSpPr/>
          <p:nvPr/>
        </p:nvSpPr>
        <p:spPr>
          <a:xfrm>
            <a:off x="7524750" y="3709392"/>
            <a:ext cx="2916555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966"/>
              </a:lnSpc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Linha de importação direta e primeira bancada de remanufatura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10763250" y="2756892"/>
            <a:ext cx="333565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2025</a:t>
            </a:r>
            <a:endParaRPr lang="en-US" sz="2550" dirty="0"/>
          </a:p>
        </p:txBody>
      </p:sp>
      <p:sp>
        <p:nvSpPr>
          <p:cNvPr id="18" name="Shape 15"/>
          <p:cNvSpPr/>
          <p:nvPr/>
        </p:nvSpPr>
        <p:spPr>
          <a:xfrm>
            <a:off x="10763250" y="3404592"/>
            <a:ext cx="3238500" cy="38100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9" name="Shape 16"/>
          <p:cNvSpPr/>
          <p:nvPr/>
        </p:nvSpPr>
        <p:spPr>
          <a:xfrm>
            <a:off x="10763250" y="3309342"/>
            <a:ext cx="228600" cy="228600"/>
          </a:xfrm>
          <a:prstGeom prst="ellipse">
            <a:avLst/>
          </a:prstGeom>
          <a:solidFill>
            <a:srgbClr val="0C6D61"/>
          </a:solidFill>
          <a:ln/>
        </p:spPr>
      </p:sp>
      <p:sp>
        <p:nvSpPr>
          <p:cNvPr id="20" name="Text 17"/>
          <p:cNvSpPr/>
          <p:nvPr/>
        </p:nvSpPr>
        <p:spPr>
          <a:xfrm>
            <a:off x="10763250" y="3709392"/>
            <a:ext cx="2916555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966"/>
              </a:lnSpc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Centro de distribuição em Joinville e 500 clientes ativos</a:t>
            </a:r>
            <a:endParaRPr lang="en-US" sz="2250" dirty="0"/>
          </a:p>
        </p:txBody>
      </p:sp>
      <p:sp>
        <p:nvSpPr>
          <p:cNvPr id="21" name="Text 18"/>
          <p:cNvSpPr/>
          <p:nvPr/>
        </p:nvSpPr>
        <p:spPr>
          <a:xfrm>
            <a:off x="14001750" y="2756892"/>
            <a:ext cx="333565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2026</a:t>
            </a:r>
            <a:endParaRPr lang="en-US" sz="2550" dirty="0"/>
          </a:p>
        </p:txBody>
      </p:sp>
      <p:sp>
        <p:nvSpPr>
          <p:cNvPr id="22" name="Shape 19"/>
          <p:cNvSpPr/>
          <p:nvPr/>
        </p:nvSpPr>
        <p:spPr>
          <a:xfrm>
            <a:off x="14001750" y="3404592"/>
            <a:ext cx="3238500" cy="38100"/>
          </a:xfrm>
          <a:prstGeom prst="rect">
            <a:avLst/>
          </a:prstGeom>
          <a:solidFill>
            <a:srgbClr val="F26800"/>
          </a:solidFill>
          <a:ln/>
        </p:spPr>
      </p:sp>
      <p:sp>
        <p:nvSpPr>
          <p:cNvPr id="23" name="Shape 20"/>
          <p:cNvSpPr/>
          <p:nvPr/>
        </p:nvSpPr>
        <p:spPr>
          <a:xfrm>
            <a:off x="14001750" y="3309342"/>
            <a:ext cx="228600" cy="228600"/>
          </a:xfrm>
          <a:prstGeom prst="ellipse">
            <a:avLst/>
          </a:prstGeom>
          <a:solidFill>
            <a:srgbClr val="F26800"/>
          </a:solidFill>
          <a:ln/>
        </p:spPr>
      </p:sp>
      <p:sp>
        <p:nvSpPr>
          <p:cNvPr id="24" name="Text 21"/>
          <p:cNvSpPr/>
          <p:nvPr/>
        </p:nvSpPr>
        <p:spPr>
          <a:xfrm>
            <a:off x="14001750" y="3709392"/>
            <a:ext cx="3335655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966"/>
              </a:lnSpc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Meta de três novas praças e faturamento de R$ 140 mi</a:t>
            </a:r>
            <a:endParaRPr lang="en-US" sz="2250" dirty="0"/>
          </a:p>
        </p:txBody>
      </p:sp>
      <p:sp>
        <p:nvSpPr>
          <p:cNvPr id="25" name="Shape 22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6" name="Text 23"/>
          <p:cNvSpPr/>
          <p:nvPr/>
        </p:nvSpPr>
        <p:spPr>
          <a:xfrm>
            <a:off x="1047750" y="9264650"/>
            <a:ext cx="286330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· Deck mestre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2742466" y="9264650"/>
            <a:ext cx="4947563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Linha do tempo horizontal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261304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ROADMAP 2026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71600"/>
            <a:ext cx="17811750" cy="69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3"/>
              </a:lnSpc>
              <a:buNone/>
            </a:pPr>
            <a:r>
              <a:rPr lang="en-US" sz="4650" b="1" spc="-46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Cronograma de expansão por trimestre</a:t>
            </a:r>
            <a:endParaRPr lang="en-US" sz="4650" dirty="0"/>
          </a:p>
        </p:txBody>
      </p:sp>
      <p:sp>
        <p:nvSpPr>
          <p:cNvPr id="5" name="Shape 2"/>
          <p:cNvSpPr/>
          <p:nvPr/>
        </p:nvSpPr>
        <p:spPr>
          <a:xfrm>
            <a:off x="1047750" y="3010892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6" name="Text 3"/>
          <p:cNvSpPr/>
          <p:nvPr/>
        </p:nvSpPr>
        <p:spPr>
          <a:xfrm>
            <a:off x="4438650" y="2490192"/>
            <a:ext cx="340995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1T26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7677150" y="2490192"/>
            <a:ext cx="340995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2T26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0915650" y="2490192"/>
            <a:ext cx="340995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3T26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4154150" y="2490192"/>
            <a:ext cx="340995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4T26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1047750" y="4045942"/>
            <a:ext cx="16192500" cy="9525"/>
          </a:xfrm>
          <a:prstGeom prst="rect">
            <a:avLst/>
          </a:prstGeom>
          <a:solidFill>
            <a:srgbClr val="EAF0EC"/>
          </a:solidFill>
          <a:ln/>
        </p:spPr>
      </p:sp>
      <p:sp>
        <p:nvSpPr>
          <p:cNvPr id="11" name="Text 8"/>
          <p:cNvSpPr/>
          <p:nvPr/>
        </p:nvSpPr>
        <p:spPr>
          <a:xfrm>
            <a:off x="1047750" y="3344267"/>
            <a:ext cx="3562350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Nova praça · Goiás</a:t>
            </a:r>
            <a:endParaRPr lang="en-US" sz="2250" dirty="0"/>
          </a:p>
        </p:txBody>
      </p:sp>
      <p:sp>
        <p:nvSpPr>
          <p:cNvPr id="12" name="Shape 9"/>
          <p:cNvSpPr/>
          <p:nvPr/>
        </p:nvSpPr>
        <p:spPr>
          <a:xfrm>
            <a:off x="4514850" y="3302992"/>
            <a:ext cx="12725400" cy="457200"/>
          </a:xfrm>
          <a:prstGeom prst="rect">
            <a:avLst/>
          </a:prstGeom>
          <a:solidFill>
            <a:srgbClr val="EAF0EC"/>
          </a:solidFill>
          <a:ln/>
        </p:spPr>
      </p:sp>
      <p:sp>
        <p:nvSpPr>
          <p:cNvPr id="13" name="Shape 10"/>
          <p:cNvSpPr/>
          <p:nvPr/>
        </p:nvSpPr>
        <p:spPr>
          <a:xfrm>
            <a:off x="10877550" y="3302992"/>
            <a:ext cx="5318721" cy="457200"/>
          </a:xfrm>
          <a:prstGeom prst="rect">
            <a:avLst/>
          </a:prstGeom>
          <a:solidFill>
            <a:srgbClr val="0C6D61"/>
          </a:solidFill>
          <a:ln/>
        </p:spPr>
      </p:sp>
      <p:sp>
        <p:nvSpPr>
          <p:cNvPr id="14" name="Text 11"/>
          <p:cNvSpPr/>
          <p:nvPr/>
        </p:nvSpPr>
        <p:spPr>
          <a:xfrm>
            <a:off x="11106150" y="3302992"/>
            <a:ext cx="524968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Estruturação e abertura</a:t>
            </a:r>
            <a:endParaRPr lang="en-US" sz="1950" dirty="0"/>
          </a:p>
        </p:txBody>
      </p:sp>
      <p:sp>
        <p:nvSpPr>
          <p:cNvPr id="15" name="Shape 12"/>
          <p:cNvSpPr/>
          <p:nvPr/>
        </p:nvSpPr>
        <p:spPr>
          <a:xfrm>
            <a:off x="1047750" y="5373092"/>
            <a:ext cx="16192500" cy="9525"/>
          </a:xfrm>
          <a:prstGeom prst="rect">
            <a:avLst/>
          </a:prstGeom>
          <a:solidFill>
            <a:srgbClr val="EAF0EC"/>
          </a:solidFill>
          <a:ln/>
        </p:spPr>
      </p:sp>
      <p:sp>
        <p:nvSpPr>
          <p:cNvPr id="16" name="Text 13"/>
          <p:cNvSpPr/>
          <p:nvPr/>
        </p:nvSpPr>
        <p:spPr>
          <a:xfrm>
            <a:off x="1047750" y="4338042"/>
            <a:ext cx="3335655" cy="787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Capacidade de remanufatura</a:t>
            </a:r>
            <a:endParaRPr lang="en-US" sz="2250" dirty="0"/>
          </a:p>
        </p:txBody>
      </p:sp>
      <p:sp>
        <p:nvSpPr>
          <p:cNvPr id="17" name="Shape 14"/>
          <p:cNvSpPr/>
          <p:nvPr/>
        </p:nvSpPr>
        <p:spPr>
          <a:xfrm>
            <a:off x="4514850" y="4484092"/>
            <a:ext cx="12725400" cy="457200"/>
          </a:xfrm>
          <a:prstGeom prst="rect">
            <a:avLst/>
          </a:prstGeom>
          <a:solidFill>
            <a:srgbClr val="EAF0EC"/>
          </a:solidFill>
          <a:ln/>
        </p:spPr>
      </p:sp>
      <p:sp>
        <p:nvSpPr>
          <p:cNvPr id="18" name="Shape 15"/>
          <p:cNvSpPr/>
          <p:nvPr/>
        </p:nvSpPr>
        <p:spPr>
          <a:xfrm>
            <a:off x="7696200" y="4484092"/>
            <a:ext cx="7227491" cy="457200"/>
          </a:xfrm>
          <a:prstGeom prst="rect">
            <a:avLst/>
          </a:prstGeom>
          <a:solidFill>
            <a:srgbClr val="0C6D61"/>
          </a:solidFill>
          <a:ln/>
        </p:spPr>
      </p:sp>
      <p:sp>
        <p:nvSpPr>
          <p:cNvPr id="19" name="Text 16"/>
          <p:cNvSpPr/>
          <p:nvPr/>
        </p:nvSpPr>
        <p:spPr>
          <a:xfrm>
            <a:off x="7924800" y="4484092"/>
            <a:ext cx="721571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Segunda bancada em operação</a:t>
            </a:r>
            <a:endParaRPr lang="en-US" sz="1950" dirty="0"/>
          </a:p>
        </p:txBody>
      </p:sp>
      <p:sp>
        <p:nvSpPr>
          <p:cNvPr id="20" name="Shape 17"/>
          <p:cNvSpPr/>
          <p:nvPr/>
        </p:nvSpPr>
        <p:spPr>
          <a:xfrm>
            <a:off x="1047750" y="6700243"/>
            <a:ext cx="16192500" cy="9525"/>
          </a:xfrm>
          <a:prstGeom prst="rect">
            <a:avLst/>
          </a:prstGeom>
          <a:solidFill>
            <a:srgbClr val="EAF0EC"/>
          </a:solidFill>
          <a:ln/>
        </p:spPr>
      </p:sp>
      <p:sp>
        <p:nvSpPr>
          <p:cNvPr id="21" name="Text 18"/>
          <p:cNvSpPr/>
          <p:nvPr/>
        </p:nvSpPr>
        <p:spPr>
          <a:xfrm>
            <a:off x="1047750" y="5665193"/>
            <a:ext cx="3335655" cy="787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Catálogo e e-commerce</a:t>
            </a:r>
            <a:endParaRPr lang="en-US" sz="2250" dirty="0"/>
          </a:p>
        </p:txBody>
      </p:sp>
      <p:sp>
        <p:nvSpPr>
          <p:cNvPr id="22" name="Shape 19"/>
          <p:cNvSpPr/>
          <p:nvPr/>
        </p:nvSpPr>
        <p:spPr>
          <a:xfrm>
            <a:off x="4514850" y="5811242"/>
            <a:ext cx="12725400" cy="457200"/>
          </a:xfrm>
          <a:prstGeom prst="rect">
            <a:avLst/>
          </a:prstGeom>
          <a:solidFill>
            <a:srgbClr val="EAF0EC"/>
          </a:solidFill>
          <a:ln/>
        </p:spPr>
      </p:sp>
      <p:sp>
        <p:nvSpPr>
          <p:cNvPr id="23" name="Shape 20"/>
          <p:cNvSpPr/>
          <p:nvPr/>
        </p:nvSpPr>
        <p:spPr>
          <a:xfrm>
            <a:off x="4514850" y="5811242"/>
            <a:ext cx="5955010" cy="457200"/>
          </a:xfrm>
          <a:prstGeom prst="rect">
            <a:avLst/>
          </a:prstGeom>
          <a:solidFill>
            <a:srgbClr val="A3CCAB"/>
          </a:solidFill>
          <a:ln/>
        </p:spPr>
      </p:sp>
      <p:sp>
        <p:nvSpPr>
          <p:cNvPr id="24" name="Text 21"/>
          <p:cNvSpPr/>
          <p:nvPr/>
        </p:nvSpPr>
        <p:spPr>
          <a:xfrm>
            <a:off x="4743450" y="5811242"/>
            <a:ext cx="590506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Reformulação da busca de peças</a:t>
            </a:r>
            <a:endParaRPr lang="en-US" sz="1950" dirty="0"/>
          </a:p>
        </p:txBody>
      </p:sp>
      <p:sp>
        <p:nvSpPr>
          <p:cNvPr id="25" name="Text 22"/>
          <p:cNvSpPr/>
          <p:nvPr/>
        </p:nvSpPr>
        <p:spPr>
          <a:xfrm>
            <a:off x="1047750" y="6992342"/>
            <a:ext cx="3335655" cy="787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Time comercial regional</a:t>
            </a:r>
            <a:endParaRPr lang="en-US" sz="2250" dirty="0"/>
          </a:p>
        </p:txBody>
      </p:sp>
      <p:sp>
        <p:nvSpPr>
          <p:cNvPr id="26" name="Shape 23"/>
          <p:cNvSpPr/>
          <p:nvPr/>
        </p:nvSpPr>
        <p:spPr>
          <a:xfrm>
            <a:off x="4514850" y="7138392"/>
            <a:ext cx="12725400" cy="457200"/>
          </a:xfrm>
          <a:prstGeom prst="rect">
            <a:avLst/>
          </a:prstGeom>
          <a:solidFill>
            <a:srgbClr val="EAF0EC"/>
          </a:solidFill>
          <a:ln/>
        </p:spPr>
      </p:sp>
      <p:sp>
        <p:nvSpPr>
          <p:cNvPr id="27" name="Shape 24"/>
          <p:cNvSpPr/>
          <p:nvPr/>
        </p:nvSpPr>
        <p:spPr>
          <a:xfrm>
            <a:off x="12262842" y="7138392"/>
            <a:ext cx="4977408" cy="457200"/>
          </a:xfrm>
          <a:prstGeom prst="rect">
            <a:avLst/>
          </a:prstGeom>
          <a:solidFill>
            <a:srgbClr val="F26800"/>
          </a:solidFill>
          <a:ln/>
        </p:spPr>
      </p:sp>
      <p:sp>
        <p:nvSpPr>
          <p:cNvPr id="28" name="Text 25"/>
          <p:cNvSpPr/>
          <p:nvPr/>
        </p:nvSpPr>
        <p:spPr>
          <a:xfrm>
            <a:off x="12491442" y="7138392"/>
            <a:ext cx="489813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Contratação de 12 vendedores</a:t>
            </a:r>
            <a:endParaRPr lang="en-US" sz="1950" dirty="0"/>
          </a:p>
        </p:txBody>
      </p:sp>
      <p:sp>
        <p:nvSpPr>
          <p:cNvPr id="29" name="Shape 26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30" name="Text 27"/>
          <p:cNvSpPr/>
          <p:nvPr/>
        </p:nvSpPr>
        <p:spPr>
          <a:xfrm>
            <a:off x="1047750" y="9264650"/>
            <a:ext cx="286330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· Deck mestre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13496430" y="9264650"/>
            <a:ext cx="4118203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Roadmap por fases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179689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PROCESSO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71600"/>
            <a:ext cx="17811750" cy="69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3"/>
              </a:lnSpc>
              <a:buNone/>
            </a:pPr>
            <a:r>
              <a:rPr lang="en-US" sz="4650" b="1" spc="-46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Do pedido do cliente à entrega da peça</a:t>
            </a:r>
            <a:endParaRPr lang="en-US" sz="4650" dirty="0"/>
          </a:p>
        </p:txBody>
      </p:sp>
      <p:sp>
        <p:nvSpPr>
          <p:cNvPr id="5" name="Shape 2"/>
          <p:cNvSpPr/>
          <p:nvPr/>
        </p:nvSpPr>
        <p:spPr>
          <a:xfrm>
            <a:off x="1047750" y="2642592"/>
            <a:ext cx="2598341" cy="3375422"/>
          </a:xfrm>
          <a:prstGeom prst="roundRect">
            <a:avLst>
              <a:gd name="adj" fmla="val 2933"/>
            </a:avLst>
          </a:prstGeom>
          <a:solidFill>
            <a:srgbClr val="EAF0EC"/>
          </a:solidFill>
          <a:ln/>
        </p:spPr>
      </p:sp>
      <p:sp>
        <p:nvSpPr>
          <p:cNvPr id="6" name="Text 3"/>
          <p:cNvSpPr/>
          <p:nvPr/>
        </p:nvSpPr>
        <p:spPr>
          <a:xfrm>
            <a:off x="1333500" y="2966442"/>
            <a:ext cx="222952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01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333500" y="3442692"/>
            <a:ext cx="2103041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24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Pedido recebido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333500" y="4357092"/>
            <a:ext cx="2103041" cy="1040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Portal, telefone ou vendedor em campo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3836591" y="2642592"/>
            <a:ext cx="495300" cy="3413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→</a:t>
            </a:r>
            <a:endParaRPr lang="en-US" sz="3300" dirty="0"/>
          </a:p>
        </p:txBody>
      </p:sp>
      <p:sp>
        <p:nvSpPr>
          <p:cNvPr id="10" name="Shape 7"/>
          <p:cNvSpPr/>
          <p:nvPr/>
        </p:nvSpPr>
        <p:spPr>
          <a:xfrm>
            <a:off x="4446191" y="2642592"/>
            <a:ext cx="2598440" cy="3375422"/>
          </a:xfrm>
          <a:prstGeom prst="roundRect">
            <a:avLst>
              <a:gd name="adj" fmla="val 2933"/>
            </a:avLst>
          </a:prstGeom>
          <a:solidFill>
            <a:srgbClr val="EAF0EC"/>
          </a:solidFill>
          <a:ln/>
        </p:spPr>
      </p:sp>
      <p:sp>
        <p:nvSpPr>
          <p:cNvPr id="11" name="Text 8"/>
          <p:cNvSpPr/>
          <p:nvPr/>
        </p:nvSpPr>
        <p:spPr>
          <a:xfrm>
            <a:off x="4731941" y="2966442"/>
            <a:ext cx="222963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02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4731941" y="3442692"/>
            <a:ext cx="210314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24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Identificação da peça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4731941" y="4357092"/>
            <a:ext cx="2103140" cy="1375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Chassi e catálogo cruzados no sistema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7235130" y="2642592"/>
            <a:ext cx="495300" cy="3413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→</a:t>
            </a:r>
            <a:endParaRPr lang="en-US" sz="3300" dirty="0"/>
          </a:p>
        </p:txBody>
      </p:sp>
      <p:sp>
        <p:nvSpPr>
          <p:cNvPr id="15" name="Shape 12"/>
          <p:cNvSpPr/>
          <p:nvPr/>
        </p:nvSpPr>
        <p:spPr>
          <a:xfrm>
            <a:off x="7844730" y="2642592"/>
            <a:ext cx="2598440" cy="3375422"/>
          </a:xfrm>
          <a:prstGeom prst="roundRect">
            <a:avLst>
              <a:gd name="adj" fmla="val 2933"/>
            </a:avLst>
          </a:prstGeom>
          <a:solidFill>
            <a:srgbClr val="EAF0EC"/>
          </a:solidFill>
          <a:ln/>
        </p:spPr>
      </p:sp>
      <p:sp>
        <p:nvSpPr>
          <p:cNvPr id="16" name="Text 13"/>
          <p:cNvSpPr/>
          <p:nvPr/>
        </p:nvSpPr>
        <p:spPr>
          <a:xfrm>
            <a:off x="8130480" y="2966442"/>
            <a:ext cx="222963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03</a:t>
            </a:r>
            <a:endParaRPr lang="en-US" sz="1950" dirty="0"/>
          </a:p>
        </p:txBody>
      </p:sp>
      <p:sp>
        <p:nvSpPr>
          <p:cNvPr id="17" name="Text 14"/>
          <p:cNvSpPr/>
          <p:nvPr/>
        </p:nvSpPr>
        <p:spPr>
          <a:xfrm>
            <a:off x="8130480" y="3442692"/>
            <a:ext cx="210314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24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Cotação e aprovação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8130480" y="4357092"/>
            <a:ext cx="2103140" cy="1375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Proposta com prazo e condição de pagamento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10633671" y="2642592"/>
            <a:ext cx="495300" cy="3413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→</a:t>
            </a:r>
            <a:endParaRPr lang="en-US" sz="3300" dirty="0"/>
          </a:p>
        </p:txBody>
      </p:sp>
      <p:sp>
        <p:nvSpPr>
          <p:cNvPr id="20" name="Shape 17"/>
          <p:cNvSpPr/>
          <p:nvPr/>
        </p:nvSpPr>
        <p:spPr>
          <a:xfrm>
            <a:off x="11243271" y="2642592"/>
            <a:ext cx="2598440" cy="3375422"/>
          </a:xfrm>
          <a:prstGeom prst="roundRect">
            <a:avLst>
              <a:gd name="adj" fmla="val 2933"/>
            </a:avLst>
          </a:prstGeom>
          <a:solidFill>
            <a:srgbClr val="EAF0EC"/>
          </a:solidFill>
          <a:ln/>
        </p:spPr>
      </p:sp>
      <p:sp>
        <p:nvSpPr>
          <p:cNvPr id="21" name="Text 18"/>
          <p:cNvSpPr/>
          <p:nvPr/>
        </p:nvSpPr>
        <p:spPr>
          <a:xfrm>
            <a:off x="11529021" y="2966442"/>
            <a:ext cx="222963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04</a:t>
            </a:r>
            <a:endParaRPr lang="en-US" sz="1950" dirty="0"/>
          </a:p>
        </p:txBody>
      </p:sp>
      <p:sp>
        <p:nvSpPr>
          <p:cNvPr id="22" name="Text 19"/>
          <p:cNvSpPr/>
          <p:nvPr/>
        </p:nvSpPr>
        <p:spPr>
          <a:xfrm>
            <a:off x="11529021" y="3442692"/>
            <a:ext cx="210314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24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Separação e conferência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11529021" y="4357092"/>
            <a:ext cx="2103140" cy="1375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Teste de bancada e registro fotográfico</a:t>
            </a:r>
            <a:endParaRPr lang="en-US" sz="1950" dirty="0"/>
          </a:p>
        </p:txBody>
      </p:sp>
      <p:sp>
        <p:nvSpPr>
          <p:cNvPr id="24" name="Text 21"/>
          <p:cNvSpPr/>
          <p:nvPr/>
        </p:nvSpPr>
        <p:spPr>
          <a:xfrm>
            <a:off x="14032211" y="2642592"/>
            <a:ext cx="495300" cy="3413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→</a:t>
            </a:r>
            <a:endParaRPr lang="en-US" sz="3300" dirty="0"/>
          </a:p>
        </p:txBody>
      </p:sp>
      <p:sp>
        <p:nvSpPr>
          <p:cNvPr id="25" name="Shape 22"/>
          <p:cNvSpPr/>
          <p:nvPr/>
        </p:nvSpPr>
        <p:spPr>
          <a:xfrm>
            <a:off x="14641811" y="2642592"/>
            <a:ext cx="2598440" cy="3375422"/>
          </a:xfrm>
          <a:prstGeom prst="roundRect">
            <a:avLst>
              <a:gd name="adj" fmla="val 2933"/>
            </a:avLst>
          </a:prstGeom>
          <a:solidFill>
            <a:srgbClr val="012D2B"/>
          </a:solidFill>
          <a:ln/>
        </p:spPr>
      </p:sp>
      <p:sp>
        <p:nvSpPr>
          <p:cNvPr id="26" name="Text 23"/>
          <p:cNvSpPr/>
          <p:nvPr/>
        </p:nvSpPr>
        <p:spPr>
          <a:xfrm>
            <a:off x="14927561" y="2966442"/>
            <a:ext cx="222963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05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4927561" y="3442692"/>
            <a:ext cx="222963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2400" b="1" dirty="0">
                <a:solidFill>
                  <a:srgbClr val="EAF0EC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Expedição</a:t>
            </a:r>
            <a:endParaRPr lang="en-US" sz="2400" dirty="0"/>
          </a:p>
        </p:txBody>
      </p:sp>
      <p:sp>
        <p:nvSpPr>
          <p:cNvPr id="28" name="Text 25"/>
          <p:cNvSpPr/>
          <p:nvPr/>
        </p:nvSpPr>
        <p:spPr>
          <a:xfrm>
            <a:off x="14927561" y="3976092"/>
            <a:ext cx="2103140" cy="1375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Coleta programada e rastreio até a oficina</a:t>
            </a:r>
            <a:endParaRPr lang="en-US" sz="1950" dirty="0"/>
          </a:p>
        </p:txBody>
      </p:sp>
      <p:sp>
        <p:nvSpPr>
          <p:cNvPr id="29" name="Text 26"/>
          <p:cNvSpPr/>
          <p:nvPr/>
        </p:nvSpPr>
        <p:spPr>
          <a:xfrm>
            <a:off x="1047750" y="6475214"/>
            <a:ext cx="3893701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Tempo total médio: </a:t>
            </a:r>
            <a:pPr algn="l" indent="0" marL="0">
              <a:buNone/>
            </a:pPr>
            <a:r>
              <a:rPr lang="en-US" sz="21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6,1 dias</a:t>
            </a:r>
            <a:endParaRPr lang="en-US" sz="2100" dirty="0"/>
          </a:p>
        </p:txBody>
      </p:sp>
      <p:sp>
        <p:nvSpPr>
          <p:cNvPr id="30" name="Text 27"/>
          <p:cNvSpPr/>
          <p:nvPr/>
        </p:nvSpPr>
        <p:spPr>
          <a:xfrm>
            <a:off x="5120878" y="6475214"/>
            <a:ext cx="6201807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Etapa mais lenta: </a:t>
            </a:r>
            <a:pPr algn="l" indent="0" marL="0">
              <a:buNone/>
            </a:pPr>
            <a:r>
              <a:rPr lang="en-US" sz="21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separação e conferência</a:t>
            </a:r>
            <a:endParaRPr lang="en-US" sz="2100" dirty="0"/>
          </a:p>
        </p:txBody>
      </p:sp>
      <p:sp>
        <p:nvSpPr>
          <p:cNvPr id="31" name="Shape 28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32" name="Text 29"/>
          <p:cNvSpPr/>
          <p:nvPr/>
        </p:nvSpPr>
        <p:spPr>
          <a:xfrm>
            <a:off x="1047750" y="9264650"/>
            <a:ext cx="286330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· Deck mestre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12932966" y="9264650"/>
            <a:ext cx="4738013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Fluxograma de processo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195929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ESTRUTURA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71600"/>
            <a:ext cx="17811750" cy="69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3"/>
              </a:lnSpc>
              <a:buNone/>
            </a:pPr>
            <a:r>
              <a:rPr lang="en-US" sz="4650" b="1" spc="-46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Como o time está organizado hoje</a:t>
            </a:r>
            <a:endParaRPr lang="en-US" sz="4650" dirty="0"/>
          </a:p>
        </p:txBody>
      </p:sp>
      <p:sp>
        <p:nvSpPr>
          <p:cNvPr id="5" name="Shape 2"/>
          <p:cNvSpPr/>
          <p:nvPr/>
        </p:nvSpPr>
        <p:spPr>
          <a:xfrm>
            <a:off x="6648450" y="2566392"/>
            <a:ext cx="4991100" cy="1289050"/>
          </a:xfrm>
          <a:prstGeom prst="roundRect">
            <a:avLst>
              <a:gd name="adj" fmla="val 5911"/>
            </a:avLst>
          </a:prstGeom>
          <a:solidFill>
            <a:srgbClr val="012D2B"/>
          </a:solidFill>
          <a:ln/>
        </p:spPr>
      </p:sp>
      <p:sp>
        <p:nvSpPr>
          <p:cNvPr id="6" name="Text 3"/>
          <p:cNvSpPr/>
          <p:nvPr/>
        </p:nvSpPr>
        <p:spPr>
          <a:xfrm>
            <a:off x="6943725" y="2814042"/>
            <a:ext cx="4400550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Diretoria Geral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943725" y="3283942"/>
            <a:ext cx="44005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1 pessoa</a:t>
            </a:r>
            <a:endParaRPr lang="en-US" sz="1950" dirty="0"/>
          </a:p>
        </p:txBody>
      </p:sp>
      <p:sp>
        <p:nvSpPr>
          <p:cNvPr id="8" name="Shape 5"/>
          <p:cNvSpPr/>
          <p:nvPr/>
        </p:nvSpPr>
        <p:spPr>
          <a:xfrm>
            <a:off x="9129713" y="3855442"/>
            <a:ext cx="28575" cy="419100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9" name="Shape 6"/>
          <p:cNvSpPr/>
          <p:nvPr/>
        </p:nvSpPr>
        <p:spPr>
          <a:xfrm>
            <a:off x="2990850" y="4274542"/>
            <a:ext cx="12306300" cy="2857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0" name="Shape 7"/>
          <p:cNvSpPr/>
          <p:nvPr/>
        </p:nvSpPr>
        <p:spPr>
          <a:xfrm>
            <a:off x="2990850" y="4303117"/>
            <a:ext cx="28575" cy="419100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1" name="Shape 8"/>
          <p:cNvSpPr/>
          <p:nvPr/>
        </p:nvSpPr>
        <p:spPr>
          <a:xfrm>
            <a:off x="7083425" y="4303117"/>
            <a:ext cx="28575" cy="419100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2" name="Shape 9"/>
          <p:cNvSpPr/>
          <p:nvPr/>
        </p:nvSpPr>
        <p:spPr>
          <a:xfrm>
            <a:off x="11176000" y="4303117"/>
            <a:ext cx="28575" cy="419100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3" name="Shape 10"/>
          <p:cNvSpPr/>
          <p:nvPr/>
        </p:nvSpPr>
        <p:spPr>
          <a:xfrm>
            <a:off x="15268575" y="4303117"/>
            <a:ext cx="28575" cy="419100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4" name="Shape 11"/>
          <p:cNvSpPr/>
          <p:nvPr/>
        </p:nvSpPr>
        <p:spPr>
          <a:xfrm>
            <a:off x="1047750" y="4722217"/>
            <a:ext cx="3848100" cy="1244600"/>
          </a:xfrm>
          <a:prstGeom prst="roundRect">
            <a:avLst>
              <a:gd name="adj" fmla="val 6122"/>
            </a:avLst>
          </a:prstGeom>
          <a:ln w="6350">
            <a:solidFill>
              <a:srgbClr val="D7E2D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34745" y="4957167"/>
            <a:ext cx="3674110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Comercial</a:t>
            </a:r>
            <a:endParaRPr lang="en-US" sz="2250" dirty="0"/>
          </a:p>
        </p:txBody>
      </p:sp>
      <p:sp>
        <p:nvSpPr>
          <p:cNvPr id="16" name="Text 13"/>
          <p:cNvSpPr/>
          <p:nvPr/>
        </p:nvSpPr>
        <p:spPr>
          <a:xfrm>
            <a:off x="1134745" y="5408018"/>
            <a:ext cx="367411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18 pessoas</a:t>
            </a:r>
            <a:endParaRPr lang="en-US" sz="1950" dirty="0"/>
          </a:p>
        </p:txBody>
      </p:sp>
      <p:sp>
        <p:nvSpPr>
          <p:cNvPr id="17" name="Shape 14"/>
          <p:cNvSpPr/>
          <p:nvPr/>
        </p:nvSpPr>
        <p:spPr>
          <a:xfrm>
            <a:off x="5162550" y="4722217"/>
            <a:ext cx="3848100" cy="1244600"/>
          </a:xfrm>
          <a:prstGeom prst="roundRect">
            <a:avLst>
              <a:gd name="adj" fmla="val 6122"/>
            </a:avLst>
          </a:prstGeom>
          <a:ln w="6350">
            <a:solidFill>
              <a:srgbClr val="D7E2D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249545" y="4957167"/>
            <a:ext cx="3674110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Operações</a:t>
            </a:r>
            <a:endParaRPr lang="en-US" sz="2250" dirty="0"/>
          </a:p>
        </p:txBody>
      </p:sp>
      <p:sp>
        <p:nvSpPr>
          <p:cNvPr id="19" name="Text 16"/>
          <p:cNvSpPr/>
          <p:nvPr/>
        </p:nvSpPr>
        <p:spPr>
          <a:xfrm>
            <a:off x="5249545" y="5408018"/>
            <a:ext cx="367411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34 pessoas</a:t>
            </a:r>
            <a:endParaRPr lang="en-US" sz="1950" dirty="0"/>
          </a:p>
        </p:txBody>
      </p:sp>
      <p:sp>
        <p:nvSpPr>
          <p:cNvPr id="20" name="Shape 17"/>
          <p:cNvSpPr/>
          <p:nvPr/>
        </p:nvSpPr>
        <p:spPr>
          <a:xfrm>
            <a:off x="9277350" y="4722217"/>
            <a:ext cx="3848100" cy="1244600"/>
          </a:xfrm>
          <a:prstGeom prst="roundRect">
            <a:avLst>
              <a:gd name="adj" fmla="val 6122"/>
            </a:avLst>
          </a:prstGeom>
          <a:ln w="6350">
            <a:solidFill>
              <a:srgbClr val="D7E2D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364345" y="4957167"/>
            <a:ext cx="3674110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Suprimentos</a:t>
            </a:r>
            <a:endParaRPr lang="en-US" sz="2250" dirty="0"/>
          </a:p>
        </p:txBody>
      </p:sp>
      <p:sp>
        <p:nvSpPr>
          <p:cNvPr id="22" name="Text 19"/>
          <p:cNvSpPr/>
          <p:nvPr/>
        </p:nvSpPr>
        <p:spPr>
          <a:xfrm>
            <a:off x="9364345" y="5408018"/>
            <a:ext cx="367411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9 pessoas</a:t>
            </a:r>
            <a:endParaRPr lang="en-US" sz="1950" dirty="0"/>
          </a:p>
        </p:txBody>
      </p:sp>
      <p:sp>
        <p:nvSpPr>
          <p:cNvPr id="23" name="Shape 20"/>
          <p:cNvSpPr/>
          <p:nvPr/>
        </p:nvSpPr>
        <p:spPr>
          <a:xfrm>
            <a:off x="13392150" y="4722217"/>
            <a:ext cx="3848100" cy="1244600"/>
          </a:xfrm>
          <a:prstGeom prst="roundRect">
            <a:avLst>
              <a:gd name="adj" fmla="val 6122"/>
            </a:avLst>
          </a:prstGeom>
          <a:ln w="6350">
            <a:solidFill>
              <a:srgbClr val="D7E2D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3479146" y="4957167"/>
            <a:ext cx="3674110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Administrativo</a:t>
            </a:r>
            <a:endParaRPr lang="en-US" sz="2250" dirty="0"/>
          </a:p>
        </p:txBody>
      </p:sp>
      <p:sp>
        <p:nvSpPr>
          <p:cNvPr id="25" name="Text 22"/>
          <p:cNvSpPr/>
          <p:nvPr/>
        </p:nvSpPr>
        <p:spPr>
          <a:xfrm>
            <a:off x="13479146" y="5408018"/>
            <a:ext cx="367411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11 pessoas</a:t>
            </a:r>
            <a:endParaRPr lang="en-US" sz="1950" dirty="0"/>
          </a:p>
        </p:txBody>
      </p:sp>
      <p:sp>
        <p:nvSpPr>
          <p:cNvPr id="26" name="Shape 23"/>
          <p:cNvSpPr/>
          <p:nvPr/>
        </p:nvSpPr>
        <p:spPr>
          <a:xfrm>
            <a:off x="1047750" y="6271617"/>
            <a:ext cx="3848100" cy="666750"/>
          </a:xfrm>
          <a:prstGeom prst="roundRect">
            <a:avLst>
              <a:gd name="adj" fmla="val 8571"/>
            </a:avLst>
          </a:prstGeom>
          <a:solidFill>
            <a:srgbClr val="EAF0EC"/>
          </a:solidFill>
          <a:ln/>
        </p:spPr>
      </p:sp>
      <p:sp>
        <p:nvSpPr>
          <p:cNvPr id="27" name="Text 24"/>
          <p:cNvSpPr/>
          <p:nvPr/>
        </p:nvSpPr>
        <p:spPr>
          <a:xfrm>
            <a:off x="1257300" y="6443067"/>
            <a:ext cx="354444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Vendas internas</a:t>
            </a:r>
            <a:endParaRPr lang="en-US" sz="1950" dirty="0"/>
          </a:p>
        </p:txBody>
      </p:sp>
      <p:sp>
        <p:nvSpPr>
          <p:cNvPr id="28" name="Shape 25"/>
          <p:cNvSpPr/>
          <p:nvPr/>
        </p:nvSpPr>
        <p:spPr>
          <a:xfrm>
            <a:off x="1047750" y="7071717"/>
            <a:ext cx="3848100" cy="666750"/>
          </a:xfrm>
          <a:prstGeom prst="roundRect">
            <a:avLst>
              <a:gd name="adj" fmla="val 8571"/>
            </a:avLst>
          </a:prstGeom>
          <a:solidFill>
            <a:srgbClr val="EAF0EC"/>
          </a:solidFill>
          <a:ln/>
        </p:spPr>
      </p:sp>
      <p:sp>
        <p:nvSpPr>
          <p:cNvPr id="29" name="Text 26"/>
          <p:cNvSpPr/>
          <p:nvPr/>
        </p:nvSpPr>
        <p:spPr>
          <a:xfrm>
            <a:off x="1257300" y="7243167"/>
            <a:ext cx="354444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Campo e representantes</a:t>
            </a:r>
            <a:endParaRPr lang="en-US" sz="1950" dirty="0"/>
          </a:p>
        </p:txBody>
      </p:sp>
      <p:sp>
        <p:nvSpPr>
          <p:cNvPr id="30" name="Shape 27"/>
          <p:cNvSpPr/>
          <p:nvPr/>
        </p:nvSpPr>
        <p:spPr>
          <a:xfrm>
            <a:off x="5162550" y="6271617"/>
            <a:ext cx="3848100" cy="666750"/>
          </a:xfrm>
          <a:prstGeom prst="roundRect">
            <a:avLst>
              <a:gd name="adj" fmla="val 8571"/>
            </a:avLst>
          </a:prstGeom>
          <a:solidFill>
            <a:srgbClr val="EAF0EC"/>
          </a:solidFill>
          <a:ln/>
        </p:spPr>
      </p:sp>
      <p:sp>
        <p:nvSpPr>
          <p:cNvPr id="31" name="Text 28"/>
          <p:cNvSpPr/>
          <p:nvPr/>
        </p:nvSpPr>
        <p:spPr>
          <a:xfrm>
            <a:off x="5372100" y="6443067"/>
            <a:ext cx="354444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Desmonte</a:t>
            </a:r>
            <a:endParaRPr lang="en-US" sz="1950" dirty="0"/>
          </a:p>
        </p:txBody>
      </p:sp>
      <p:sp>
        <p:nvSpPr>
          <p:cNvPr id="32" name="Shape 29"/>
          <p:cNvSpPr/>
          <p:nvPr/>
        </p:nvSpPr>
        <p:spPr>
          <a:xfrm>
            <a:off x="5162550" y="7071717"/>
            <a:ext cx="3848100" cy="666750"/>
          </a:xfrm>
          <a:prstGeom prst="roundRect">
            <a:avLst>
              <a:gd name="adj" fmla="val 8571"/>
            </a:avLst>
          </a:prstGeom>
          <a:solidFill>
            <a:srgbClr val="EAF0EC"/>
          </a:solidFill>
          <a:ln/>
        </p:spPr>
      </p:sp>
      <p:sp>
        <p:nvSpPr>
          <p:cNvPr id="33" name="Text 30"/>
          <p:cNvSpPr/>
          <p:nvPr/>
        </p:nvSpPr>
        <p:spPr>
          <a:xfrm>
            <a:off x="5372100" y="7243167"/>
            <a:ext cx="354444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Remanufatura</a:t>
            </a:r>
            <a:endParaRPr lang="en-US" sz="1950" dirty="0"/>
          </a:p>
        </p:txBody>
      </p:sp>
      <p:sp>
        <p:nvSpPr>
          <p:cNvPr id="34" name="Shape 31"/>
          <p:cNvSpPr/>
          <p:nvPr/>
        </p:nvSpPr>
        <p:spPr>
          <a:xfrm>
            <a:off x="5162550" y="7871817"/>
            <a:ext cx="3848100" cy="666750"/>
          </a:xfrm>
          <a:prstGeom prst="roundRect">
            <a:avLst>
              <a:gd name="adj" fmla="val 8571"/>
            </a:avLst>
          </a:prstGeom>
          <a:solidFill>
            <a:srgbClr val="EAF0EC"/>
          </a:solidFill>
          <a:ln/>
        </p:spPr>
      </p:sp>
      <p:sp>
        <p:nvSpPr>
          <p:cNvPr id="35" name="Text 32"/>
          <p:cNvSpPr/>
          <p:nvPr/>
        </p:nvSpPr>
        <p:spPr>
          <a:xfrm>
            <a:off x="5372100" y="8043267"/>
            <a:ext cx="354444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Logística</a:t>
            </a:r>
            <a:endParaRPr lang="en-US" sz="1950" dirty="0"/>
          </a:p>
        </p:txBody>
      </p:sp>
      <p:sp>
        <p:nvSpPr>
          <p:cNvPr id="36" name="Shape 33"/>
          <p:cNvSpPr/>
          <p:nvPr/>
        </p:nvSpPr>
        <p:spPr>
          <a:xfrm>
            <a:off x="9277350" y="6271617"/>
            <a:ext cx="3848100" cy="666750"/>
          </a:xfrm>
          <a:prstGeom prst="roundRect">
            <a:avLst>
              <a:gd name="adj" fmla="val 8571"/>
            </a:avLst>
          </a:prstGeom>
          <a:solidFill>
            <a:srgbClr val="EAF0EC"/>
          </a:solidFill>
          <a:ln/>
        </p:spPr>
      </p:sp>
      <p:sp>
        <p:nvSpPr>
          <p:cNvPr id="37" name="Text 34"/>
          <p:cNvSpPr/>
          <p:nvPr/>
        </p:nvSpPr>
        <p:spPr>
          <a:xfrm>
            <a:off x="9486900" y="6443067"/>
            <a:ext cx="354444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Importação</a:t>
            </a:r>
            <a:endParaRPr lang="en-US" sz="1950" dirty="0"/>
          </a:p>
        </p:txBody>
      </p:sp>
      <p:sp>
        <p:nvSpPr>
          <p:cNvPr id="38" name="Shape 35"/>
          <p:cNvSpPr/>
          <p:nvPr/>
        </p:nvSpPr>
        <p:spPr>
          <a:xfrm>
            <a:off x="9277350" y="7071717"/>
            <a:ext cx="3848100" cy="666750"/>
          </a:xfrm>
          <a:prstGeom prst="roundRect">
            <a:avLst>
              <a:gd name="adj" fmla="val 8571"/>
            </a:avLst>
          </a:prstGeom>
          <a:solidFill>
            <a:srgbClr val="EAF0EC"/>
          </a:solidFill>
          <a:ln/>
        </p:spPr>
      </p:sp>
      <p:sp>
        <p:nvSpPr>
          <p:cNvPr id="39" name="Text 36"/>
          <p:cNvSpPr/>
          <p:nvPr/>
        </p:nvSpPr>
        <p:spPr>
          <a:xfrm>
            <a:off x="9486900" y="7243167"/>
            <a:ext cx="354444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Compras de frota</a:t>
            </a:r>
            <a:endParaRPr lang="en-US" sz="1950" dirty="0"/>
          </a:p>
        </p:txBody>
      </p:sp>
      <p:sp>
        <p:nvSpPr>
          <p:cNvPr id="40" name="Shape 37"/>
          <p:cNvSpPr/>
          <p:nvPr/>
        </p:nvSpPr>
        <p:spPr>
          <a:xfrm>
            <a:off x="13392150" y="6271617"/>
            <a:ext cx="3848100" cy="666750"/>
          </a:xfrm>
          <a:prstGeom prst="roundRect">
            <a:avLst>
              <a:gd name="adj" fmla="val 8571"/>
            </a:avLst>
          </a:prstGeom>
          <a:solidFill>
            <a:srgbClr val="EAF0EC"/>
          </a:solidFill>
          <a:ln/>
        </p:spPr>
      </p:sp>
      <p:sp>
        <p:nvSpPr>
          <p:cNvPr id="41" name="Text 38"/>
          <p:cNvSpPr/>
          <p:nvPr/>
        </p:nvSpPr>
        <p:spPr>
          <a:xfrm>
            <a:off x="13601700" y="6443067"/>
            <a:ext cx="354444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Financeiro</a:t>
            </a:r>
            <a:endParaRPr lang="en-US" sz="1950" dirty="0"/>
          </a:p>
        </p:txBody>
      </p:sp>
      <p:sp>
        <p:nvSpPr>
          <p:cNvPr id="42" name="Shape 39"/>
          <p:cNvSpPr/>
          <p:nvPr/>
        </p:nvSpPr>
        <p:spPr>
          <a:xfrm>
            <a:off x="13392150" y="7071717"/>
            <a:ext cx="3848100" cy="666750"/>
          </a:xfrm>
          <a:prstGeom prst="roundRect">
            <a:avLst>
              <a:gd name="adj" fmla="val 8571"/>
            </a:avLst>
          </a:prstGeom>
          <a:solidFill>
            <a:srgbClr val="EAF0EC"/>
          </a:solidFill>
          <a:ln/>
        </p:spPr>
      </p:sp>
      <p:sp>
        <p:nvSpPr>
          <p:cNvPr id="43" name="Text 40"/>
          <p:cNvSpPr/>
          <p:nvPr/>
        </p:nvSpPr>
        <p:spPr>
          <a:xfrm>
            <a:off x="13601700" y="7243167"/>
            <a:ext cx="354444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Pessoas</a:t>
            </a:r>
            <a:endParaRPr lang="en-US" sz="1950" dirty="0"/>
          </a:p>
        </p:txBody>
      </p:sp>
      <p:sp>
        <p:nvSpPr>
          <p:cNvPr id="44" name="Shape 41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45" name="Text 42"/>
          <p:cNvSpPr/>
          <p:nvPr/>
        </p:nvSpPr>
        <p:spPr>
          <a:xfrm>
            <a:off x="1047750" y="9264650"/>
            <a:ext cx="524388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72 pessoas no total · estrutura de exemplo</a:t>
            </a:r>
            <a:endParaRPr lang="en-US" sz="1800" dirty="0"/>
          </a:p>
        </p:txBody>
      </p:sp>
      <p:sp>
        <p:nvSpPr>
          <p:cNvPr id="46" name="Text 43"/>
          <p:cNvSpPr/>
          <p:nvPr/>
        </p:nvSpPr>
        <p:spPr>
          <a:xfrm>
            <a:off x="14095115" y="9264650"/>
            <a:ext cx="3459649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Organograma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227776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PRIORIZAÇÃO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71600"/>
            <a:ext cx="17811750" cy="69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3"/>
              </a:lnSpc>
              <a:buNone/>
            </a:pPr>
            <a:r>
              <a:rPr lang="en-US" sz="4650" b="1" spc="-46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Iniciativas por esforço e impacto</a:t>
            </a:r>
            <a:endParaRPr lang="en-US" sz="4650" dirty="0"/>
          </a:p>
        </p:txBody>
      </p:sp>
      <p:sp>
        <p:nvSpPr>
          <p:cNvPr id="5" name="Text 2"/>
          <p:cNvSpPr/>
          <p:nvPr/>
        </p:nvSpPr>
        <p:spPr>
          <a:xfrm rot="10800000">
            <a:off x="1009650" y="2413992"/>
            <a:ext cx="609600" cy="5948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 vert="eaVer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Impacto →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1771650" y="2413992"/>
            <a:ext cx="15468600" cy="5910858"/>
          </a:xfrm>
          <a:prstGeom prst="rect">
            <a:avLst/>
          </a:prstGeom>
          <a:ln w="6350">
            <a:solidFill>
              <a:srgbClr val="D7E2D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778000" y="2420342"/>
            <a:ext cx="7727950" cy="2949079"/>
          </a:xfrm>
          <a:prstGeom prst="rect">
            <a:avLst/>
          </a:prstGeom>
          <a:solidFill>
            <a:srgbClr val="F5F9F6"/>
          </a:solidFill>
          <a:ln/>
        </p:spPr>
      </p:sp>
      <p:sp>
        <p:nvSpPr>
          <p:cNvPr id="8" name="Shape 5"/>
          <p:cNvSpPr/>
          <p:nvPr/>
        </p:nvSpPr>
        <p:spPr>
          <a:xfrm>
            <a:off x="1778000" y="5363071"/>
            <a:ext cx="772795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9" name="Shape 6"/>
          <p:cNvSpPr/>
          <p:nvPr/>
        </p:nvSpPr>
        <p:spPr>
          <a:xfrm>
            <a:off x="9499600" y="2420342"/>
            <a:ext cx="9525" cy="2949079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0" name="Text 7"/>
          <p:cNvSpPr/>
          <p:nvPr/>
        </p:nvSpPr>
        <p:spPr>
          <a:xfrm>
            <a:off x="2082800" y="2725142"/>
            <a:ext cx="78232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95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GANHOS RÁPIDOS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2082800" y="3220442"/>
            <a:ext cx="78232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53"/>
              </a:lnSpc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Reprecificar peças de baixo giro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2082800" y="3763367"/>
            <a:ext cx="78232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53"/>
              </a:lnSpc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Ativar carteira inativa por telefone</a:t>
            </a:r>
            <a:endParaRPr lang="en-US" sz="2250" dirty="0"/>
          </a:p>
        </p:txBody>
      </p:sp>
      <p:sp>
        <p:nvSpPr>
          <p:cNvPr id="13" name="Shape 10"/>
          <p:cNvSpPr/>
          <p:nvPr/>
        </p:nvSpPr>
        <p:spPr>
          <a:xfrm>
            <a:off x="9505950" y="5363071"/>
            <a:ext cx="772795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4" name="Text 11"/>
          <p:cNvSpPr/>
          <p:nvPr/>
        </p:nvSpPr>
        <p:spPr>
          <a:xfrm>
            <a:off x="9810750" y="2725142"/>
            <a:ext cx="783018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95" kern="0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GRANDES APOSTAS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9810750" y="3220442"/>
            <a:ext cx="783018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53"/>
              </a:lnSpc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Abrir praça em Goiás</a:t>
            </a:r>
            <a:endParaRPr lang="en-US" sz="2250" dirty="0"/>
          </a:p>
        </p:txBody>
      </p:sp>
      <p:sp>
        <p:nvSpPr>
          <p:cNvPr id="16" name="Text 13"/>
          <p:cNvSpPr/>
          <p:nvPr/>
        </p:nvSpPr>
        <p:spPr>
          <a:xfrm>
            <a:off x="9810750" y="3763367"/>
            <a:ext cx="783018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53"/>
              </a:lnSpc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Segunda linha de remanufatura</a:t>
            </a:r>
            <a:endParaRPr lang="en-US" sz="2250" dirty="0"/>
          </a:p>
        </p:txBody>
      </p:sp>
      <p:sp>
        <p:nvSpPr>
          <p:cNvPr id="17" name="Shape 14"/>
          <p:cNvSpPr/>
          <p:nvPr/>
        </p:nvSpPr>
        <p:spPr>
          <a:xfrm>
            <a:off x="9499600" y="5369421"/>
            <a:ext cx="9525" cy="2949079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8" name="Text 15"/>
          <p:cNvSpPr/>
          <p:nvPr/>
        </p:nvSpPr>
        <p:spPr>
          <a:xfrm>
            <a:off x="2082800" y="5674221"/>
            <a:ext cx="78232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95" kern="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PREENCHIMENTO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2082800" y="6169521"/>
            <a:ext cx="78232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53"/>
              </a:lnSpc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Padronizar embalagem de envio</a:t>
            </a:r>
            <a:endParaRPr lang="en-US" sz="2250" dirty="0"/>
          </a:p>
        </p:txBody>
      </p:sp>
      <p:sp>
        <p:nvSpPr>
          <p:cNvPr id="20" name="Text 17"/>
          <p:cNvSpPr/>
          <p:nvPr/>
        </p:nvSpPr>
        <p:spPr>
          <a:xfrm>
            <a:off x="9810750" y="5674221"/>
            <a:ext cx="783018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95" kern="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REAVALIAR</a:t>
            </a:r>
            <a:endParaRPr lang="en-US" sz="1950" dirty="0"/>
          </a:p>
        </p:txBody>
      </p:sp>
      <p:sp>
        <p:nvSpPr>
          <p:cNvPr id="21" name="Text 18"/>
          <p:cNvSpPr/>
          <p:nvPr/>
        </p:nvSpPr>
        <p:spPr>
          <a:xfrm>
            <a:off x="9810750" y="6169521"/>
            <a:ext cx="783018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53"/>
              </a:lnSpc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Marketplace próprio de peças</a:t>
            </a:r>
            <a:endParaRPr lang="en-US" sz="2250" dirty="0"/>
          </a:p>
        </p:txBody>
      </p:sp>
      <p:sp>
        <p:nvSpPr>
          <p:cNvPr id="22" name="Text 19"/>
          <p:cNvSpPr/>
          <p:nvPr/>
        </p:nvSpPr>
        <p:spPr>
          <a:xfrm>
            <a:off x="1539621" y="8515350"/>
            <a:ext cx="1593265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Esforço →</a:t>
            </a:r>
            <a:endParaRPr lang="en-US" sz="2100" dirty="0"/>
          </a:p>
        </p:txBody>
      </p:sp>
      <p:sp>
        <p:nvSpPr>
          <p:cNvPr id="23" name="Shape 20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4" name="Text 21"/>
          <p:cNvSpPr/>
          <p:nvPr/>
        </p:nvSpPr>
        <p:spPr>
          <a:xfrm>
            <a:off x="1047750" y="9264650"/>
            <a:ext cx="286330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· Deck mestre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4528304" y="9264650"/>
            <a:ext cx="2983141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Matriz 2x2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314292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FUNIL COMERCIAL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71600"/>
            <a:ext cx="17811750" cy="69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3"/>
              </a:lnSpc>
              <a:buNone/>
            </a:pPr>
            <a:r>
              <a:rPr lang="en-US" sz="4650" b="1" spc="-46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Conversão da prospecção ao pedido fechado</a:t>
            </a:r>
            <a:endParaRPr lang="en-US" sz="4650" dirty="0"/>
          </a:p>
        </p:txBody>
      </p:sp>
      <p:sp>
        <p:nvSpPr>
          <p:cNvPr id="5" name="Shape 2"/>
          <p:cNvSpPr/>
          <p:nvPr/>
        </p:nvSpPr>
        <p:spPr>
          <a:xfrm>
            <a:off x="628650" y="3512046"/>
            <a:ext cx="12420600" cy="819150"/>
          </a:xfrm>
          <a:prstGeom prst="rect">
            <a:avLst/>
          </a:prstGeom>
          <a:solidFill>
            <a:srgbClr val="012D2B"/>
          </a:solidFill>
          <a:ln/>
        </p:spPr>
      </p:sp>
      <p:sp>
        <p:nvSpPr>
          <p:cNvPr id="6" name="Text 3"/>
          <p:cNvSpPr/>
          <p:nvPr/>
        </p:nvSpPr>
        <p:spPr>
          <a:xfrm>
            <a:off x="1047750" y="3724771"/>
            <a:ext cx="2953564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Contas mapeadas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1835805" y="3724771"/>
            <a:ext cx="870545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4.820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1671042" y="4426446"/>
            <a:ext cx="10335717" cy="819150"/>
          </a:xfrm>
          <a:prstGeom prst="rect">
            <a:avLst/>
          </a:prstGeom>
          <a:solidFill>
            <a:srgbClr val="0C6D61"/>
          </a:solidFill>
          <a:ln/>
        </p:spPr>
      </p:sp>
      <p:sp>
        <p:nvSpPr>
          <p:cNvPr id="9" name="Text 6"/>
          <p:cNvSpPr/>
          <p:nvPr/>
        </p:nvSpPr>
        <p:spPr>
          <a:xfrm>
            <a:off x="2090142" y="4639171"/>
            <a:ext cx="2882077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Contato realizado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0859393" y="4639171"/>
            <a:ext cx="804466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2.140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2713434" y="5340846"/>
            <a:ext cx="8250932" cy="819150"/>
          </a:xfrm>
          <a:prstGeom prst="rect">
            <a:avLst/>
          </a:prstGeom>
          <a:solidFill>
            <a:srgbClr val="3A8C7F"/>
          </a:solidFill>
          <a:ln/>
        </p:spPr>
      </p:sp>
      <p:sp>
        <p:nvSpPr>
          <p:cNvPr id="12" name="Text 9"/>
          <p:cNvSpPr/>
          <p:nvPr/>
        </p:nvSpPr>
        <p:spPr>
          <a:xfrm>
            <a:off x="3132534" y="5553571"/>
            <a:ext cx="2777192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Cotação enviada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10081915" y="5553571"/>
            <a:ext cx="539552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910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794026" y="6255246"/>
            <a:ext cx="6089849" cy="819150"/>
          </a:xfrm>
          <a:prstGeom prst="rect">
            <a:avLst/>
          </a:prstGeom>
          <a:solidFill>
            <a:srgbClr val="A3CCAB"/>
          </a:solidFill>
          <a:ln/>
        </p:spPr>
      </p:sp>
      <p:sp>
        <p:nvSpPr>
          <p:cNvPr id="15" name="Text 12"/>
          <p:cNvSpPr/>
          <p:nvPr/>
        </p:nvSpPr>
        <p:spPr>
          <a:xfrm>
            <a:off x="4175026" y="6467971"/>
            <a:ext cx="1894354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Negociação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8976122" y="6467971"/>
            <a:ext cx="602952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385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4777780" y="7169646"/>
            <a:ext cx="4122341" cy="819150"/>
          </a:xfrm>
          <a:prstGeom prst="rect">
            <a:avLst/>
          </a:prstGeom>
          <a:solidFill>
            <a:srgbClr val="F26800"/>
          </a:solidFill>
          <a:ln/>
        </p:spPr>
      </p:sp>
      <p:sp>
        <p:nvSpPr>
          <p:cNvPr id="18" name="Text 15"/>
          <p:cNvSpPr/>
          <p:nvPr/>
        </p:nvSpPr>
        <p:spPr>
          <a:xfrm>
            <a:off x="5101630" y="7382371"/>
            <a:ext cx="1051024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Pedido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8133656" y="7382371"/>
            <a:ext cx="518815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168</a:t>
            </a:r>
            <a:endParaRPr lang="en-US" sz="2400" dirty="0"/>
          </a:p>
        </p:txBody>
      </p:sp>
      <p:sp>
        <p:nvSpPr>
          <p:cNvPr id="20" name="Shape 17"/>
          <p:cNvSpPr/>
          <p:nvPr/>
        </p:nvSpPr>
        <p:spPr>
          <a:xfrm>
            <a:off x="13239750" y="4881067"/>
            <a:ext cx="4000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1" name="Text 18"/>
          <p:cNvSpPr/>
          <p:nvPr/>
        </p:nvSpPr>
        <p:spPr>
          <a:xfrm>
            <a:off x="13239750" y="3780036"/>
            <a:ext cx="44005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Conversão total</a:t>
            </a:r>
            <a:endParaRPr lang="en-US" sz="1950" dirty="0"/>
          </a:p>
        </p:txBody>
      </p:sp>
      <p:sp>
        <p:nvSpPr>
          <p:cNvPr id="22" name="Text 19"/>
          <p:cNvSpPr/>
          <p:nvPr/>
        </p:nvSpPr>
        <p:spPr>
          <a:xfrm>
            <a:off x="13239750" y="4103886"/>
            <a:ext cx="440055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771"/>
              </a:lnSpc>
              <a:buNone/>
            </a:pPr>
            <a:r>
              <a:rPr lang="en-US" sz="4200" b="1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3,5%</a:t>
            </a:r>
            <a:endParaRPr lang="en-US" sz="4200" dirty="0"/>
          </a:p>
        </p:txBody>
      </p:sp>
      <p:sp>
        <p:nvSpPr>
          <p:cNvPr id="23" name="Shape 20"/>
          <p:cNvSpPr/>
          <p:nvPr/>
        </p:nvSpPr>
        <p:spPr>
          <a:xfrm>
            <a:off x="13239750" y="6537127"/>
            <a:ext cx="4000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4" name="Text 21"/>
          <p:cNvSpPr/>
          <p:nvPr/>
        </p:nvSpPr>
        <p:spPr>
          <a:xfrm>
            <a:off x="13239750" y="5154117"/>
            <a:ext cx="44005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Maior perda</a:t>
            </a:r>
            <a:endParaRPr lang="en-US" sz="1950" dirty="0"/>
          </a:p>
        </p:txBody>
      </p:sp>
      <p:sp>
        <p:nvSpPr>
          <p:cNvPr id="25" name="Text 22"/>
          <p:cNvSpPr/>
          <p:nvPr/>
        </p:nvSpPr>
        <p:spPr>
          <a:xfrm>
            <a:off x="13239750" y="5554167"/>
            <a:ext cx="4400550" cy="44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27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Contato → cotação</a:t>
            </a:r>
            <a:endParaRPr lang="en-US" sz="2700" dirty="0"/>
          </a:p>
        </p:txBody>
      </p:sp>
      <p:sp>
        <p:nvSpPr>
          <p:cNvPr id="26" name="Text 23"/>
          <p:cNvSpPr/>
          <p:nvPr/>
        </p:nvSpPr>
        <p:spPr>
          <a:xfrm>
            <a:off x="13239750" y="6022777"/>
            <a:ext cx="44005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queda de 57%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3239750" y="6810177"/>
            <a:ext cx="44005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Ticket médio do pedido</a:t>
            </a:r>
            <a:endParaRPr lang="en-US" sz="1950" dirty="0"/>
          </a:p>
        </p:txBody>
      </p:sp>
      <p:sp>
        <p:nvSpPr>
          <p:cNvPr id="28" name="Text 25"/>
          <p:cNvSpPr/>
          <p:nvPr/>
        </p:nvSpPr>
        <p:spPr>
          <a:xfrm>
            <a:off x="13239750" y="7134027"/>
            <a:ext cx="440055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771"/>
              </a:lnSpc>
              <a:buNone/>
            </a:pPr>
            <a:r>
              <a:rPr lang="en-US" sz="42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R$ 4.180</a:t>
            </a:r>
            <a:endParaRPr lang="en-US" sz="4200" dirty="0"/>
          </a:p>
        </p:txBody>
      </p:sp>
      <p:sp>
        <p:nvSpPr>
          <p:cNvPr id="29" name="Shape 26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30" name="Text 27"/>
          <p:cNvSpPr/>
          <p:nvPr/>
        </p:nvSpPr>
        <p:spPr>
          <a:xfrm>
            <a:off x="1047750" y="9264650"/>
            <a:ext cx="4517003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Ciclo de 90 dias · dados de exemplo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15178485" y="9264650"/>
            <a:ext cx="2267942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Funil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300802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TRANSFORMAÇÃO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71600"/>
            <a:ext cx="17811750" cy="69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3"/>
              </a:lnSpc>
              <a:buNone/>
            </a:pPr>
            <a:r>
              <a:rPr lang="en-US" sz="4650" b="1" spc="-46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O atendimento antes e depois da nova malha logística</a:t>
            </a:r>
            <a:endParaRPr lang="en-US" sz="4650" dirty="0"/>
          </a:p>
        </p:txBody>
      </p:sp>
      <p:sp>
        <p:nvSpPr>
          <p:cNvPr id="5" name="Shape 2"/>
          <p:cNvSpPr/>
          <p:nvPr/>
        </p:nvSpPr>
        <p:spPr>
          <a:xfrm>
            <a:off x="1047750" y="2528292"/>
            <a:ext cx="7905750" cy="6520458"/>
          </a:xfrm>
          <a:prstGeom prst="roundRect">
            <a:avLst>
              <a:gd name="adj" fmla="val 1169"/>
            </a:avLst>
          </a:prstGeom>
          <a:solidFill>
            <a:srgbClr val="EAF0EC"/>
          </a:solidFill>
          <a:ln/>
        </p:spPr>
      </p:sp>
      <p:sp>
        <p:nvSpPr>
          <p:cNvPr id="6" name="Text 3"/>
          <p:cNvSpPr/>
          <p:nvPr/>
        </p:nvSpPr>
        <p:spPr>
          <a:xfrm>
            <a:off x="1428750" y="2947392"/>
            <a:ext cx="785812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52" kern="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ANTES · 2024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1428750" y="4146253"/>
            <a:ext cx="714375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8" name="Text 5"/>
          <p:cNvSpPr/>
          <p:nvPr/>
        </p:nvSpPr>
        <p:spPr>
          <a:xfrm>
            <a:off x="1428750" y="3544292"/>
            <a:ext cx="7358063" cy="44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4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Entrega em </a:t>
            </a:r>
            <a:pPr algn="l" indent="0" marL="0">
              <a:lnSpc>
                <a:spcPct val="104516"/>
              </a:lnSpc>
              <a:buNone/>
            </a:pPr>
            <a:r>
              <a:rPr lang="en-US" sz="24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9,4 dias </a:t>
            </a:r>
            <a:pPr algn="l" indent="0" marL="0">
              <a:lnSpc>
                <a:spcPct val="104516"/>
              </a:lnSpc>
              <a:buNone/>
            </a:pPr>
            <a:r>
              <a:rPr lang="en-US" sz="24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em média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428750" y="4945063"/>
            <a:ext cx="714375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0" name="Text 7"/>
          <p:cNvSpPr/>
          <p:nvPr/>
        </p:nvSpPr>
        <p:spPr>
          <a:xfrm>
            <a:off x="1428750" y="4343102"/>
            <a:ext cx="7358063" cy="44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4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Estoque concentrado em um único pátio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1428750" y="5743873"/>
            <a:ext cx="714375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2" name="Text 9"/>
          <p:cNvSpPr/>
          <p:nvPr/>
        </p:nvSpPr>
        <p:spPr>
          <a:xfrm>
            <a:off x="1428750" y="5141913"/>
            <a:ext cx="7358063" cy="44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4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Sem rastreio para o cliente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1428750" y="5940723"/>
            <a:ext cx="7858125" cy="44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4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Taxa de recompra de </a:t>
            </a:r>
            <a:pPr algn="l" indent="0" marL="0">
              <a:lnSpc>
                <a:spcPct val="104516"/>
              </a:lnSpc>
              <a:buNone/>
            </a:pPr>
            <a:r>
              <a:rPr lang="en-US" sz="24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41%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9334500" y="2528292"/>
            <a:ext cx="7905750" cy="6520458"/>
          </a:xfrm>
          <a:prstGeom prst="roundRect">
            <a:avLst>
              <a:gd name="adj" fmla="val 1169"/>
            </a:avLst>
          </a:prstGeom>
          <a:solidFill>
            <a:srgbClr val="012D2B"/>
          </a:solidFill>
          <a:ln/>
        </p:spPr>
      </p:sp>
      <p:sp>
        <p:nvSpPr>
          <p:cNvPr id="15" name="Text 12"/>
          <p:cNvSpPr/>
          <p:nvPr/>
        </p:nvSpPr>
        <p:spPr>
          <a:xfrm>
            <a:off x="9715500" y="2947392"/>
            <a:ext cx="785812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52" kern="0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DEPOIS · 2026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9715500" y="4146253"/>
            <a:ext cx="7143750" cy="9525"/>
          </a:xfrm>
          <a:prstGeom prst="rect">
            <a:avLst/>
          </a:prstGeom>
          <a:solidFill>
            <a:srgbClr val="A3CCAB">
              <a:alpha val="25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9715500" y="3544292"/>
            <a:ext cx="7358063" cy="44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40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Entrega em </a:t>
            </a:r>
            <a:pPr algn="l" indent="0" marL="0">
              <a:lnSpc>
                <a:spcPct val="104516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6,1 dias </a:t>
            </a:r>
            <a:pPr algn="l" indent="0" marL="0">
              <a:lnSpc>
                <a:spcPct val="104516"/>
              </a:lnSpc>
              <a:buNone/>
            </a:pPr>
            <a:r>
              <a:rPr lang="en-US" sz="240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em média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9715500" y="4945063"/>
            <a:ext cx="7143750" cy="9525"/>
          </a:xfrm>
          <a:prstGeom prst="rect">
            <a:avLst/>
          </a:prstGeom>
          <a:solidFill>
            <a:srgbClr val="A3CCAB">
              <a:alpha val="25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9715500" y="4343102"/>
            <a:ext cx="7358063" cy="44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40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Dois centros de distribuição integrados</a:t>
            </a:r>
            <a:endParaRPr lang="en-US" sz="2400" dirty="0"/>
          </a:p>
        </p:txBody>
      </p:sp>
      <p:sp>
        <p:nvSpPr>
          <p:cNvPr id="20" name="Shape 17"/>
          <p:cNvSpPr/>
          <p:nvPr/>
        </p:nvSpPr>
        <p:spPr>
          <a:xfrm>
            <a:off x="9715500" y="5743873"/>
            <a:ext cx="7143750" cy="9525"/>
          </a:xfrm>
          <a:prstGeom prst="rect">
            <a:avLst/>
          </a:prstGeom>
          <a:solidFill>
            <a:srgbClr val="A3CCAB">
              <a:alpha val="25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9715500" y="5141913"/>
            <a:ext cx="7358063" cy="44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40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Rastreio por pedido no portal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9715500" y="5940723"/>
            <a:ext cx="7858125" cy="44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40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Taxa de recompra de </a:t>
            </a:r>
            <a:pPr algn="l" indent="0" marL="0">
              <a:lnSpc>
                <a:spcPct val="104516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63%</a:t>
            </a:r>
            <a:endParaRPr lang="en-US" sz="2400" dirty="0"/>
          </a:p>
        </p:txBody>
      </p:sp>
      <p:sp>
        <p:nvSpPr>
          <p:cNvPr id="23" name="Shape 20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4" name="Text 21"/>
          <p:cNvSpPr/>
          <p:nvPr/>
        </p:nvSpPr>
        <p:spPr>
          <a:xfrm>
            <a:off x="1047750" y="9264650"/>
            <a:ext cx="286330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· Deck mestre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4052352" y="9264650"/>
            <a:ext cx="3506688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Antes e depois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139099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ANÁLISE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71600"/>
            <a:ext cx="17811750" cy="69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3"/>
              </a:lnSpc>
              <a:buNone/>
            </a:pPr>
            <a:r>
              <a:rPr lang="en-US" sz="4650" b="1" spc="-46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Terceirizar a frota de entrega: prós e contras</a:t>
            </a:r>
            <a:endParaRPr lang="en-US" sz="4650" dirty="0"/>
          </a:p>
        </p:txBody>
      </p:sp>
      <p:sp>
        <p:nvSpPr>
          <p:cNvPr id="5" name="Shape 2"/>
          <p:cNvSpPr/>
          <p:nvPr/>
        </p:nvSpPr>
        <p:spPr>
          <a:xfrm>
            <a:off x="1047750" y="3137892"/>
            <a:ext cx="7829550" cy="25400"/>
          </a:xfrm>
          <a:prstGeom prst="rect">
            <a:avLst/>
          </a:prstGeom>
          <a:solidFill>
            <a:srgbClr val="0C6D61"/>
          </a:solidFill>
          <a:ln/>
        </p:spPr>
      </p:sp>
      <p:sp>
        <p:nvSpPr>
          <p:cNvPr id="6" name="Text 3"/>
          <p:cNvSpPr/>
          <p:nvPr/>
        </p:nvSpPr>
        <p:spPr>
          <a:xfrm>
            <a:off x="1047750" y="2528292"/>
            <a:ext cx="78224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Prós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1047750" y="3468092"/>
            <a:ext cx="259159" cy="86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400" b="1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+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421209" y="3468092"/>
            <a:ext cx="7679774" cy="86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4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Reduz capital imobilizado em veículos e manutenção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047750" y="4557713"/>
            <a:ext cx="259159" cy="86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400" b="1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+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421209" y="4557713"/>
            <a:ext cx="7679774" cy="86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4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Cobertura imediata em praças onde não temos base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047750" y="5647333"/>
            <a:ext cx="259159" cy="86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400" b="1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+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421209" y="5647333"/>
            <a:ext cx="7679774" cy="86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4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Custo variável acompanha a sazonalidade do volume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9410700" y="3137892"/>
            <a:ext cx="7829550" cy="25400"/>
          </a:xfrm>
          <a:prstGeom prst="rect">
            <a:avLst/>
          </a:prstGeom>
          <a:solidFill>
            <a:srgbClr val="F26800"/>
          </a:solidFill>
          <a:ln/>
        </p:spPr>
      </p:sp>
      <p:sp>
        <p:nvSpPr>
          <p:cNvPr id="14" name="Text 11"/>
          <p:cNvSpPr/>
          <p:nvPr/>
        </p:nvSpPr>
        <p:spPr>
          <a:xfrm>
            <a:off x="9410700" y="2528292"/>
            <a:ext cx="14020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Contras</a:t>
            </a:r>
            <a:endParaRPr lang="en-US" sz="2550" dirty="0"/>
          </a:p>
        </p:txBody>
      </p:sp>
      <p:sp>
        <p:nvSpPr>
          <p:cNvPr id="15" name="Text 12"/>
          <p:cNvSpPr/>
          <p:nvPr/>
        </p:nvSpPr>
        <p:spPr>
          <a:xfrm>
            <a:off x="9410700" y="3468092"/>
            <a:ext cx="259159" cy="86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400" b="1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−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9784160" y="3468092"/>
            <a:ext cx="7679774" cy="86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4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Menos controle sobre prazo e qualidade do último trecho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9410700" y="4557713"/>
            <a:ext cx="259159" cy="86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400" b="1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−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9784160" y="4557713"/>
            <a:ext cx="7679774" cy="86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4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Peça pesada exige veículo específico e nem todo parceiro tem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9410700" y="5647333"/>
            <a:ext cx="259159" cy="86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400" b="1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−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784160" y="5647333"/>
            <a:ext cx="7679774" cy="86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4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Custo por entrega 12% maior no cenário de volume alto</a:t>
            </a:r>
            <a:endParaRPr lang="en-US" sz="2400" dirty="0"/>
          </a:p>
        </p:txBody>
      </p:sp>
      <p:sp>
        <p:nvSpPr>
          <p:cNvPr id="21" name="Shape 18"/>
          <p:cNvSpPr/>
          <p:nvPr/>
        </p:nvSpPr>
        <p:spPr>
          <a:xfrm>
            <a:off x="1047750" y="7547769"/>
            <a:ext cx="16192500" cy="1500981"/>
          </a:xfrm>
          <a:prstGeom prst="roundRect">
            <a:avLst>
              <a:gd name="adj" fmla="val 5077"/>
            </a:avLst>
          </a:prstGeom>
          <a:solidFill>
            <a:srgbClr val="EAF0EC"/>
          </a:solidFill>
          <a:ln/>
        </p:spPr>
      </p:sp>
      <p:sp>
        <p:nvSpPr>
          <p:cNvPr id="22" name="Text 19"/>
          <p:cNvSpPr/>
          <p:nvPr/>
        </p:nvSpPr>
        <p:spPr>
          <a:xfrm>
            <a:off x="1428750" y="7871619"/>
            <a:ext cx="15916275" cy="891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87"/>
              </a:lnSpc>
              <a:buNone/>
            </a:pPr>
            <a:r>
              <a:rPr lang="en-US" sz="24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Recomendação: </a:t>
            </a:r>
            <a:pPr algn="l" indent="0" marL="0">
              <a:lnSpc>
                <a:spcPct val="108387"/>
              </a:lnSpc>
              <a:buNone/>
            </a:pPr>
            <a:r>
              <a:rPr lang="en-US" sz="2400" dirty="0">
                <a:solidFill>
                  <a:srgbClr val="012D2B"/>
                </a:solidFill>
                <a:highlight>
                  <a:srgbClr val="EAF0EC"/>
                </a:highlight>
                <a:latin typeface="Elms Sans" pitchFamily="34" charset="0"/>
                <a:ea typeface="Elms Sans" pitchFamily="34" charset="-122"/>
                <a:cs typeface="Elms Sans" pitchFamily="34" charset="-120"/>
              </a:rPr>
              <a:t>modelo híbrido — frota própria nas duas praças maduras, parceiro nas novas praças durante os primeiros 12 meses.</a:t>
            </a:r>
            <a:endParaRPr lang="en-US" sz="2400" dirty="0"/>
          </a:p>
        </p:txBody>
      </p:sp>
      <p:sp>
        <p:nvSpPr>
          <p:cNvPr id="23" name="Shape 20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4" name="Text 21"/>
          <p:cNvSpPr/>
          <p:nvPr/>
        </p:nvSpPr>
        <p:spPr>
          <a:xfrm>
            <a:off x="1047750" y="9264650"/>
            <a:ext cx="286330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· Deck mestre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4034295" y="9264650"/>
            <a:ext cx="3526552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Prós e contras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236267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DIAGNÓSTICO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71600"/>
            <a:ext cx="17811750" cy="69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3"/>
              </a:lnSpc>
              <a:buNone/>
            </a:pPr>
            <a:r>
              <a:rPr lang="en-US" sz="4650" b="1" spc="-46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Posição competitiva em quatro quadrantes</a:t>
            </a:r>
            <a:endParaRPr lang="en-US" sz="4650" dirty="0"/>
          </a:p>
        </p:txBody>
      </p:sp>
      <p:sp>
        <p:nvSpPr>
          <p:cNvPr id="5" name="Shape 2"/>
          <p:cNvSpPr/>
          <p:nvPr/>
        </p:nvSpPr>
        <p:spPr>
          <a:xfrm>
            <a:off x="1047750" y="2375892"/>
            <a:ext cx="7991475" cy="3231654"/>
          </a:xfrm>
          <a:prstGeom prst="roundRect">
            <a:avLst>
              <a:gd name="adj" fmla="val 2358"/>
            </a:avLst>
          </a:prstGeom>
          <a:solidFill>
            <a:srgbClr val="012D2B"/>
          </a:solidFill>
          <a:ln/>
        </p:spPr>
      </p:sp>
      <p:sp>
        <p:nvSpPr>
          <p:cNvPr id="6" name="Text 3"/>
          <p:cNvSpPr/>
          <p:nvPr/>
        </p:nvSpPr>
        <p:spPr>
          <a:xfrm>
            <a:off x="1352550" y="2642592"/>
            <a:ext cx="8120062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52" kern="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FORÇAS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352550" y="3125192"/>
            <a:ext cx="7603331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40"/>
              </a:lnSpc>
              <a:buNone/>
            </a:pPr>
            <a:r>
              <a:rPr lang="en-US" sz="2025" dirty="0">
                <a:solidFill>
                  <a:srgbClr val="EAF0EC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Estoque próprio de peças usadas com rastreabilidade por chassi</a:t>
            </a:r>
            <a:endParaRPr lang="en-US" sz="2025" dirty="0"/>
          </a:p>
        </p:txBody>
      </p:sp>
      <p:sp>
        <p:nvSpPr>
          <p:cNvPr id="8" name="Text 5"/>
          <p:cNvSpPr/>
          <p:nvPr/>
        </p:nvSpPr>
        <p:spPr>
          <a:xfrm>
            <a:off x="1352550" y="3927078"/>
            <a:ext cx="8120062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40"/>
              </a:lnSpc>
              <a:buNone/>
            </a:pPr>
            <a:r>
              <a:rPr lang="en-US" sz="2025" dirty="0">
                <a:solidFill>
                  <a:srgbClr val="EAF0EC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Prazo de entrega abaixo da média das independentes</a:t>
            </a:r>
            <a:endParaRPr lang="en-US" sz="2025" dirty="0"/>
          </a:p>
        </p:txBody>
      </p:sp>
      <p:sp>
        <p:nvSpPr>
          <p:cNvPr id="9" name="Text 6"/>
          <p:cNvSpPr/>
          <p:nvPr/>
        </p:nvSpPr>
        <p:spPr>
          <a:xfrm>
            <a:off x="1352550" y="4394696"/>
            <a:ext cx="8120062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40"/>
              </a:lnSpc>
              <a:buNone/>
            </a:pPr>
            <a:r>
              <a:rPr lang="en-US" sz="2025" dirty="0">
                <a:solidFill>
                  <a:srgbClr val="EAF0EC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Carteira fiel no Paraná, com 92% de penetração</a:t>
            </a:r>
            <a:endParaRPr lang="en-US" sz="2025" dirty="0"/>
          </a:p>
        </p:txBody>
      </p:sp>
      <p:sp>
        <p:nvSpPr>
          <p:cNvPr id="10" name="Shape 7"/>
          <p:cNvSpPr/>
          <p:nvPr/>
        </p:nvSpPr>
        <p:spPr>
          <a:xfrm>
            <a:off x="9248775" y="2375892"/>
            <a:ext cx="7991475" cy="3231654"/>
          </a:xfrm>
          <a:prstGeom prst="roundRect">
            <a:avLst>
              <a:gd name="adj" fmla="val 2358"/>
            </a:avLst>
          </a:prstGeom>
          <a:solidFill>
            <a:srgbClr val="EAF0EC"/>
          </a:solidFill>
          <a:ln/>
        </p:spPr>
      </p:sp>
      <p:sp>
        <p:nvSpPr>
          <p:cNvPr id="11" name="Text 8"/>
          <p:cNvSpPr/>
          <p:nvPr/>
        </p:nvSpPr>
        <p:spPr>
          <a:xfrm>
            <a:off x="9553575" y="2642592"/>
            <a:ext cx="8120062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52" kern="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FRAQUEZAS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9553575" y="3125192"/>
            <a:ext cx="8120062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40"/>
              </a:lnSpc>
              <a:buNone/>
            </a:pPr>
            <a:r>
              <a:rPr lang="en-US" sz="2025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Capacidade de remanufatura limitada a uma bancada</a:t>
            </a:r>
            <a:endParaRPr lang="en-US" sz="2025" dirty="0"/>
          </a:p>
        </p:txBody>
      </p:sp>
      <p:sp>
        <p:nvSpPr>
          <p:cNvPr id="13" name="Text 10"/>
          <p:cNvSpPr/>
          <p:nvPr/>
        </p:nvSpPr>
        <p:spPr>
          <a:xfrm>
            <a:off x="9553575" y="3592810"/>
            <a:ext cx="8120062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40"/>
              </a:lnSpc>
              <a:buNone/>
            </a:pPr>
            <a:r>
              <a:rPr lang="en-US" sz="2025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Marca pouco conhecida fora da região Sul</a:t>
            </a:r>
            <a:endParaRPr lang="en-US" sz="2025" dirty="0"/>
          </a:p>
        </p:txBody>
      </p:sp>
      <p:sp>
        <p:nvSpPr>
          <p:cNvPr id="14" name="Text 11"/>
          <p:cNvSpPr/>
          <p:nvPr/>
        </p:nvSpPr>
        <p:spPr>
          <a:xfrm>
            <a:off x="9553575" y="4060428"/>
            <a:ext cx="8120062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40"/>
              </a:lnSpc>
              <a:buNone/>
            </a:pPr>
            <a:r>
              <a:rPr lang="en-US" sz="2025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Dependência de dois fornecedores de importação</a:t>
            </a:r>
            <a:endParaRPr lang="en-US" sz="2025" dirty="0"/>
          </a:p>
        </p:txBody>
      </p:sp>
      <p:sp>
        <p:nvSpPr>
          <p:cNvPr id="15" name="Shape 12"/>
          <p:cNvSpPr/>
          <p:nvPr/>
        </p:nvSpPr>
        <p:spPr>
          <a:xfrm>
            <a:off x="1047750" y="5817096"/>
            <a:ext cx="7991475" cy="3231654"/>
          </a:xfrm>
          <a:prstGeom prst="roundRect">
            <a:avLst>
              <a:gd name="adj" fmla="val 2358"/>
            </a:avLst>
          </a:prstGeom>
          <a:solidFill>
            <a:srgbClr val="EAF0EC"/>
          </a:solidFill>
          <a:ln/>
        </p:spPr>
      </p:sp>
      <p:sp>
        <p:nvSpPr>
          <p:cNvPr id="16" name="Text 13"/>
          <p:cNvSpPr/>
          <p:nvPr/>
        </p:nvSpPr>
        <p:spPr>
          <a:xfrm>
            <a:off x="1352550" y="6083796"/>
            <a:ext cx="8120062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52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OPORTUNIDADES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1352550" y="6566396"/>
            <a:ext cx="8120062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40"/>
              </a:lnSpc>
              <a:buNone/>
            </a:pPr>
            <a:r>
              <a:rPr lang="en-US" sz="2025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61 mil veículos saindo da garantia nos próximos três anos</a:t>
            </a:r>
            <a:endParaRPr lang="en-US" sz="2025" dirty="0"/>
          </a:p>
        </p:txBody>
      </p:sp>
      <p:sp>
        <p:nvSpPr>
          <p:cNvPr id="18" name="Text 15"/>
          <p:cNvSpPr/>
          <p:nvPr/>
        </p:nvSpPr>
        <p:spPr>
          <a:xfrm>
            <a:off x="1352550" y="7034014"/>
            <a:ext cx="8120062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40"/>
              </a:lnSpc>
              <a:buNone/>
            </a:pPr>
            <a:r>
              <a:rPr lang="en-US" sz="2025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Centro-Oeste com penetração abaixo de 30%</a:t>
            </a:r>
            <a:endParaRPr lang="en-US" sz="2025" dirty="0"/>
          </a:p>
        </p:txBody>
      </p:sp>
      <p:sp>
        <p:nvSpPr>
          <p:cNvPr id="19" name="Text 16"/>
          <p:cNvSpPr/>
          <p:nvPr/>
        </p:nvSpPr>
        <p:spPr>
          <a:xfrm>
            <a:off x="1352550" y="7501632"/>
            <a:ext cx="8120062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40"/>
              </a:lnSpc>
              <a:buNone/>
            </a:pPr>
            <a:r>
              <a:rPr lang="en-US" sz="2025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Frotistas buscando reduzir custo de manutenção</a:t>
            </a:r>
            <a:endParaRPr lang="en-US" sz="2025" dirty="0"/>
          </a:p>
        </p:txBody>
      </p:sp>
      <p:sp>
        <p:nvSpPr>
          <p:cNvPr id="20" name="Shape 17"/>
          <p:cNvSpPr/>
          <p:nvPr/>
        </p:nvSpPr>
        <p:spPr>
          <a:xfrm>
            <a:off x="9248775" y="5817096"/>
            <a:ext cx="7991475" cy="3231654"/>
          </a:xfrm>
          <a:prstGeom prst="roundRect">
            <a:avLst>
              <a:gd name="adj" fmla="val 2358"/>
            </a:avLst>
          </a:prstGeom>
          <a:solidFill>
            <a:srgbClr val="EAF0EC"/>
          </a:solidFill>
          <a:ln/>
        </p:spPr>
      </p:sp>
      <p:sp>
        <p:nvSpPr>
          <p:cNvPr id="21" name="Shape 18"/>
          <p:cNvSpPr/>
          <p:nvPr/>
        </p:nvSpPr>
        <p:spPr>
          <a:xfrm>
            <a:off x="9248775" y="5817096"/>
            <a:ext cx="7991475" cy="38100"/>
          </a:xfrm>
          <a:prstGeom prst="rect">
            <a:avLst/>
          </a:prstGeom>
          <a:solidFill>
            <a:srgbClr val="F26800"/>
          </a:solidFill>
          <a:ln/>
        </p:spPr>
      </p:sp>
      <p:sp>
        <p:nvSpPr>
          <p:cNvPr id="22" name="Text 19"/>
          <p:cNvSpPr/>
          <p:nvPr/>
        </p:nvSpPr>
        <p:spPr>
          <a:xfrm>
            <a:off x="9553575" y="6121896"/>
            <a:ext cx="8120062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52" kern="0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AMEAÇAS</a:t>
            </a:r>
            <a:endParaRPr lang="en-US" sz="2100" dirty="0"/>
          </a:p>
        </p:txBody>
      </p:sp>
      <p:sp>
        <p:nvSpPr>
          <p:cNvPr id="23" name="Text 20"/>
          <p:cNvSpPr/>
          <p:nvPr/>
        </p:nvSpPr>
        <p:spPr>
          <a:xfrm>
            <a:off x="9553575" y="6604496"/>
            <a:ext cx="8120062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40"/>
              </a:lnSpc>
              <a:buNone/>
            </a:pPr>
            <a:r>
              <a:rPr lang="en-US" sz="2025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Rede autorizada avançando em pacotes de pós-garantia</a:t>
            </a:r>
            <a:endParaRPr lang="en-US" sz="2025" dirty="0"/>
          </a:p>
        </p:txBody>
      </p:sp>
      <p:sp>
        <p:nvSpPr>
          <p:cNvPr id="24" name="Text 21"/>
          <p:cNvSpPr/>
          <p:nvPr/>
        </p:nvSpPr>
        <p:spPr>
          <a:xfrm>
            <a:off x="9553575" y="7072114"/>
            <a:ext cx="8120062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40"/>
              </a:lnSpc>
              <a:buNone/>
            </a:pPr>
            <a:r>
              <a:rPr lang="en-US" sz="2025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Câmbio pressionando o custo da peça importada</a:t>
            </a:r>
            <a:endParaRPr lang="en-US" sz="2025" dirty="0"/>
          </a:p>
        </p:txBody>
      </p:sp>
      <p:sp>
        <p:nvSpPr>
          <p:cNvPr id="25" name="Text 22"/>
          <p:cNvSpPr/>
          <p:nvPr/>
        </p:nvSpPr>
        <p:spPr>
          <a:xfrm>
            <a:off x="9553575" y="7539732"/>
            <a:ext cx="8120062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40"/>
              </a:lnSpc>
              <a:buNone/>
            </a:pPr>
            <a:r>
              <a:rPr lang="en-US" sz="2025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Novos entrantes digitais na venda de peças usadas</a:t>
            </a:r>
            <a:endParaRPr lang="en-US" sz="2025" dirty="0"/>
          </a:p>
        </p:txBody>
      </p:sp>
      <p:sp>
        <p:nvSpPr>
          <p:cNvPr id="26" name="Shape 23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7" name="Text 24"/>
          <p:cNvSpPr/>
          <p:nvPr/>
        </p:nvSpPr>
        <p:spPr>
          <a:xfrm>
            <a:off x="1047750" y="9264650"/>
            <a:ext cx="286330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· Deck mestre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15000883" y="9264650"/>
            <a:ext cx="246330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SWOT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170914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CENÁRIOS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71600"/>
            <a:ext cx="17811750" cy="69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3"/>
              </a:lnSpc>
              <a:buNone/>
            </a:pPr>
            <a:r>
              <a:rPr lang="en-US" sz="4650" b="1" spc="-46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Três ritmos possíveis de expansão em 2026</a:t>
            </a:r>
            <a:endParaRPr lang="en-US" sz="4650" dirty="0"/>
          </a:p>
        </p:txBody>
      </p:sp>
      <p:sp>
        <p:nvSpPr>
          <p:cNvPr id="5" name="Shape 2"/>
          <p:cNvSpPr/>
          <p:nvPr/>
        </p:nvSpPr>
        <p:spPr>
          <a:xfrm>
            <a:off x="1047750" y="2490192"/>
            <a:ext cx="5194300" cy="6558558"/>
          </a:xfrm>
          <a:prstGeom prst="roundRect">
            <a:avLst>
              <a:gd name="adj" fmla="val 1467"/>
            </a:avLst>
          </a:prstGeom>
          <a:ln w="6350">
            <a:solidFill>
              <a:srgbClr val="D7E2D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397000" y="2877542"/>
            <a:ext cx="494538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52" kern="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CONSERVADOR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397000" y="3455392"/>
            <a:ext cx="4945380" cy="67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640"/>
              </a:lnSpc>
              <a:buNone/>
            </a:pPr>
            <a:r>
              <a:rPr lang="en-US" sz="48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R$ 112 mi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1397000" y="4324052"/>
            <a:ext cx="494538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receita projetada</a:t>
            </a:r>
            <a:endParaRPr lang="en-US" sz="1950" dirty="0"/>
          </a:p>
        </p:txBody>
      </p:sp>
      <p:sp>
        <p:nvSpPr>
          <p:cNvPr id="9" name="Shape 6"/>
          <p:cNvSpPr/>
          <p:nvPr/>
        </p:nvSpPr>
        <p:spPr>
          <a:xfrm>
            <a:off x="1397000" y="4876502"/>
            <a:ext cx="44958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0" name="Text 7"/>
          <p:cNvSpPr/>
          <p:nvPr/>
        </p:nvSpPr>
        <p:spPr>
          <a:xfrm>
            <a:off x="1397000" y="5111453"/>
            <a:ext cx="4630674" cy="758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091"/>
              </a:lnSpc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Uma praça nova, sem ampliar bancada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1397000" y="5983784"/>
            <a:ext cx="4945380" cy="3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091"/>
              </a:lnSpc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Investimento de R$ 1,2 mi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397000" y="6496149"/>
            <a:ext cx="4945380" cy="3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091"/>
              </a:lnSpc>
              <a:buNone/>
            </a:pPr>
            <a:r>
              <a:rPr lang="en-US" sz="21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Perde janela do Centro-Oeste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6546850" y="2490192"/>
            <a:ext cx="5194300" cy="6558558"/>
          </a:xfrm>
          <a:prstGeom prst="roundRect">
            <a:avLst>
              <a:gd name="adj" fmla="val 1467"/>
            </a:avLst>
          </a:prstGeom>
          <a:solidFill>
            <a:srgbClr val="012D2B"/>
          </a:solidFill>
          <a:ln/>
        </p:spPr>
      </p:sp>
      <p:sp>
        <p:nvSpPr>
          <p:cNvPr id="14" name="Text 11"/>
          <p:cNvSpPr/>
          <p:nvPr/>
        </p:nvSpPr>
        <p:spPr>
          <a:xfrm>
            <a:off x="6889750" y="2871192"/>
            <a:ext cx="495935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52" kern="0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BASE · RECOMENDADO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6889750" y="3449042"/>
            <a:ext cx="4959350" cy="67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640"/>
              </a:lnSpc>
              <a:buNone/>
            </a:pPr>
            <a:r>
              <a:rPr lang="en-US" sz="4800" b="1" dirty="0">
                <a:solidFill>
                  <a:srgbClr val="EAF0EC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R$ 140 mi</a:t>
            </a:r>
            <a:endParaRPr lang="en-US" sz="4800" dirty="0"/>
          </a:p>
        </p:txBody>
      </p:sp>
      <p:sp>
        <p:nvSpPr>
          <p:cNvPr id="16" name="Text 13"/>
          <p:cNvSpPr/>
          <p:nvPr/>
        </p:nvSpPr>
        <p:spPr>
          <a:xfrm>
            <a:off x="6889750" y="4317702"/>
            <a:ext cx="49593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receita projetada</a:t>
            </a:r>
            <a:endParaRPr lang="en-US" sz="1950" dirty="0"/>
          </a:p>
        </p:txBody>
      </p:sp>
      <p:sp>
        <p:nvSpPr>
          <p:cNvPr id="17" name="Shape 14"/>
          <p:cNvSpPr/>
          <p:nvPr/>
        </p:nvSpPr>
        <p:spPr>
          <a:xfrm>
            <a:off x="6889750" y="4870152"/>
            <a:ext cx="4508500" cy="9525"/>
          </a:xfrm>
          <a:prstGeom prst="rect">
            <a:avLst/>
          </a:prstGeom>
          <a:solidFill>
            <a:srgbClr val="A3CCAB">
              <a:alpha val="25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6889750" y="5105102"/>
            <a:ext cx="4643755" cy="758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091"/>
              </a:lnSpc>
              <a:buNone/>
            </a:pPr>
            <a:r>
              <a:rPr lang="en-US" sz="2100" dirty="0">
                <a:solidFill>
                  <a:srgbClr val="EAF0EC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Duas praças novas e segunda bancada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6889750" y="5977434"/>
            <a:ext cx="4959350" cy="3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091"/>
              </a:lnSpc>
              <a:buNone/>
            </a:pPr>
            <a:r>
              <a:rPr lang="en-US" sz="2100" dirty="0">
                <a:solidFill>
                  <a:srgbClr val="EAF0EC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Investimento de R$ 3,1 mi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6889750" y="6489799"/>
            <a:ext cx="4643755" cy="758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091"/>
              </a:lnSpc>
              <a:buNone/>
            </a:pPr>
            <a:r>
              <a:rPr lang="en-US" sz="210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Exige 12 contratações no comercial</a:t>
            </a:r>
            <a:endParaRPr lang="en-US" sz="2100" dirty="0"/>
          </a:p>
        </p:txBody>
      </p:sp>
      <p:sp>
        <p:nvSpPr>
          <p:cNvPr id="21" name="Shape 18"/>
          <p:cNvSpPr/>
          <p:nvPr/>
        </p:nvSpPr>
        <p:spPr>
          <a:xfrm>
            <a:off x="12045951" y="2490192"/>
            <a:ext cx="5194300" cy="6558558"/>
          </a:xfrm>
          <a:prstGeom prst="roundRect">
            <a:avLst>
              <a:gd name="adj" fmla="val 1467"/>
            </a:avLst>
          </a:prstGeom>
          <a:ln w="6350">
            <a:solidFill>
              <a:srgbClr val="D7E2D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2395200" y="2877542"/>
            <a:ext cx="494538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52" kern="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AGRESSIVO</a:t>
            </a:r>
            <a:endParaRPr lang="en-US" sz="2100" dirty="0"/>
          </a:p>
        </p:txBody>
      </p:sp>
      <p:sp>
        <p:nvSpPr>
          <p:cNvPr id="23" name="Text 20"/>
          <p:cNvSpPr/>
          <p:nvPr/>
        </p:nvSpPr>
        <p:spPr>
          <a:xfrm>
            <a:off x="12395200" y="3455392"/>
            <a:ext cx="4945380" cy="67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640"/>
              </a:lnSpc>
              <a:buNone/>
            </a:pPr>
            <a:r>
              <a:rPr lang="en-US" sz="48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R$ 178 mi</a:t>
            </a:r>
            <a:endParaRPr lang="en-US" sz="4800" dirty="0"/>
          </a:p>
        </p:txBody>
      </p:sp>
      <p:sp>
        <p:nvSpPr>
          <p:cNvPr id="24" name="Text 21"/>
          <p:cNvSpPr/>
          <p:nvPr/>
        </p:nvSpPr>
        <p:spPr>
          <a:xfrm>
            <a:off x="12395200" y="4324052"/>
            <a:ext cx="494538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receita projetada</a:t>
            </a:r>
            <a:endParaRPr lang="en-US" sz="1950" dirty="0"/>
          </a:p>
        </p:txBody>
      </p:sp>
      <p:sp>
        <p:nvSpPr>
          <p:cNvPr id="25" name="Shape 22"/>
          <p:cNvSpPr/>
          <p:nvPr/>
        </p:nvSpPr>
        <p:spPr>
          <a:xfrm>
            <a:off x="12395200" y="4876502"/>
            <a:ext cx="44958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6" name="Text 23"/>
          <p:cNvSpPr/>
          <p:nvPr/>
        </p:nvSpPr>
        <p:spPr>
          <a:xfrm>
            <a:off x="12395200" y="5111453"/>
            <a:ext cx="4630674" cy="758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091"/>
              </a:lnSpc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Quatro praças e centro de distribuição próprio</a:t>
            </a:r>
            <a:endParaRPr lang="en-US" sz="2100" dirty="0"/>
          </a:p>
        </p:txBody>
      </p:sp>
      <p:sp>
        <p:nvSpPr>
          <p:cNvPr id="27" name="Text 24"/>
          <p:cNvSpPr/>
          <p:nvPr/>
        </p:nvSpPr>
        <p:spPr>
          <a:xfrm>
            <a:off x="12395200" y="5983784"/>
            <a:ext cx="4945380" cy="3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091"/>
              </a:lnSpc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Investimento de R$ 7,4 mi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12395200" y="6496149"/>
            <a:ext cx="4630674" cy="758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091"/>
              </a:lnSpc>
              <a:buNone/>
            </a:pPr>
            <a:r>
              <a:rPr lang="en-US" sz="21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Risco de execução e caixa apertado</a:t>
            </a:r>
            <a:endParaRPr lang="en-US" sz="2100" dirty="0"/>
          </a:p>
        </p:txBody>
      </p:sp>
      <p:sp>
        <p:nvSpPr>
          <p:cNvPr id="29" name="Shape 26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30" name="Text 27"/>
          <p:cNvSpPr/>
          <p:nvPr/>
        </p:nvSpPr>
        <p:spPr>
          <a:xfrm>
            <a:off x="1047750" y="9264650"/>
            <a:ext cx="6399133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Projeções de exemplo para demonstração de layout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12828687" y="9264650"/>
            <a:ext cx="485272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Comparação de cenários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149566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PESSOAS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71600"/>
            <a:ext cx="17811750" cy="69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3"/>
              </a:lnSpc>
              <a:buNone/>
            </a:pPr>
            <a:r>
              <a:rPr lang="en-US" sz="4650" b="1" spc="-46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Quem conduz o plano de expansão</a:t>
            </a:r>
            <a:endParaRPr lang="en-US" sz="4650" dirty="0"/>
          </a:p>
        </p:txBody>
      </p:sp>
      <p:sp>
        <p:nvSpPr>
          <p:cNvPr id="5" name="Shape 2"/>
          <p:cNvSpPr/>
          <p:nvPr/>
        </p:nvSpPr>
        <p:spPr>
          <a:xfrm>
            <a:off x="1047750" y="2566392"/>
            <a:ext cx="3762375" cy="3762375"/>
          </a:xfrm>
          <a:prstGeom prst="roundRect">
            <a:avLst>
              <a:gd name="adj" fmla="val 2025"/>
            </a:avLst>
          </a:prstGeom>
          <a:solidFill>
            <a:srgbClr val="EAF0EC"/>
          </a:solidFill>
          <a:ln w="6350">
            <a:solidFill>
              <a:srgbClr val="D7E2D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97664" y="2572742"/>
            <a:ext cx="3862546" cy="3787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Foto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047750" y="6538317"/>
            <a:ext cx="413861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Marina Andrade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1047750" y="7014567"/>
            <a:ext cx="4138612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Diretora Financeira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047750" y="7478117"/>
            <a:ext cx="3875246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Orçamento das praças e estrutura de capital</a:t>
            </a:r>
            <a:endParaRPr lang="en-US" sz="1950" dirty="0"/>
          </a:p>
        </p:txBody>
      </p:sp>
      <p:sp>
        <p:nvSpPr>
          <p:cNvPr id="10" name="Shape 7"/>
          <p:cNvSpPr/>
          <p:nvPr/>
        </p:nvSpPr>
        <p:spPr>
          <a:xfrm>
            <a:off x="5191125" y="2566392"/>
            <a:ext cx="3762375" cy="3762375"/>
          </a:xfrm>
          <a:prstGeom prst="roundRect">
            <a:avLst>
              <a:gd name="adj" fmla="val 2025"/>
            </a:avLst>
          </a:prstGeom>
          <a:solidFill>
            <a:srgbClr val="EAF0EC"/>
          </a:solidFill>
          <a:ln w="6350">
            <a:solidFill>
              <a:srgbClr val="D7E2D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141039" y="2572742"/>
            <a:ext cx="3862546" cy="3787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Foto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5191125" y="6538317"/>
            <a:ext cx="413861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Paulo Duarte</a:t>
            </a:r>
            <a:endParaRPr lang="en-US" sz="2550" dirty="0"/>
          </a:p>
        </p:txBody>
      </p:sp>
      <p:sp>
        <p:nvSpPr>
          <p:cNvPr id="13" name="Text 10"/>
          <p:cNvSpPr/>
          <p:nvPr/>
        </p:nvSpPr>
        <p:spPr>
          <a:xfrm>
            <a:off x="5191125" y="7014567"/>
            <a:ext cx="4138612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Gerente Comercial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5191125" y="7478117"/>
            <a:ext cx="3875246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Carteira ativa e time de campo regional</a:t>
            </a:r>
            <a:endParaRPr lang="en-US" sz="1950" dirty="0"/>
          </a:p>
        </p:txBody>
      </p:sp>
      <p:sp>
        <p:nvSpPr>
          <p:cNvPr id="15" name="Shape 12"/>
          <p:cNvSpPr/>
          <p:nvPr/>
        </p:nvSpPr>
        <p:spPr>
          <a:xfrm>
            <a:off x="9334500" y="2566392"/>
            <a:ext cx="3762375" cy="3762375"/>
          </a:xfrm>
          <a:prstGeom prst="roundRect">
            <a:avLst>
              <a:gd name="adj" fmla="val 2025"/>
            </a:avLst>
          </a:prstGeom>
          <a:solidFill>
            <a:srgbClr val="EAF0EC"/>
          </a:solidFill>
          <a:ln w="6350">
            <a:solidFill>
              <a:srgbClr val="D7E2D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284414" y="2572742"/>
            <a:ext cx="3862546" cy="3787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Foto</a:t>
            </a:r>
            <a:endParaRPr lang="en-US" sz="1950" dirty="0"/>
          </a:p>
        </p:txBody>
      </p:sp>
      <p:sp>
        <p:nvSpPr>
          <p:cNvPr id="17" name="Text 14"/>
          <p:cNvSpPr/>
          <p:nvPr/>
        </p:nvSpPr>
        <p:spPr>
          <a:xfrm>
            <a:off x="9334500" y="6538317"/>
            <a:ext cx="413861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Rafael Lima</a:t>
            </a:r>
            <a:endParaRPr lang="en-US" sz="2550" dirty="0"/>
          </a:p>
        </p:txBody>
      </p:sp>
      <p:sp>
        <p:nvSpPr>
          <p:cNvPr id="18" name="Text 15"/>
          <p:cNvSpPr/>
          <p:nvPr/>
        </p:nvSpPr>
        <p:spPr>
          <a:xfrm>
            <a:off x="9334500" y="7014567"/>
            <a:ext cx="4138612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Head de Suprimentos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9334500" y="7478117"/>
            <a:ext cx="3875246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Importação, compra de frota e remanufatura</a:t>
            </a:r>
            <a:endParaRPr lang="en-US" sz="1950" dirty="0"/>
          </a:p>
        </p:txBody>
      </p:sp>
      <p:sp>
        <p:nvSpPr>
          <p:cNvPr id="20" name="Shape 17"/>
          <p:cNvSpPr/>
          <p:nvPr/>
        </p:nvSpPr>
        <p:spPr>
          <a:xfrm>
            <a:off x="13477875" y="2566392"/>
            <a:ext cx="3762375" cy="3762375"/>
          </a:xfrm>
          <a:prstGeom prst="roundRect">
            <a:avLst>
              <a:gd name="adj" fmla="val 2025"/>
            </a:avLst>
          </a:prstGeom>
          <a:solidFill>
            <a:srgbClr val="EAF0EC"/>
          </a:solidFill>
          <a:ln w="6350">
            <a:solidFill>
              <a:srgbClr val="D7E2D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3427789" y="2572742"/>
            <a:ext cx="3862546" cy="3787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Foto</a:t>
            </a:r>
            <a:endParaRPr lang="en-US" sz="1950" dirty="0"/>
          </a:p>
        </p:txBody>
      </p:sp>
      <p:sp>
        <p:nvSpPr>
          <p:cNvPr id="22" name="Text 19"/>
          <p:cNvSpPr/>
          <p:nvPr/>
        </p:nvSpPr>
        <p:spPr>
          <a:xfrm>
            <a:off x="13477875" y="6538317"/>
            <a:ext cx="413861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Juliana Prado</a:t>
            </a:r>
            <a:endParaRPr lang="en-US" sz="2550" dirty="0"/>
          </a:p>
        </p:txBody>
      </p:sp>
      <p:sp>
        <p:nvSpPr>
          <p:cNvPr id="23" name="Text 20"/>
          <p:cNvSpPr/>
          <p:nvPr/>
        </p:nvSpPr>
        <p:spPr>
          <a:xfrm>
            <a:off x="13477875" y="7014567"/>
            <a:ext cx="4138612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Gerente de Operações</a:t>
            </a:r>
            <a:endParaRPr lang="en-US" sz="2100" dirty="0"/>
          </a:p>
        </p:txBody>
      </p:sp>
      <p:sp>
        <p:nvSpPr>
          <p:cNvPr id="24" name="Text 21"/>
          <p:cNvSpPr/>
          <p:nvPr/>
        </p:nvSpPr>
        <p:spPr>
          <a:xfrm>
            <a:off x="13477875" y="7478117"/>
            <a:ext cx="3875246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Desmonte, logística e prazo de entrega</a:t>
            </a:r>
            <a:endParaRPr lang="en-US" sz="1950" dirty="0"/>
          </a:p>
        </p:txBody>
      </p:sp>
      <p:sp>
        <p:nvSpPr>
          <p:cNvPr id="25" name="Shape 22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6" name="Text 23"/>
          <p:cNvSpPr/>
          <p:nvPr/>
        </p:nvSpPr>
        <p:spPr>
          <a:xfrm>
            <a:off x="1047750" y="9264650"/>
            <a:ext cx="286330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· Deck mestre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4945718" y="9264650"/>
            <a:ext cx="2523986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Equipe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A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87094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CASE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71600"/>
            <a:ext cx="17811750" cy="69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3"/>
              </a:lnSpc>
              <a:buNone/>
            </a:pPr>
            <a:r>
              <a:rPr lang="en-US" sz="4650" b="1" spc="-46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Transportes Vale Norte · 312 veículos</a:t>
            </a:r>
            <a:endParaRPr lang="en-US" sz="4650" dirty="0"/>
          </a:p>
        </p:txBody>
      </p:sp>
      <p:sp>
        <p:nvSpPr>
          <p:cNvPr id="5" name="Shape 2"/>
          <p:cNvSpPr/>
          <p:nvPr/>
        </p:nvSpPr>
        <p:spPr>
          <a:xfrm>
            <a:off x="1047750" y="2490192"/>
            <a:ext cx="8334970" cy="6558558"/>
          </a:xfrm>
          <a:prstGeom prst="roundRect">
            <a:avLst>
              <a:gd name="adj" fmla="val 1162"/>
            </a:avLst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2947392"/>
            <a:ext cx="8246447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50000"/>
              </a:lnSpc>
              <a:buNone/>
            </a:pPr>
            <a:r>
              <a:rPr lang="en-US" sz="8250" b="1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“</a:t>
            </a:r>
            <a:endParaRPr lang="en-US" sz="8250" dirty="0"/>
          </a:p>
        </p:txBody>
      </p:sp>
      <p:sp>
        <p:nvSpPr>
          <p:cNvPr id="7" name="Text 4"/>
          <p:cNvSpPr/>
          <p:nvPr/>
        </p:nvSpPr>
        <p:spPr>
          <a:xfrm>
            <a:off x="1466850" y="3785592"/>
            <a:ext cx="7721673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Trocamos o motor de sete caminhões em quatro meses sem tirar nenhum de rota por mais de dois dias.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1466850" y="7893050"/>
            <a:ext cx="698500" cy="698500"/>
          </a:xfrm>
          <a:prstGeom prst="ellipse">
            <a:avLst/>
          </a:prstGeom>
          <a:solidFill>
            <a:srgbClr val="EAF0EC"/>
          </a:solidFill>
          <a:ln w="6350">
            <a:solidFill>
              <a:srgbClr val="D7E2D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435100" y="7899400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Foto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2355850" y="7893050"/>
            <a:ext cx="2444204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Carlos Menezes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2355850" y="8267700"/>
            <a:ext cx="244420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Gerente de frota</a:t>
            </a:r>
            <a:endParaRPr lang="en-US" sz="1950" dirty="0"/>
          </a:p>
        </p:txBody>
      </p:sp>
      <p:sp>
        <p:nvSpPr>
          <p:cNvPr id="12" name="Shape 9"/>
          <p:cNvSpPr/>
          <p:nvPr/>
        </p:nvSpPr>
        <p:spPr>
          <a:xfrm>
            <a:off x="9992320" y="2490192"/>
            <a:ext cx="7247831" cy="1824930"/>
          </a:xfrm>
          <a:prstGeom prst="roundRect">
            <a:avLst>
              <a:gd name="adj" fmla="val 4176"/>
            </a:avLst>
          </a:prstGeom>
          <a:solidFill>
            <a:srgbClr val="012D2B"/>
          </a:solidFill>
          <a:ln/>
        </p:spPr>
      </p:sp>
      <p:sp>
        <p:nvSpPr>
          <p:cNvPr id="13" name="Text 10"/>
          <p:cNvSpPr/>
          <p:nvPr/>
        </p:nvSpPr>
        <p:spPr>
          <a:xfrm>
            <a:off x="10373320" y="2833092"/>
            <a:ext cx="713441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Redução no custo de manutenção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10373320" y="3252192"/>
            <a:ext cx="7134414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00"/>
              </a:lnSpc>
              <a:buNone/>
            </a:pPr>
            <a:r>
              <a:rPr lang="en-US" sz="5400" b="1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−31%</a:t>
            </a:r>
            <a:endParaRPr lang="en-US" sz="5400" dirty="0"/>
          </a:p>
        </p:txBody>
      </p:sp>
      <p:sp>
        <p:nvSpPr>
          <p:cNvPr id="15" name="Shape 12"/>
          <p:cNvSpPr/>
          <p:nvPr/>
        </p:nvSpPr>
        <p:spPr>
          <a:xfrm>
            <a:off x="9992320" y="4543723"/>
            <a:ext cx="7247831" cy="1824930"/>
          </a:xfrm>
          <a:prstGeom prst="roundRect">
            <a:avLst>
              <a:gd name="adj" fmla="val 4176"/>
            </a:avLst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10373320" y="4886623"/>
            <a:ext cx="713441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Disponibilidade de frota</a:t>
            </a:r>
            <a:endParaRPr lang="en-US" sz="1950" dirty="0"/>
          </a:p>
        </p:txBody>
      </p:sp>
      <p:sp>
        <p:nvSpPr>
          <p:cNvPr id="17" name="Text 14"/>
          <p:cNvSpPr/>
          <p:nvPr/>
        </p:nvSpPr>
        <p:spPr>
          <a:xfrm>
            <a:off x="10373320" y="5305723"/>
            <a:ext cx="7134414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00"/>
              </a:lnSpc>
              <a:buNone/>
            </a:pPr>
            <a:r>
              <a:rPr lang="en-US" sz="54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94%</a:t>
            </a:r>
            <a:endParaRPr lang="en-US" sz="5400" dirty="0"/>
          </a:p>
        </p:txBody>
      </p:sp>
      <p:sp>
        <p:nvSpPr>
          <p:cNvPr id="18" name="Shape 15"/>
          <p:cNvSpPr/>
          <p:nvPr/>
        </p:nvSpPr>
        <p:spPr>
          <a:xfrm>
            <a:off x="9992320" y="6597253"/>
            <a:ext cx="7247831" cy="1824930"/>
          </a:xfrm>
          <a:prstGeom prst="roundRect">
            <a:avLst>
              <a:gd name="adj" fmla="val 4176"/>
            </a:avLst>
          </a:pr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>
            <a:off x="10373320" y="6940153"/>
            <a:ext cx="713441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Receita gerada em 12 meses</a:t>
            </a:r>
            <a:endParaRPr lang="en-US" sz="1950" dirty="0"/>
          </a:p>
        </p:txBody>
      </p:sp>
      <p:sp>
        <p:nvSpPr>
          <p:cNvPr id="20" name="Text 17"/>
          <p:cNvSpPr/>
          <p:nvPr/>
        </p:nvSpPr>
        <p:spPr>
          <a:xfrm>
            <a:off x="10373320" y="7359253"/>
            <a:ext cx="7134414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00"/>
              </a:lnSpc>
              <a:buNone/>
            </a:pPr>
            <a:r>
              <a:rPr lang="en-US" sz="54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R$ 1,9 mi</a:t>
            </a:r>
            <a:endParaRPr lang="en-US" sz="5400" dirty="0"/>
          </a:p>
        </p:txBody>
      </p:sp>
      <p:sp>
        <p:nvSpPr>
          <p:cNvPr id="21" name="Shape 18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2" name="Text 19"/>
          <p:cNvSpPr/>
          <p:nvPr/>
        </p:nvSpPr>
        <p:spPr>
          <a:xfrm>
            <a:off x="1047750" y="9264650"/>
            <a:ext cx="5219432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Case fictício para demonstração de layout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3560623" y="9264650"/>
            <a:ext cx="4047589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Case / depoimento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12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323689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BANCO DE ÍCONES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52550"/>
            <a:ext cx="17811750" cy="635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312"/>
              </a:lnSpc>
              <a:buNone/>
            </a:pPr>
            <a:r>
              <a:rPr lang="en-US" sz="4200" b="1" spc="-42" kern="0" dirty="0">
                <a:solidFill>
                  <a:srgbClr val="EAF0EC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Operação: pátio, peças e entrega</a:t>
            </a:r>
            <a:endParaRPr lang="en-US" sz="42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19300" y="2559546"/>
            <a:ext cx="990600" cy="990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03745" y="3702546"/>
            <a:ext cx="302171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588"/>
              </a:lnSpc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Desmontagem de veículos</a:t>
            </a:r>
            <a:endParaRPr lang="en-US" sz="19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34000" y="2559546"/>
            <a:ext cx="990600" cy="990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761364" y="3702546"/>
            <a:ext cx="213577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588"/>
              </a:lnSpc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Venda de peças</a:t>
            </a:r>
            <a:endParaRPr lang="en-US" sz="19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48700" y="2559546"/>
            <a:ext cx="990600" cy="9906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977068" y="3702546"/>
            <a:ext cx="233386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588"/>
              </a:lnSpc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Estoque de peças</a:t>
            </a:r>
            <a:endParaRPr lang="en-US" sz="19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963400" y="2559546"/>
            <a:ext cx="990600" cy="9906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0947845" y="3702546"/>
            <a:ext cx="302171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588"/>
              </a:lnSpc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Motores remanufaturados</a:t>
            </a:r>
            <a:endParaRPr lang="en-US" sz="195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278100" y="2559546"/>
            <a:ext cx="990600" cy="99060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4197087" y="3702546"/>
            <a:ext cx="315252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588"/>
              </a:lnSpc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Câmbios e transmissões</a:t>
            </a:r>
            <a:endParaRPr lang="en-US" sz="1950" dirty="0"/>
          </a:p>
        </p:txBody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019300" y="5159871"/>
            <a:ext cx="990600" cy="99060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1367314" y="6302871"/>
            <a:ext cx="229457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588"/>
              </a:lnSpc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Oficina e serviços</a:t>
            </a:r>
            <a:endParaRPr lang="en-US" sz="1950" dirty="0"/>
          </a:p>
        </p:txBody>
      </p:sp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334000" y="5159871"/>
            <a:ext cx="990600" cy="990600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4425533" y="6302871"/>
            <a:ext cx="280753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588"/>
              </a:lnSpc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Inspeção e qualidade</a:t>
            </a:r>
            <a:endParaRPr lang="en-US" sz="1950" dirty="0"/>
          </a:p>
        </p:txBody>
      </p:sp>
      <p:pic>
        <p:nvPicPr>
          <p:cNvPr id="19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648700" y="5159871"/>
            <a:ext cx="990600" cy="990600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8081953" y="6302871"/>
            <a:ext cx="212409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588"/>
              </a:lnSpc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Armazenamento</a:t>
            </a:r>
            <a:endParaRPr lang="en-US" sz="1950" dirty="0"/>
          </a:p>
        </p:txBody>
      </p:sp>
      <p:pic>
        <p:nvPicPr>
          <p:cNvPr id="21" name="Image 9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1963400" y="5159871"/>
            <a:ext cx="990600" cy="990600"/>
          </a:xfrm>
          <a:prstGeom prst="rect">
            <a:avLst/>
          </a:prstGeom>
        </p:spPr>
      </p:pic>
      <p:sp>
        <p:nvSpPr>
          <p:cNvPr id="22" name="Text 10"/>
          <p:cNvSpPr/>
          <p:nvPr/>
        </p:nvSpPr>
        <p:spPr>
          <a:xfrm>
            <a:off x="11191032" y="6302871"/>
            <a:ext cx="253533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588"/>
              </a:lnSpc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Logística e entrega</a:t>
            </a:r>
            <a:endParaRPr lang="en-US" sz="1950" dirty="0"/>
          </a:p>
        </p:txBody>
      </p:sp>
      <p:pic>
        <p:nvPicPr>
          <p:cNvPr id="23" name="Image 10" descr="preencoded.png">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5278100" y="5159871"/>
            <a:ext cx="990600" cy="990600"/>
          </a:xfrm>
          <a:prstGeom prst="rect">
            <a:avLst/>
          </a:prstGeom>
        </p:spPr>
      </p:pic>
      <p:sp>
        <p:nvSpPr>
          <p:cNvPr id="24" name="Text 11"/>
          <p:cNvSpPr/>
          <p:nvPr/>
        </p:nvSpPr>
        <p:spPr>
          <a:xfrm>
            <a:off x="14776400" y="6302871"/>
            <a:ext cx="199399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588"/>
              </a:lnSpc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Rastreabilidade</a:t>
            </a:r>
            <a:endParaRPr lang="en-US" sz="1950" dirty="0"/>
          </a:p>
        </p:txBody>
      </p:sp>
      <p:sp>
        <p:nvSpPr>
          <p:cNvPr id="25" name="Shape 12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A3CCAB">
              <a:alpha val="28000"/>
            </a:srgbClr>
          </a:solidFill>
          <a:ln/>
        </p:spPr>
      </p:sp>
      <p:sp>
        <p:nvSpPr>
          <p:cNvPr id="26" name="Text 13"/>
          <p:cNvSpPr/>
          <p:nvPr/>
        </p:nvSpPr>
        <p:spPr>
          <a:xfrm>
            <a:off x="1047750" y="9264650"/>
            <a:ext cx="1041027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Traço monolinear de 2,2 px em grade de 48 px · use sempre em uma cor por ícone</a:t>
            </a:r>
            <a:endParaRPr lang="en-US" sz="1800" dirty="0"/>
          </a:p>
        </p:txBody>
      </p:sp>
      <p:sp>
        <p:nvSpPr>
          <p:cNvPr id="27" name="Text 14"/>
          <p:cNvSpPr/>
          <p:nvPr/>
        </p:nvSpPr>
        <p:spPr>
          <a:xfrm>
            <a:off x="12193191" y="9264650"/>
            <a:ext cx="5551765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Banco de ícones (fundo verde)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12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323689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BANCO DE ÍCONES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52550"/>
            <a:ext cx="17811750" cy="635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312"/>
              </a:lnSpc>
              <a:buNone/>
            </a:pPr>
            <a:r>
              <a:rPr lang="en-US" sz="4200" b="1" spc="-42" kern="0" dirty="0">
                <a:solidFill>
                  <a:srgbClr val="EAF0EC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Comercial, veículos e economia circular</a:t>
            </a:r>
            <a:endParaRPr lang="en-US" sz="42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19300" y="2559546"/>
            <a:ext cx="990600" cy="990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766659" y="3702546"/>
            <a:ext cx="1495882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588"/>
              </a:lnSpc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Importação</a:t>
            </a:r>
            <a:endParaRPr lang="en-US" sz="19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34000" y="2559546"/>
            <a:ext cx="990600" cy="990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520382" y="3702546"/>
            <a:ext cx="261773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588"/>
              </a:lnSpc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Compra de veículos</a:t>
            </a:r>
            <a:endParaRPr lang="en-US" sz="19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48700" y="2559546"/>
            <a:ext cx="990600" cy="9906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961248" y="3702546"/>
            <a:ext cx="236540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588"/>
              </a:lnSpc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Venda de veículos</a:t>
            </a:r>
            <a:endParaRPr lang="en-US" sz="19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963400" y="2559546"/>
            <a:ext cx="990600" cy="9906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1420883" y="3702546"/>
            <a:ext cx="2075636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588"/>
              </a:lnSpc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Frota do cliente</a:t>
            </a:r>
            <a:endParaRPr lang="en-US" sz="195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278100" y="2559546"/>
            <a:ext cx="990600" cy="99060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4738857" y="3702546"/>
            <a:ext cx="206908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588"/>
              </a:lnSpc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Catálogo digital</a:t>
            </a:r>
            <a:endParaRPr lang="en-US" sz="1950" dirty="0"/>
          </a:p>
        </p:txBody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019300" y="4850309"/>
            <a:ext cx="990600" cy="99060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1949946" y="5993309"/>
            <a:ext cx="112920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588"/>
              </a:lnSpc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Garantia</a:t>
            </a:r>
            <a:endParaRPr lang="en-US" sz="1950" dirty="0"/>
          </a:p>
        </p:txBody>
      </p:sp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334000" y="4850309"/>
            <a:ext cx="990600" cy="990600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4649708" y="5993309"/>
            <a:ext cx="235918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588"/>
              </a:lnSpc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Economia circular</a:t>
            </a:r>
            <a:endParaRPr lang="en-US" sz="1950" dirty="0"/>
          </a:p>
        </p:txBody>
      </p:sp>
      <p:pic>
        <p:nvPicPr>
          <p:cNvPr id="19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648700" y="4850309"/>
            <a:ext cx="990600" cy="990600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7633145" y="5993309"/>
            <a:ext cx="302171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588"/>
              </a:lnSpc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Selos e ativos ambientais</a:t>
            </a:r>
            <a:endParaRPr lang="en-US" sz="1950" dirty="0"/>
          </a:p>
        </p:txBody>
      </p:sp>
      <p:pic>
        <p:nvPicPr>
          <p:cNvPr id="21" name="Image 9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1963400" y="4850309"/>
            <a:ext cx="990600" cy="990600"/>
          </a:xfrm>
          <a:prstGeom prst="rect">
            <a:avLst/>
          </a:prstGeom>
        </p:spPr>
      </p:pic>
      <p:sp>
        <p:nvSpPr>
          <p:cNvPr id="22" name="Text 10"/>
          <p:cNvSpPr/>
          <p:nvPr/>
        </p:nvSpPr>
        <p:spPr>
          <a:xfrm>
            <a:off x="11094006" y="5993309"/>
            <a:ext cx="272938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588"/>
              </a:lnSpc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Reciclagem de metal</a:t>
            </a:r>
            <a:endParaRPr lang="en-US" sz="1950" dirty="0"/>
          </a:p>
        </p:txBody>
      </p:sp>
      <p:pic>
        <p:nvPicPr>
          <p:cNvPr id="23" name="Image 10" descr="preencoded.png">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5278100" y="4850309"/>
            <a:ext cx="990600" cy="990600"/>
          </a:xfrm>
          <a:prstGeom prst="rect">
            <a:avLst/>
          </a:prstGeom>
        </p:spPr>
      </p:pic>
      <p:sp>
        <p:nvSpPr>
          <p:cNvPr id="24" name="Text 11"/>
          <p:cNvSpPr/>
          <p:nvPr/>
        </p:nvSpPr>
        <p:spPr>
          <a:xfrm>
            <a:off x="14524613" y="5993309"/>
            <a:ext cx="249757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588"/>
              </a:lnSpc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Economia de custo</a:t>
            </a:r>
            <a:endParaRPr lang="en-US" sz="1950" dirty="0"/>
          </a:p>
        </p:txBody>
      </p:sp>
      <p:sp>
        <p:nvSpPr>
          <p:cNvPr id="25" name="Shape 12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A3CCAB">
              <a:alpha val="28000"/>
            </a:srgbClr>
          </a:solidFill>
          <a:ln/>
        </p:spPr>
      </p:sp>
      <p:sp>
        <p:nvSpPr>
          <p:cNvPr id="26" name="Text 13"/>
          <p:cNvSpPr/>
          <p:nvPr/>
        </p:nvSpPr>
        <p:spPr>
          <a:xfrm>
            <a:off x="1047750" y="9264650"/>
            <a:ext cx="8806666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Laranja reservado aos temas ambientais · nunca mais de três por slide</a:t>
            </a:r>
            <a:endParaRPr lang="en-US" sz="1800" dirty="0"/>
          </a:p>
        </p:txBody>
      </p:sp>
      <p:sp>
        <p:nvSpPr>
          <p:cNvPr id="27" name="Text 14"/>
          <p:cNvSpPr/>
          <p:nvPr/>
        </p:nvSpPr>
        <p:spPr>
          <a:xfrm>
            <a:off x="10083900" y="9264650"/>
            <a:ext cx="7871986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Banco de ícones (fundo verde · menta e laranja)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323689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BANCO DE ÍCONES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52550"/>
            <a:ext cx="17811750" cy="635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312"/>
              </a:lnSpc>
              <a:buNone/>
            </a:pPr>
            <a:r>
              <a:rPr lang="en-US" sz="4200" b="1" spc="-42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Conjunto completo para fundos claros</a:t>
            </a:r>
            <a:endParaRPr lang="en-US" sz="42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90750" y="2407146"/>
            <a:ext cx="647700" cy="6477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39378" y="3207246"/>
            <a:ext cx="315034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745"/>
              </a:lnSpc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Desmontagem de veículos</a:t>
            </a:r>
            <a:endParaRPr lang="en-US" sz="18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05450" y="2407146"/>
            <a:ext cx="647700" cy="6477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843542" y="3207246"/>
            <a:ext cx="197151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745"/>
              </a:lnSpc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Venda de peças</a:t>
            </a:r>
            <a:endParaRPr lang="en-US" sz="18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20150" y="2407146"/>
            <a:ext cx="647700" cy="6477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066787" y="3207246"/>
            <a:ext cx="215432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745"/>
              </a:lnSpc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Estoque de peças</a:t>
            </a:r>
            <a:endParaRPr lang="en-US" sz="18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134850" y="2407146"/>
            <a:ext cx="647700" cy="6477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0882279" y="3207246"/>
            <a:ext cx="315274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745"/>
              </a:lnSpc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Motores remanufaturados</a:t>
            </a:r>
            <a:endParaRPr lang="en-US" sz="180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449550" y="2407146"/>
            <a:ext cx="647700" cy="64770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4318337" y="3207246"/>
            <a:ext cx="291012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745"/>
              </a:lnSpc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Câmbios e transmissões</a:t>
            </a:r>
            <a:endParaRPr lang="en-US" sz="1800" dirty="0"/>
          </a:p>
        </p:txBody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190750" y="3873996"/>
            <a:ext cx="647700" cy="64770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1455504" y="4674096"/>
            <a:ext cx="211809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745"/>
              </a:lnSpc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Oficina e serviços</a:t>
            </a:r>
            <a:endParaRPr lang="en-US" sz="1800" dirty="0"/>
          </a:p>
        </p:txBody>
      </p:sp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505450" y="3873996"/>
            <a:ext cx="647700" cy="647700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4533474" y="4674096"/>
            <a:ext cx="259165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745"/>
              </a:lnSpc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Inspeção e qualidade</a:t>
            </a:r>
            <a:endParaRPr lang="en-US" sz="1800" dirty="0"/>
          </a:p>
        </p:txBody>
      </p:sp>
      <p:pic>
        <p:nvPicPr>
          <p:cNvPr id="19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820150" y="3873996"/>
            <a:ext cx="647700" cy="647700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8163595" y="4674096"/>
            <a:ext cx="196071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745"/>
              </a:lnSpc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Armazenamento</a:t>
            </a:r>
            <a:endParaRPr lang="en-US" sz="1800" dirty="0"/>
          </a:p>
        </p:txBody>
      </p:sp>
      <p:pic>
        <p:nvPicPr>
          <p:cNvPr id="21" name="Image 9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2134850" y="3873996"/>
            <a:ext cx="647700" cy="647700"/>
          </a:xfrm>
          <a:prstGeom prst="rect">
            <a:avLst/>
          </a:prstGeom>
        </p:spPr>
      </p:pic>
      <p:sp>
        <p:nvSpPr>
          <p:cNvPr id="22" name="Text 10"/>
          <p:cNvSpPr/>
          <p:nvPr/>
        </p:nvSpPr>
        <p:spPr>
          <a:xfrm>
            <a:off x="11288499" y="4674096"/>
            <a:ext cx="234030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745"/>
              </a:lnSpc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Logística e entrega</a:t>
            </a:r>
            <a:endParaRPr lang="en-US" sz="1800" dirty="0"/>
          </a:p>
        </p:txBody>
      </p:sp>
      <p:pic>
        <p:nvPicPr>
          <p:cNvPr id="23" name="Image 10" descr="preencoded.png">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5449550" y="3873996"/>
            <a:ext cx="647700" cy="647700"/>
          </a:xfrm>
          <a:prstGeom prst="rect">
            <a:avLst/>
          </a:prstGeom>
        </p:spPr>
      </p:pic>
      <p:sp>
        <p:nvSpPr>
          <p:cNvPr id="24" name="Text 11"/>
          <p:cNvSpPr/>
          <p:nvPr/>
        </p:nvSpPr>
        <p:spPr>
          <a:xfrm>
            <a:off x="14853022" y="4674096"/>
            <a:ext cx="184065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745"/>
              </a:lnSpc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Rastreabilidade</a:t>
            </a:r>
            <a:endParaRPr lang="en-US" sz="1800" dirty="0"/>
          </a:p>
        </p:txBody>
      </p:sp>
      <p:pic>
        <p:nvPicPr>
          <p:cNvPr id="25" name="Image 11" descr="preencoded.png">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190750" y="5340846"/>
            <a:ext cx="647700" cy="647700"/>
          </a:xfrm>
          <a:prstGeom prst="rect">
            <a:avLst/>
          </a:prstGeom>
        </p:spPr>
      </p:pic>
      <p:sp>
        <p:nvSpPr>
          <p:cNvPr id="26" name="Text 12"/>
          <p:cNvSpPr/>
          <p:nvPr/>
        </p:nvSpPr>
        <p:spPr>
          <a:xfrm>
            <a:off x="1824176" y="6140946"/>
            <a:ext cx="138084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745"/>
              </a:lnSpc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Importação</a:t>
            </a:r>
            <a:endParaRPr lang="en-US" sz="1800" dirty="0"/>
          </a:p>
        </p:txBody>
      </p:sp>
      <p:pic>
        <p:nvPicPr>
          <p:cNvPr id="27" name="Image 12" descr="preencoded.png">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505450" y="5340846"/>
            <a:ext cx="647700" cy="647700"/>
          </a:xfrm>
          <a:prstGeom prst="rect">
            <a:avLst/>
          </a:prstGeom>
        </p:spPr>
      </p:pic>
      <p:sp>
        <p:nvSpPr>
          <p:cNvPr id="28" name="Text 13"/>
          <p:cNvSpPr/>
          <p:nvPr/>
        </p:nvSpPr>
        <p:spPr>
          <a:xfrm>
            <a:off x="4621113" y="6140946"/>
            <a:ext cx="241637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745"/>
              </a:lnSpc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Compra de veículos</a:t>
            </a:r>
            <a:endParaRPr lang="en-US" sz="1800" dirty="0"/>
          </a:p>
        </p:txBody>
      </p:sp>
      <p:pic>
        <p:nvPicPr>
          <p:cNvPr id="29" name="Image 13" descr="preencoded.png">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8820150" y="5340846"/>
            <a:ext cx="647700" cy="647700"/>
          </a:xfrm>
          <a:prstGeom prst="rect">
            <a:avLst/>
          </a:prstGeom>
        </p:spPr>
      </p:pic>
      <p:sp>
        <p:nvSpPr>
          <p:cNvPr id="30" name="Text 14"/>
          <p:cNvSpPr/>
          <p:nvPr/>
        </p:nvSpPr>
        <p:spPr>
          <a:xfrm>
            <a:off x="8052267" y="6140946"/>
            <a:ext cx="218346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745"/>
              </a:lnSpc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Venda de veículos</a:t>
            </a:r>
            <a:endParaRPr lang="en-US" sz="1800" dirty="0"/>
          </a:p>
        </p:txBody>
      </p:sp>
      <p:pic>
        <p:nvPicPr>
          <p:cNvPr id="31" name="Image 14" descr="preencoded.png">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2134850" y="5340846"/>
            <a:ext cx="647700" cy="647700"/>
          </a:xfrm>
          <a:prstGeom prst="rect">
            <a:avLst/>
          </a:prstGeom>
        </p:spPr>
      </p:pic>
      <p:sp>
        <p:nvSpPr>
          <p:cNvPr id="32" name="Text 15"/>
          <p:cNvSpPr/>
          <p:nvPr/>
        </p:nvSpPr>
        <p:spPr>
          <a:xfrm>
            <a:off x="11500669" y="6140946"/>
            <a:ext cx="191596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745"/>
              </a:lnSpc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Frota do cliente</a:t>
            </a:r>
            <a:endParaRPr lang="en-US" sz="1800" dirty="0"/>
          </a:p>
        </p:txBody>
      </p:sp>
      <p:pic>
        <p:nvPicPr>
          <p:cNvPr id="33" name="Image 15" descr="preencoded.png">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5449550" y="5340846"/>
            <a:ext cx="647700" cy="647700"/>
          </a:xfrm>
          <a:prstGeom prst="rect">
            <a:avLst/>
          </a:prstGeom>
        </p:spPr>
      </p:pic>
      <p:sp>
        <p:nvSpPr>
          <p:cNvPr id="34" name="Text 16"/>
          <p:cNvSpPr/>
          <p:nvPr/>
        </p:nvSpPr>
        <p:spPr>
          <a:xfrm>
            <a:off x="14818425" y="6140946"/>
            <a:ext cx="190985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745"/>
              </a:lnSpc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Catálogo digital</a:t>
            </a:r>
            <a:endParaRPr lang="en-US" sz="1800" dirty="0"/>
          </a:p>
        </p:txBody>
      </p:sp>
      <p:pic>
        <p:nvPicPr>
          <p:cNvPr id="35" name="Image 16" descr="preencoded.png">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2190750" y="6807696"/>
            <a:ext cx="647700" cy="647700"/>
          </a:xfrm>
          <a:prstGeom prst="rect">
            <a:avLst/>
          </a:prstGeom>
        </p:spPr>
      </p:pic>
      <p:sp>
        <p:nvSpPr>
          <p:cNvPr id="36" name="Text 17"/>
          <p:cNvSpPr/>
          <p:nvPr/>
        </p:nvSpPr>
        <p:spPr>
          <a:xfrm>
            <a:off x="1990427" y="7607796"/>
            <a:ext cx="104824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745"/>
              </a:lnSpc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Garantia</a:t>
            </a:r>
            <a:endParaRPr lang="en-US" sz="1800" dirty="0"/>
          </a:p>
        </p:txBody>
      </p:sp>
      <p:pic>
        <p:nvPicPr>
          <p:cNvPr id="37" name="Image 17" descr="preencoded.png">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5505450" y="6807696"/>
            <a:ext cx="647700" cy="647700"/>
          </a:xfrm>
          <a:prstGeom prst="rect">
            <a:avLst/>
          </a:prstGeom>
        </p:spPr>
      </p:pic>
      <p:sp>
        <p:nvSpPr>
          <p:cNvPr id="38" name="Text 18"/>
          <p:cNvSpPr/>
          <p:nvPr/>
        </p:nvSpPr>
        <p:spPr>
          <a:xfrm>
            <a:off x="4740409" y="7607796"/>
            <a:ext cx="217768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745"/>
              </a:lnSpc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Economia circular</a:t>
            </a:r>
            <a:endParaRPr lang="en-US" sz="1800" dirty="0"/>
          </a:p>
        </p:txBody>
      </p:sp>
      <p:pic>
        <p:nvPicPr>
          <p:cNvPr id="39" name="Image 18" descr="preencoded.png">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8820150" y="6807696"/>
            <a:ext cx="647700" cy="647700"/>
          </a:xfrm>
          <a:prstGeom prst="rect">
            <a:avLst/>
          </a:prstGeom>
        </p:spPr>
      </p:pic>
      <p:sp>
        <p:nvSpPr>
          <p:cNvPr id="40" name="Text 19"/>
          <p:cNvSpPr/>
          <p:nvPr/>
        </p:nvSpPr>
        <p:spPr>
          <a:xfrm>
            <a:off x="7632626" y="7607796"/>
            <a:ext cx="30226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745"/>
              </a:lnSpc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Selos e ativos ambientais</a:t>
            </a:r>
            <a:endParaRPr lang="en-US" sz="1800" dirty="0"/>
          </a:p>
        </p:txBody>
      </p:sp>
      <p:pic>
        <p:nvPicPr>
          <p:cNvPr id="41" name="Image 19" descr="preencoded.png">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2134850" y="6807696"/>
            <a:ext cx="647700" cy="647700"/>
          </a:xfrm>
          <a:prstGeom prst="rect">
            <a:avLst/>
          </a:prstGeom>
        </p:spPr>
      </p:pic>
      <p:sp>
        <p:nvSpPr>
          <p:cNvPr id="42" name="Text 20"/>
          <p:cNvSpPr/>
          <p:nvPr/>
        </p:nvSpPr>
        <p:spPr>
          <a:xfrm>
            <a:off x="11198999" y="7607796"/>
            <a:ext cx="251940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745"/>
              </a:lnSpc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Reciclagem de metal</a:t>
            </a:r>
            <a:endParaRPr lang="en-US" sz="1800" dirty="0"/>
          </a:p>
        </p:txBody>
      </p:sp>
      <p:pic>
        <p:nvPicPr>
          <p:cNvPr id="43" name="Image 20" descr="preencoded.png">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5449550" y="6807696"/>
            <a:ext cx="647700" cy="647700"/>
          </a:xfrm>
          <a:prstGeom prst="rect">
            <a:avLst/>
          </a:prstGeom>
        </p:spPr>
      </p:pic>
      <p:sp>
        <p:nvSpPr>
          <p:cNvPr id="44" name="Text 21"/>
          <p:cNvSpPr/>
          <p:nvPr/>
        </p:nvSpPr>
        <p:spPr>
          <a:xfrm>
            <a:off x="14620657" y="7607796"/>
            <a:ext cx="230548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745"/>
              </a:lnSpc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Economia de custo</a:t>
            </a:r>
            <a:endParaRPr lang="en-US" sz="1800" dirty="0"/>
          </a:p>
        </p:txBody>
      </p:sp>
      <p:sp>
        <p:nvSpPr>
          <p:cNvPr id="45" name="Shape 22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46" name="Text 23"/>
          <p:cNvSpPr/>
          <p:nvPr/>
        </p:nvSpPr>
        <p:spPr>
          <a:xfrm>
            <a:off x="1047750" y="9264650"/>
            <a:ext cx="11445578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Em fundo claro o ícone é sempre verde escuro · laranja só em número ou selo em destaque</a:t>
            </a:r>
            <a:endParaRPr lang="en-US" sz="1800" dirty="0"/>
          </a:p>
        </p:txBody>
      </p:sp>
      <p:sp>
        <p:nvSpPr>
          <p:cNvPr id="47" name="Text 24"/>
          <p:cNvSpPr/>
          <p:nvPr/>
        </p:nvSpPr>
        <p:spPr>
          <a:xfrm>
            <a:off x="12023329" y="9264650"/>
            <a:ext cx="573861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Banco de ícones (fundo branco)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117455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MARCA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52550"/>
            <a:ext cx="17811750" cy="635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312"/>
              </a:lnSpc>
              <a:buNone/>
            </a:pPr>
            <a:r>
              <a:rPr lang="en-US" sz="4200" b="1" spc="-42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Versões do logo e onde usar cada uma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1047750" y="2407146"/>
            <a:ext cx="7943850" cy="3168353"/>
          </a:xfrm>
          <a:prstGeom prst="roundRect">
            <a:avLst>
              <a:gd name="adj" fmla="val 2405"/>
            </a:avLst>
          </a:prstGeom>
          <a:ln w="6350">
            <a:solidFill>
              <a:srgbClr val="D7E2DC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9425" y="2925465"/>
            <a:ext cx="4000500" cy="89336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054100" y="4330898"/>
            <a:ext cx="793115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8" name="Text 4"/>
          <p:cNvSpPr/>
          <p:nvPr/>
        </p:nvSpPr>
        <p:spPr>
          <a:xfrm>
            <a:off x="1358900" y="4565849"/>
            <a:ext cx="8053705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Completo · fundo claro</a:t>
            </a:r>
            <a:endParaRPr lang="en-US" sz="2250" dirty="0"/>
          </a:p>
        </p:txBody>
      </p:sp>
      <p:sp>
        <p:nvSpPr>
          <p:cNvPr id="9" name="Text 5"/>
          <p:cNvSpPr/>
          <p:nvPr/>
        </p:nvSpPr>
        <p:spPr>
          <a:xfrm>
            <a:off x="1358900" y="5016698"/>
            <a:ext cx="805370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Capa, documento impresso e material institucional</a:t>
            </a:r>
            <a:endParaRPr lang="en-US" sz="1950" dirty="0"/>
          </a:p>
        </p:txBody>
      </p:sp>
      <p:sp>
        <p:nvSpPr>
          <p:cNvPr id="10" name="Shape 6"/>
          <p:cNvSpPr/>
          <p:nvPr/>
        </p:nvSpPr>
        <p:spPr>
          <a:xfrm>
            <a:off x="9296400" y="2407146"/>
            <a:ext cx="7943850" cy="3168353"/>
          </a:xfrm>
          <a:prstGeom prst="roundRect">
            <a:avLst>
              <a:gd name="adj" fmla="val 2405"/>
            </a:avLst>
          </a:prstGeom>
          <a:ln w="6350">
            <a:solidFill>
              <a:srgbClr val="D7E2DC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9302750" y="2413496"/>
            <a:ext cx="7931150" cy="1917402"/>
          </a:xfrm>
          <a:custGeom>
            <a:avLst/>
            <a:gdLst/>
            <a:ahLst/>
            <a:cxnLst/>
            <a:rect l="l" t="t" r="r" b="b"/>
            <a:pathLst>
              <a:path w="7931150" h="1917402">
                <a:moveTo>
                  <a:pt x="66675" y="0"/>
                </a:moveTo>
                <a:lnTo>
                  <a:pt x="7864475" y="0"/>
                </a:lnTo>
                <a:arcTo hR="66675" wR="66675" stAng="16200000" swAng="5400000"/>
                <a:lnTo>
                  <a:pt x="7931150" y="1917402"/>
                </a:lnTo>
                <a:lnTo>
                  <a:pt x="0" y="1917402"/>
                </a:lnTo>
                <a:lnTo>
                  <a:pt x="0" y="66675"/>
                </a:lnTo>
                <a:arcTo hR="66675" wR="66675" stAng="10800000" swAng="5400000"/>
                <a:close/>
              </a:path>
            </a:pathLst>
          </a:custGeom>
          <a:solidFill>
            <a:srgbClr val="012D2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8075" y="2925465"/>
            <a:ext cx="4000500" cy="893366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9302750" y="4330898"/>
            <a:ext cx="793115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4" name="Text 9"/>
          <p:cNvSpPr/>
          <p:nvPr/>
        </p:nvSpPr>
        <p:spPr>
          <a:xfrm>
            <a:off x="9607550" y="4565849"/>
            <a:ext cx="8053705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Completo · fundo verde</a:t>
            </a:r>
            <a:endParaRPr lang="en-US" sz="2250" dirty="0"/>
          </a:p>
        </p:txBody>
      </p:sp>
      <p:sp>
        <p:nvSpPr>
          <p:cNvPr id="15" name="Text 10"/>
          <p:cNvSpPr/>
          <p:nvPr/>
        </p:nvSpPr>
        <p:spPr>
          <a:xfrm>
            <a:off x="9607550" y="5016698"/>
            <a:ext cx="805370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Capa escura, divisor de seção e encerramento</a:t>
            </a:r>
            <a:endParaRPr lang="en-US" sz="1950" dirty="0"/>
          </a:p>
        </p:txBody>
      </p:sp>
      <p:sp>
        <p:nvSpPr>
          <p:cNvPr id="16" name="Shape 11"/>
          <p:cNvSpPr/>
          <p:nvPr/>
        </p:nvSpPr>
        <p:spPr>
          <a:xfrm>
            <a:off x="1047750" y="5880299"/>
            <a:ext cx="7943850" cy="3168452"/>
          </a:xfrm>
          <a:prstGeom prst="roundRect">
            <a:avLst>
              <a:gd name="adj" fmla="val 2405"/>
            </a:avLst>
          </a:prstGeom>
          <a:ln w="6350">
            <a:solidFill>
              <a:srgbClr val="D7E2DC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0925" y="6616800"/>
            <a:ext cx="2857500" cy="45720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1054100" y="7804150"/>
            <a:ext cx="793115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9" name="Text 13"/>
          <p:cNvSpPr/>
          <p:nvPr/>
        </p:nvSpPr>
        <p:spPr>
          <a:xfrm>
            <a:off x="1358900" y="8039100"/>
            <a:ext cx="8053705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Simplificado · fundo claro</a:t>
            </a:r>
            <a:endParaRPr lang="en-US" sz="2250" dirty="0"/>
          </a:p>
        </p:txBody>
      </p:sp>
      <p:sp>
        <p:nvSpPr>
          <p:cNvPr id="20" name="Text 14"/>
          <p:cNvSpPr/>
          <p:nvPr/>
        </p:nvSpPr>
        <p:spPr>
          <a:xfrm>
            <a:off x="1358900" y="8489950"/>
            <a:ext cx="805370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Topo dos slides internos, altura de 30 px</a:t>
            </a:r>
            <a:endParaRPr lang="en-US" sz="1950" dirty="0"/>
          </a:p>
        </p:txBody>
      </p:sp>
      <p:sp>
        <p:nvSpPr>
          <p:cNvPr id="21" name="Shape 15"/>
          <p:cNvSpPr/>
          <p:nvPr/>
        </p:nvSpPr>
        <p:spPr>
          <a:xfrm>
            <a:off x="9296400" y="5880299"/>
            <a:ext cx="7943850" cy="3168452"/>
          </a:xfrm>
          <a:prstGeom prst="roundRect">
            <a:avLst>
              <a:gd name="adj" fmla="val 2405"/>
            </a:avLst>
          </a:prstGeom>
          <a:ln w="6350">
            <a:solidFill>
              <a:srgbClr val="D7E2DC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9302750" y="5886649"/>
            <a:ext cx="7931150" cy="1917502"/>
          </a:xfrm>
          <a:custGeom>
            <a:avLst/>
            <a:gdLst/>
            <a:ahLst/>
            <a:cxnLst/>
            <a:rect l="l" t="t" r="r" b="b"/>
            <a:pathLst>
              <a:path w="7931150" h="1917502">
                <a:moveTo>
                  <a:pt x="66675" y="0"/>
                </a:moveTo>
                <a:lnTo>
                  <a:pt x="7864475" y="0"/>
                </a:lnTo>
                <a:arcTo hR="66675" wR="66675" stAng="16200000" swAng="5400000"/>
                <a:lnTo>
                  <a:pt x="7931150" y="1917502"/>
                </a:lnTo>
                <a:lnTo>
                  <a:pt x="0" y="1917502"/>
                </a:lnTo>
                <a:lnTo>
                  <a:pt x="0" y="66675"/>
                </a:lnTo>
                <a:arcTo hR="66675" wR="66675" stAng="10800000" swAng="5400000"/>
                <a:close/>
              </a:path>
            </a:pathLst>
          </a:custGeom>
          <a:solidFill>
            <a:srgbClr val="012D2B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39575" y="6616800"/>
            <a:ext cx="2857500" cy="45720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9302750" y="7804150"/>
            <a:ext cx="793115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5" name="Text 18"/>
          <p:cNvSpPr/>
          <p:nvPr/>
        </p:nvSpPr>
        <p:spPr>
          <a:xfrm>
            <a:off x="9607550" y="8039100"/>
            <a:ext cx="8053705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Simplificado · fundo verde</a:t>
            </a:r>
            <a:endParaRPr lang="en-US" sz="2250" dirty="0"/>
          </a:p>
        </p:txBody>
      </p:sp>
      <p:sp>
        <p:nvSpPr>
          <p:cNvPr id="26" name="Text 19"/>
          <p:cNvSpPr/>
          <p:nvPr/>
        </p:nvSpPr>
        <p:spPr>
          <a:xfrm>
            <a:off x="9607550" y="8489950"/>
            <a:ext cx="805370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Topo dos slides escuros, altura de 30 px</a:t>
            </a:r>
            <a:endParaRPr lang="en-US" sz="1950" dirty="0"/>
          </a:p>
        </p:txBody>
      </p:sp>
      <p:sp>
        <p:nvSpPr>
          <p:cNvPr id="27" name="Shape 20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8" name="Text 21"/>
          <p:cNvSpPr/>
          <p:nvPr/>
        </p:nvSpPr>
        <p:spPr>
          <a:xfrm>
            <a:off x="1047750" y="9264650"/>
            <a:ext cx="1195581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Respiro mínimo em volta do logo: a altura da letra E · nunca aplicar sobre foto sem fundo sólido</a:t>
            </a:r>
            <a:endParaRPr lang="en-US" sz="1800" dirty="0"/>
          </a:p>
        </p:txBody>
      </p:sp>
      <p:sp>
        <p:nvSpPr>
          <p:cNvPr id="29" name="Text 22"/>
          <p:cNvSpPr/>
          <p:nvPr/>
        </p:nvSpPr>
        <p:spPr>
          <a:xfrm>
            <a:off x="13957995" y="9264650"/>
            <a:ext cx="3610481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Grade de logos</a:t>
            </a:r>
            <a:endParaRPr lang="en-US" sz="1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207258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REFERÊNCIA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52550"/>
            <a:ext cx="17811750" cy="635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312"/>
              </a:lnSpc>
              <a:buNone/>
            </a:pPr>
            <a:r>
              <a:rPr lang="en-US" sz="4200" b="1" spc="-42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Paleta, tipografia e elementos do deck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1047750" y="2369046"/>
            <a:ext cx="3055541" cy="1143000"/>
          </a:xfrm>
          <a:prstGeom prst="roundRect">
            <a:avLst>
              <a:gd name="adj" fmla="val 5000"/>
            </a:avLst>
          </a:prstGeom>
          <a:solidFill>
            <a:srgbClr val="012D2B"/>
          </a:solidFill>
          <a:ln/>
        </p:spPr>
      </p:sp>
      <p:sp>
        <p:nvSpPr>
          <p:cNvPr id="6" name="Text 3"/>
          <p:cNvSpPr/>
          <p:nvPr/>
        </p:nvSpPr>
        <p:spPr>
          <a:xfrm>
            <a:off x="1047750" y="3645396"/>
            <a:ext cx="336109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Verde escuro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047750" y="3994646"/>
            <a:ext cx="3361095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#012D2B · fundos e texto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331891" y="2369046"/>
            <a:ext cx="3055640" cy="1143000"/>
          </a:xfrm>
          <a:prstGeom prst="roundRect">
            <a:avLst>
              <a:gd name="adj" fmla="val 5000"/>
            </a:avLst>
          </a:prstGeom>
          <a:solidFill>
            <a:srgbClr val="0C6D61"/>
          </a:solidFill>
          <a:ln/>
        </p:spPr>
      </p:sp>
      <p:sp>
        <p:nvSpPr>
          <p:cNvPr id="9" name="Text 6"/>
          <p:cNvSpPr/>
          <p:nvPr/>
        </p:nvSpPr>
        <p:spPr>
          <a:xfrm>
            <a:off x="4331891" y="3645396"/>
            <a:ext cx="3361204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Teal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4331891" y="3994646"/>
            <a:ext cx="336120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#0C6D61 · dados e rótulos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7616130" y="2369046"/>
            <a:ext cx="3055640" cy="1143000"/>
          </a:xfrm>
          <a:prstGeom prst="roundRect">
            <a:avLst>
              <a:gd name="adj" fmla="val 5000"/>
            </a:avLst>
          </a:prstGeom>
          <a:solidFill>
            <a:srgbClr val="A3CCAB"/>
          </a:solidFill>
          <a:ln/>
        </p:spPr>
      </p:sp>
      <p:sp>
        <p:nvSpPr>
          <p:cNvPr id="12" name="Text 9"/>
          <p:cNvSpPr/>
          <p:nvPr/>
        </p:nvSpPr>
        <p:spPr>
          <a:xfrm>
            <a:off x="7616130" y="3645396"/>
            <a:ext cx="3361204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Verde menta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7616130" y="3994646"/>
            <a:ext cx="3147309" cy="63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#A3CCAB · apoio no escuro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0900371" y="2369046"/>
            <a:ext cx="3055640" cy="1143000"/>
          </a:xfrm>
          <a:prstGeom prst="roundRect">
            <a:avLst>
              <a:gd name="adj" fmla="val 5000"/>
            </a:avLst>
          </a:prstGeom>
          <a:solidFill>
            <a:srgbClr val="F26800"/>
          </a:solidFill>
          <a:ln/>
        </p:spPr>
      </p:sp>
      <p:sp>
        <p:nvSpPr>
          <p:cNvPr id="15" name="Text 12"/>
          <p:cNvSpPr/>
          <p:nvPr/>
        </p:nvSpPr>
        <p:spPr>
          <a:xfrm>
            <a:off x="10900371" y="3645396"/>
            <a:ext cx="3361204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Laranja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10900371" y="3994646"/>
            <a:ext cx="3147309" cy="63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#F26800 · um destaque por slide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14184611" y="2369046"/>
            <a:ext cx="3055640" cy="1155700"/>
          </a:xfrm>
          <a:prstGeom prst="roundRect">
            <a:avLst>
              <a:gd name="adj" fmla="val 4945"/>
            </a:avLst>
          </a:prstGeom>
          <a:solidFill>
            <a:srgbClr val="EAF0EC"/>
          </a:solidFill>
          <a:ln w="6350">
            <a:solidFill>
              <a:srgbClr val="D7E2D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4184611" y="3658096"/>
            <a:ext cx="3361204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Claro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14184611" y="4007346"/>
            <a:ext cx="3147309" cy="63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#EAF0EC · blocos e citações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047750" y="5023346"/>
            <a:ext cx="939537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TIPOGRAFIA · ELMS SANS</a:t>
            </a:r>
            <a:endParaRPr lang="en-US" sz="1950" dirty="0"/>
          </a:p>
        </p:txBody>
      </p:sp>
      <p:sp>
        <p:nvSpPr>
          <p:cNvPr id="21" name="Text 18"/>
          <p:cNvSpPr/>
          <p:nvPr/>
        </p:nvSpPr>
        <p:spPr>
          <a:xfrm>
            <a:off x="1047750" y="5537696"/>
            <a:ext cx="9395371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615"/>
              </a:lnSpc>
              <a:buNone/>
            </a:pPr>
            <a:r>
              <a:rPr lang="en-US" sz="45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Título de slide · 60 px</a:t>
            </a:r>
            <a:endParaRPr lang="en-US" sz="4500" dirty="0"/>
          </a:p>
        </p:txBody>
      </p:sp>
      <p:sp>
        <p:nvSpPr>
          <p:cNvPr id="22" name="Text 19"/>
          <p:cNvSpPr/>
          <p:nvPr/>
        </p:nvSpPr>
        <p:spPr>
          <a:xfrm>
            <a:off x="1047750" y="6299696"/>
            <a:ext cx="939537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Corpo de texto e bullets · 34 px</a:t>
            </a:r>
            <a:endParaRPr lang="en-US" sz="2550" dirty="0"/>
          </a:p>
        </p:txBody>
      </p:sp>
      <p:sp>
        <p:nvSpPr>
          <p:cNvPr id="23" name="Text 20"/>
          <p:cNvSpPr/>
          <p:nvPr/>
        </p:nvSpPr>
        <p:spPr>
          <a:xfrm>
            <a:off x="1047750" y="6833096"/>
            <a:ext cx="939537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Rótulo, legenda e rodapé · 26 px · mínimo 24 px</a:t>
            </a:r>
            <a:endParaRPr lang="en-US" sz="1950" dirty="0"/>
          </a:p>
        </p:txBody>
      </p:sp>
      <p:sp>
        <p:nvSpPr>
          <p:cNvPr id="24" name="Text 21"/>
          <p:cNvSpPr/>
          <p:nvPr/>
        </p:nvSpPr>
        <p:spPr>
          <a:xfrm>
            <a:off x="10122396" y="5023346"/>
            <a:ext cx="782963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ELEMENTOS</a:t>
            </a:r>
            <a:endParaRPr lang="en-US" sz="1950" dirty="0"/>
          </a:p>
        </p:txBody>
      </p:sp>
      <p:sp>
        <p:nvSpPr>
          <p:cNvPr id="25" name="Shape 22"/>
          <p:cNvSpPr/>
          <p:nvPr/>
        </p:nvSpPr>
        <p:spPr>
          <a:xfrm>
            <a:off x="10122396" y="5537696"/>
            <a:ext cx="133350" cy="419100"/>
          </a:xfrm>
          <a:prstGeom prst="rect">
            <a:avLst/>
          </a:prstGeom>
          <a:solidFill>
            <a:srgbClr val="F26800"/>
          </a:solidFill>
          <a:ln/>
        </p:spPr>
      </p:sp>
      <p:sp>
        <p:nvSpPr>
          <p:cNvPr id="26" name="Text 23"/>
          <p:cNvSpPr/>
          <p:nvPr/>
        </p:nvSpPr>
        <p:spPr>
          <a:xfrm>
            <a:off x="10446246" y="5572621"/>
            <a:ext cx="3147506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Filete laranja da capa</a:t>
            </a:r>
            <a:endParaRPr lang="en-US" sz="2100" dirty="0"/>
          </a:p>
        </p:txBody>
      </p:sp>
      <p:sp>
        <p:nvSpPr>
          <p:cNvPr id="27" name="Shape 24"/>
          <p:cNvSpPr/>
          <p:nvPr/>
        </p:nvSpPr>
        <p:spPr>
          <a:xfrm>
            <a:off x="10122396" y="6236196"/>
            <a:ext cx="1143000" cy="133350"/>
          </a:xfrm>
          <a:prstGeom prst="rect">
            <a:avLst/>
          </a:prstGeom>
          <a:solidFill>
            <a:srgbClr val="EAF0EC"/>
          </a:solidFill>
          <a:ln/>
        </p:spPr>
      </p:sp>
      <p:sp>
        <p:nvSpPr>
          <p:cNvPr id="28" name="Shape 25"/>
          <p:cNvSpPr/>
          <p:nvPr/>
        </p:nvSpPr>
        <p:spPr>
          <a:xfrm>
            <a:off x="10122396" y="6236196"/>
            <a:ext cx="685800" cy="133350"/>
          </a:xfrm>
          <a:prstGeom prst="rect">
            <a:avLst/>
          </a:prstGeom>
          <a:solidFill>
            <a:srgbClr val="0C6D61"/>
          </a:solidFill>
          <a:ln/>
        </p:spPr>
      </p:sp>
      <p:sp>
        <p:nvSpPr>
          <p:cNvPr id="29" name="Text 26"/>
          <p:cNvSpPr/>
          <p:nvPr/>
        </p:nvSpPr>
        <p:spPr>
          <a:xfrm>
            <a:off x="11455896" y="6128246"/>
            <a:ext cx="4434929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Barra de proporção em tabela</a:t>
            </a:r>
            <a:endParaRPr lang="en-US" sz="2100" dirty="0"/>
          </a:p>
        </p:txBody>
      </p:sp>
      <p:sp>
        <p:nvSpPr>
          <p:cNvPr id="30" name="Shape 27"/>
          <p:cNvSpPr/>
          <p:nvPr/>
        </p:nvSpPr>
        <p:spPr>
          <a:xfrm>
            <a:off x="10122396" y="6804521"/>
            <a:ext cx="1143000" cy="38100"/>
          </a:xfrm>
          <a:prstGeom prst="rect">
            <a:avLst/>
          </a:prstGeom>
          <a:solidFill>
            <a:srgbClr val="F26800"/>
          </a:solidFill>
          <a:ln/>
        </p:spPr>
      </p:sp>
      <p:sp>
        <p:nvSpPr>
          <p:cNvPr id="31" name="Text 28"/>
          <p:cNvSpPr/>
          <p:nvPr/>
        </p:nvSpPr>
        <p:spPr>
          <a:xfrm>
            <a:off x="11455896" y="6648946"/>
            <a:ext cx="4302323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Topo laranja no card em foco</a:t>
            </a:r>
            <a:endParaRPr lang="en-US" sz="2100" dirty="0"/>
          </a:p>
        </p:txBody>
      </p:sp>
      <p:sp>
        <p:nvSpPr>
          <p:cNvPr id="32" name="Shape 29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33" name="Text 30"/>
          <p:cNvSpPr/>
          <p:nvPr/>
        </p:nvSpPr>
        <p:spPr>
          <a:xfrm>
            <a:off x="1047750" y="9264650"/>
            <a:ext cx="8074442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Máximo de dois fundos por apresentação: branco e verde escuro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13329543" y="9264650"/>
            <a:ext cx="4301778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Referência de marca</a:t>
            </a:r>
            <a:endParaRPr lang="en-US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2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914400"/>
            <a:ext cx="1785938" cy="2857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686800" y="3664049"/>
            <a:ext cx="914400" cy="76200"/>
          </a:xfrm>
          <a:prstGeom prst="rect">
            <a:avLst/>
          </a:prstGeom>
          <a:solidFill>
            <a:srgbClr val="F26800"/>
          </a:solidFill>
          <a:ln/>
        </p:spPr>
      </p:sp>
      <p:sp>
        <p:nvSpPr>
          <p:cNvPr id="4" name="Text 1"/>
          <p:cNvSpPr/>
          <p:nvPr/>
        </p:nvSpPr>
        <p:spPr>
          <a:xfrm>
            <a:off x="6902912" y="4159349"/>
            <a:ext cx="4482078" cy="104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4706"/>
              </a:lnSpc>
              <a:buNone/>
            </a:pPr>
            <a:r>
              <a:rPr lang="en-US" sz="7200" b="1" spc="-144" kern="0" dirty="0">
                <a:solidFill>
                  <a:srgbClr val="EAF0EC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Obrigado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3748087" y="5469930"/>
            <a:ext cx="10791825" cy="105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7838"/>
              </a:lnSpc>
              <a:buNone/>
            </a:pPr>
            <a:r>
              <a:rPr lang="en-US" sz="28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Espaço para perguntas e alinhamento final antes da aprovação</a:t>
            </a:r>
            <a:endParaRPr lang="en-US" sz="2850" dirty="0"/>
          </a:p>
        </p:txBody>
      </p:sp>
      <p:sp>
        <p:nvSpPr>
          <p:cNvPr id="6" name="Shape 3"/>
          <p:cNvSpPr/>
          <p:nvPr/>
        </p:nvSpPr>
        <p:spPr>
          <a:xfrm>
            <a:off x="1047750" y="8947150"/>
            <a:ext cx="16192500" cy="9525"/>
          </a:xfrm>
          <a:prstGeom prst="rect">
            <a:avLst/>
          </a:prstGeom>
          <a:solidFill>
            <a:srgbClr val="A3CCAB">
              <a:alpha val="28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06755" y="9201150"/>
            <a:ext cx="310188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· Deck mestre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3687618" y="9201150"/>
            <a:ext cx="372180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Encerramento</a:t>
            </a:r>
            <a:endParaRPr lang="en-US" sz="1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2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914400"/>
            <a:ext cx="1785938" cy="2857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686800" y="3664049"/>
            <a:ext cx="914400" cy="76200"/>
          </a:xfrm>
          <a:prstGeom prst="rect">
            <a:avLst/>
          </a:prstGeom>
          <a:solidFill>
            <a:srgbClr val="F26800"/>
          </a:solidFill>
          <a:ln/>
        </p:spPr>
      </p:sp>
      <p:sp>
        <p:nvSpPr>
          <p:cNvPr id="4" name="Text 1"/>
          <p:cNvSpPr/>
          <p:nvPr/>
        </p:nvSpPr>
        <p:spPr>
          <a:xfrm>
            <a:off x="6902912" y="4159349"/>
            <a:ext cx="4482078" cy="104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4706"/>
              </a:lnSpc>
              <a:buNone/>
            </a:pPr>
            <a:r>
              <a:rPr lang="en-US" sz="7200" b="1" spc="-144" kern="0" dirty="0">
                <a:solidFill>
                  <a:srgbClr val="EAF0EC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Obrigado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3748087" y="5469930"/>
            <a:ext cx="10791825" cy="105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7838"/>
              </a:lnSpc>
              <a:buNone/>
            </a:pPr>
            <a:r>
              <a:rPr lang="en-US" sz="28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Espaço para perguntas e alinhamento final antes da aprovação</a:t>
            </a:r>
            <a:endParaRPr lang="en-US" sz="2850" dirty="0"/>
          </a:p>
        </p:txBody>
      </p:sp>
      <p:sp>
        <p:nvSpPr>
          <p:cNvPr id="6" name="Shape 3"/>
          <p:cNvSpPr/>
          <p:nvPr/>
        </p:nvSpPr>
        <p:spPr>
          <a:xfrm>
            <a:off x="1047750" y="8947150"/>
            <a:ext cx="16192500" cy="9525"/>
          </a:xfrm>
          <a:prstGeom prst="rect">
            <a:avLst/>
          </a:prstGeom>
          <a:solidFill>
            <a:srgbClr val="A3CCAB">
              <a:alpha val="28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06755" y="9201150"/>
            <a:ext cx="310188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· Deck mestre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3687618" y="9201150"/>
            <a:ext cx="372180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Encerramento</a:t>
            </a:r>
            <a:endParaRPr lang="en-US" sz="19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179689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PROCESSO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71600"/>
            <a:ext cx="17811750" cy="69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3"/>
              </a:lnSpc>
              <a:buNone/>
            </a:pPr>
            <a:r>
              <a:rPr lang="en-US" sz="4650" b="1" spc="-46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Do pedido do cliente à entrega da peça</a:t>
            </a:r>
            <a:endParaRPr lang="en-US" sz="4650" dirty="0"/>
          </a:p>
        </p:txBody>
      </p:sp>
      <p:sp>
        <p:nvSpPr>
          <p:cNvPr id="5" name="Shape 2"/>
          <p:cNvSpPr/>
          <p:nvPr/>
        </p:nvSpPr>
        <p:spPr>
          <a:xfrm>
            <a:off x="1047750" y="2642592"/>
            <a:ext cx="2598341" cy="3375422"/>
          </a:xfrm>
          <a:prstGeom prst="roundRect">
            <a:avLst>
              <a:gd name="adj" fmla="val 2933"/>
            </a:avLst>
          </a:prstGeom>
          <a:solidFill>
            <a:srgbClr val="EAF0EC"/>
          </a:solidFill>
          <a:ln/>
        </p:spPr>
      </p:sp>
      <p:sp>
        <p:nvSpPr>
          <p:cNvPr id="6" name="Text 3"/>
          <p:cNvSpPr/>
          <p:nvPr/>
        </p:nvSpPr>
        <p:spPr>
          <a:xfrm>
            <a:off x="1333500" y="2966442"/>
            <a:ext cx="222952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01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333500" y="3442692"/>
            <a:ext cx="2103041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24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Pedido recebido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333500" y="4357092"/>
            <a:ext cx="2103041" cy="1040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Portal, telefone ou vendedor em campo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3836591" y="2642592"/>
            <a:ext cx="495300" cy="3413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→</a:t>
            </a:r>
            <a:endParaRPr lang="en-US" sz="3300" dirty="0"/>
          </a:p>
        </p:txBody>
      </p:sp>
      <p:sp>
        <p:nvSpPr>
          <p:cNvPr id="10" name="Shape 7"/>
          <p:cNvSpPr/>
          <p:nvPr/>
        </p:nvSpPr>
        <p:spPr>
          <a:xfrm>
            <a:off x="4446191" y="2642592"/>
            <a:ext cx="2598440" cy="3375422"/>
          </a:xfrm>
          <a:prstGeom prst="roundRect">
            <a:avLst>
              <a:gd name="adj" fmla="val 2933"/>
            </a:avLst>
          </a:prstGeom>
          <a:solidFill>
            <a:srgbClr val="EAF0EC"/>
          </a:solidFill>
          <a:ln/>
        </p:spPr>
      </p:sp>
      <p:sp>
        <p:nvSpPr>
          <p:cNvPr id="11" name="Text 8"/>
          <p:cNvSpPr/>
          <p:nvPr/>
        </p:nvSpPr>
        <p:spPr>
          <a:xfrm>
            <a:off x="4731941" y="2966442"/>
            <a:ext cx="222963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02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4731941" y="3442692"/>
            <a:ext cx="210314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24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Identificação da peça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4731941" y="4357092"/>
            <a:ext cx="2103140" cy="1375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Chassi e catálogo cruzados no sistema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7235130" y="2642592"/>
            <a:ext cx="495300" cy="3413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→</a:t>
            </a:r>
            <a:endParaRPr lang="en-US" sz="3300" dirty="0"/>
          </a:p>
        </p:txBody>
      </p:sp>
      <p:sp>
        <p:nvSpPr>
          <p:cNvPr id="15" name="Shape 12"/>
          <p:cNvSpPr/>
          <p:nvPr/>
        </p:nvSpPr>
        <p:spPr>
          <a:xfrm>
            <a:off x="7844730" y="2642592"/>
            <a:ext cx="2598440" cy="3375422"/>
          </a:xfrm>
          <a:prstGeom prst="roundRect">
            <a:avLst>
              <a:gd name="adj" fmla="val 2933"/>
            </a:avLst>
          </a:prstGeom>
          <a:solidFill>
            <a:srgbClr val="EAF0EC"/>
          </a:solidFill>
          <a:ln/>
        </p:spPr>
      </p:sp>
      <p:sp>
        <p:nvSpPr>
          <p:cNvPr id="16" name="Text 13"/>
          <p:cNvSpPr/>
          <p:nvPr/>
        </p:nvSpPr>
        <p:spPr>
          <a:xfrm>
            <a:off x="8130480" y="2966442"/>
            <a:ext cx="222963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03</a:t>
            </a:r>
            <a:endParaRPr lang="en-US" sz="1950" dirty="0"/>
          </a:p>
        </p:txBody>
      </p:sp>
      <p:sp>
        <p:nvSpPr>
          <p:cNvPr id="17" name="Text 14"/>
          <p:cNvSpPr/>
          <p:nvPr/>
        </p:nvSpPr>
        <p:spPr>
          <a:xfrm>
            <a:off x="8130480" y="3442692"/>
            <a:ext cx="210314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24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Cotação e aprovação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8130480" y="4357092"/>
            <a:ext cx="2103140" cy="1375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Proposta com prazo e condição de pagamento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10633671" y="2642592"/>
            <a:ext cx="495300" cy="3413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→</a:t>
            </a:r>
            <a:endParaRPr lang="en-US" sz="3300" dirty="0"/>
          </a:p>
        </p:txBody>
      </p:sp>
      <p:sp>
        <p:nvSpPr>
          <p:cNvPr id="20" name="Shape 17"/>
          <p:cNvSpPr/>
          <p:nvPr/>
        </p:nvSpPr>
        <p:spPr>
          <a:xfrm>
            <a:off x="11243271" y="2642592"/>
            <a:ext cx="2598440" cy="3375422"/>
          </a:xfrm>
          <a:prstGeom prst="roundRect">
            <a:avLst>
              <a:gd name="adj" fmla="val 2933"/>
            </a:avLst>
          </a:prstGeom>
          <a:solidFill>
            <a:srgbClr val="EAF0EC"/>
          </a:solidFill>
          <a:ln/>
        </p:spPr>
      </p:sp>
      <p:sp>
        <p:nvSpPr>
          <p:cNvPr id="21" name="Text 18"/>
          <p:cNvSpPr/>
          <p:nvPr/>
        </p:nvSpPr>
        <p:spPr>
          <a:xfrm>
            <a:off x="11529021" y="2966442"/>
            <a:ext cx="222963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04</a:t>
            </a:r>
            <a:endParaRPr lang="en-US" sz="1950" dirty="0"/>
          </a:p>
        </p:txBody>
      </p:sp>
      <p:sp>
        <p:nvSpPr>
          <p:cNvPr id="22" name="Text 19"/>
          <p:cNvSpPr/>
          <p:nvPr/>
        </p:nvSpPr>
        <p:spPr>
          <a:xfrm>
            <a:off x="11529021" y="3442692"/>
            <a:ext cx="210314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24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Separação e conferência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11529021" y="4357092"/>
            <a:ext cx="2103140" cy="1375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Teste de bancada e registro fotográfico</a:t>
            </a:r>
            <a:endParaRPr lang="en-US" sz="1950" dirty="0"/>
          </a:p>
        </p:txBody>
      </p:sp>
      <p:sp>
        <p:nvSpPr>
          <p:cNvPr id="24" name="Text 21"/>
          <p:cNvSpPr/>
          <p:nvPr/>
        </p:nvSpPr>
        <p:spPr>
          <a:xfrm>
            <a:off x="14032211" y="2642592"/>
            <a:ext cx="495300" cy="3413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→</a:t>
            </a:r>
            <a:endParaRPr lang="en-US" sz="3300" dirty="0"/>
          </a:p>
        </p:txBody>
      </p:sp>
      <p:sp>
        <p:nvSpPr>
          <p:cNvPr id="25" name="Shape 22"/>
          <p:cNvSpPr/>
          <p:nvPr/>
        </p:nvSpPr>
        <p:spPr>
          <a:xfrm>
            <a:off x="14641811" y="2642592"/>
            <a:ext cx="2598440" cy="3375422"/>
          </a:xfrm>
          <a:prstGeom prst="roundRect">
            <a:avLst>
              <a:gd name="adj" fmla="val 2933"/>
            </a:avLst>
          </a:prstGeom>
          <a:solidFill>
            <a:srgbClr val="012D2B"/>
          </a:solidFill>
          <a:ln/>
        </p:spPr>
      </p:sp>
      <p:sp>
        <p:nvSpPr>
          <p:cNvPr id="26" name="Text 23"/>
          <p:cNvSpPr/>
          <p:nvPr/>
        </p:nvSpPr>
        <p:spPr>
          <a:xfrm>
            <a:off x="14927561" y="2966442"/>
            <a:ext cx="222963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05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4927561" y="3442692"/>
            <a:ext cx="222963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2400" b="1" dirty="0">
                <a:solidFill>
                  <a:srgbClr val="EAF0EC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Expedição</a:t>
            </a:r>
            <a:endParaRPr lang="en-US" sz="2400" dirty="0"/>
          </a:p>
        </p:txBody>
      </p:sp>
      <p:sp>
        <p:nvSpPr>
          <p:cNvPr id="28" name="Text 25"/>
          <p:cNvSpPr/>
          <p:nvPr/>
        </p:nvSpPr>
        <p:spPr>
          <a:xfrm>
            <a:off x="14927561" y="3976092"/>
            <a:ext cx="2103140" cy="1375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Coleta programada e rastreio até a oficina</a:t>
            </a:r>
            <a:endParaRPr lang="en-US" sz="1950" dirty="0"/>
          </a:p>
        </p:txBody>
      </p:sp>
      <p:sp>
        <p:nvSpPr>
          <p:cNvPr id="29" name="Text 26"/>
          <p:cNvSpPr/>
          <p:nvPr/>
        </p:nvSpPr>
        <p:spPr>
          <a:xfrm>
            <a:off x="1047750" y="6475214"/>
            <a:ext cx="3893701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Tempo total médio: </a:t>
            </a:r>
            <a:pPr algn="l" indent="0" marL="0">
              <a:buNone/>
            </a:pPr>
            <a:r>
              <a:rPr lang="en-US" sz="21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6,1 dias</a:t>
            </a:r>
            <a:endParaRPr lang="en-US" sz="2100" dirty="0"/>
          </a:p>
        </p:txBody>
      </p:sp>
      <p:sp>
        <p:nvSpPr>
          <p:cNvPr id="30" name="Text 27"/>
          <p:cNvSpPr/>
          <p:nvPr/>
        </p:nvSpPr>
        <p:spPr>
          <a:xfrm>
            <a:off x="5120878" y="6475214"/>
            <a:ext cx="6201807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Etapa mais lenta: </a:t>
            </a:r>
            <a:pPr algn="l" indent="0" marL="0">
              <a:buNone/>
            </a:pPr>
            <a:r>
              <a:rPr lang="en-US" sz="21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separação e conferência</a:t>
            </a:r>
            <a:endParaRPr lang="en-US" sz="2100" dirty="0"/>
          </a:p>
        </p:txBody>
      </p:sp>
      <p:sp>
        <p:nvSpPr>
          <p:cNvPr id="31" name="Shape 28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32" name="Text 29"/>
          <p:cNvSpPr/>
          <p:nvPr/>
        </p:nvSpPr>
        <p:spPr>
          <a:xfrm>
            <a:off x="1047750" y="9264650"/>
            <a:ext cx="286330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· Deck mestre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12932966" y="9264650"/>
            <a:ext cx="4738013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Fluxograma de processo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2026-08-15T01:36:00Z</dcterms:created>
  <dcterms:modified xsi:type="dcterms:W3CDTF">2026-08-15T01:36:00Z</dcterms:modified>
</cp:coreProperties>
</file>
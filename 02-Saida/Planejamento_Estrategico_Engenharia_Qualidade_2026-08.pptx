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710" autoAdjust="0"/>
  </p:normalViewPr>
  <p:slideViewPr>
    <p:cSldViewPr snapToGrid="0" snapToObjects="1">
      <p:cViewPr>
        <p:scale>
          <a:sx n="50" d="100"/>
          <a:sy n="50" d="100"/>
        </p:scale>
        <p:origin x="300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38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institucional. Reforçar que o memorando enviado antes da reunião cobre o contexto completo — esta apresentação conduz a conversa e apoia decisão, não reexplica o que já foi lido.
⏱ Bloco: 1 min | Acumulado: 0:01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mapa para o resto da reunião — as quatro frentes que vamos percorrer. Não detalhar ainda, só situar.
⏱ Bloco: 6 min | Acumulado: 0:07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— visão operacional completa do processo de CDV em formato de diagrama, incluindo os quatro fluxos e a situação das novas contratações. Serve de base para o slide de diagnóstico do gargalo, que vem a seguir.
⏱ Bloco: 7 min | Acumulado: 0:14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fluxos já foram detalhados no slide anterior — aqui o foco é a mensagem do gargalo e o que as novas contratações efetivamente mudam.
⏱ Bloco: 8 min | Acumulado: 0:22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Parar aqui e efetivamente ouvir a diretoria — este é um ponto de decisão, não de leitura de slide. Não antecipar a recomendação como se já fosse fato.
⏱ Bloco: 6 min | Acumulado: 0:28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limite de papel: fornecemos vantagem, não gerenciamos comercial. Este slide prepara o terreno para os KPIs do próximo.
⏱ Bloco: 8 min | Acumulado: 0:36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10 KPIs completos ficam no memorando — não reabrir a lista aqui. Retrabalho de garantia (KPI 4) foi deliberadamente deixado fora do grupo principal nesta fase de experimentação da Reman, se perguntarem.
⏱ Bloco: 5 min | Acumulado: 0:41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G14 é o caso concreto que ilustra a regra de giro lento — usar para tornar a categoria tangível antes de seguir. Deixar claro que a compra é de caminhões inteiros, não de peças avulsas.
⏱ Bloco: 8 min | Acumulado: 0:49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quatro pontos de decisão — não seguir apresentando sem confirmar direção da diretoria sobre as camadas.
⏱ Bloco: 10 min | Acumulado: 0:59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Reman costuma vir por último e é o tema menos discutido até hoje com a diretoria — cuidar do ritmo aqui para não atropelar os 3 slides de Reman.
⏱ Bloco: 7 min | Acumulado: 1:06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Cargo 3 é o pró-ativo destaque de 'ação futura' — não é vaga aberta agora, é o horizonte de 6 meses. Não aprofundar hierarquia dos dois primeiros além do mandato em uma frase.
⏱ Bloco: 5 min | Acumulado: 1:11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resumida — 2 a 3 pontos por quadrante; a matriz completa (4x4) está no memorando.
⏱ Bloco: 4 min | Acumulado: 1:15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retomar no fechamento da reunião — consolidar aqui as quatro decisões antes de seguir para o encerramento.
⏱ Bloco: 7 min | Acumulado: 1:22 de 1h30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quem faz o quê — deixar claro que a reunião termina com ações atribuídas, não só com temas discutidos.
⏱ Bloco: 8 min | Acumulado: 1h30 (fim)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0287000"/>
          </a:xfrm>
          <a:prstGeom prst="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C:\Users\andre.eiras\Desktop\Apresentações Ek\build\assets\logo_ful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560320" cy="572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38328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PLANEJAMENTO ESTRATÉGICO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7240" y="3840480"/>
            <a:ext cx="1463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4937760"/>
            <a:ext cx="1463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Garantia, Remanufatura e Desmonte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822960" y="8366760"/>
            <a:ext cx="16642080" cy="0"/>
          </a:xfrm>
          <a:prstGeom prst="line">
            <a:avLst/>
          </a:prstGeom>
          <a:noFill/>
          <a:ln w="12700">
            <a:solidFill>
              <a:srgbClr val="1F4B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8549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Andre Pavan Eiras — Gerente de Engenharia e Qualidade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8942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0A6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  |  Agosto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MAPA DA REUNIÃO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Onde estamos hoje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6032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280160" y="294436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C:\Users\andre.eiras\Desktop\Apresentações Ek\build\assets\bi_desmon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74" y="3059582"/>
            <a:ext cx="592531" cy="5925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294436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280160" y="393192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veículo a cada 11 dias corridos — abaixo da meta de 1/semana. Gargalo em limpeza e catalogação.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9372600" y="256032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9829800" y="294436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C:\Users\andre.eiras\Desktop\Apresentações Ek\build\assets\bi_vendapeca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014" y="3059582"/>
            <a:ext cx="592531" cy="5925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81360" y="294436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829800" y="393192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Bom desempenho em componentes maiores; caso à parte: cabines G14, giro de 5 meses.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822960" y="603504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1280160" y="641908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C:\Users\andre.eiras\Desktop\Apresentações Ek\build\assets\bi_motor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374" y="6534302"/>
            <a:ext cx="592531" cy="5925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31720" y="641908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1280160" y="740664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Área ainda não formalizada. 3 oportunidades já validadas e 2 vagas em aberto.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9372600" y="6035040"/>
            <a:ext cx="8092440" cy="3017520"/>
          </a:xfrm>
          <a:prstGeom prst="roundRect">
            <a:avLst>
              <a:gd name="adj" fmla="val 303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9829800" y="6419088"/>
            <a:ext cx="822960" cy="82296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C:\Users\andre.eiras\Desktop\Apresentações Ek\build\assets\ci_warn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5014" y="6534302"/>
            <a:ext cx="592531" cy="59253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881360" y="641908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Riscos transversais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9829800" y="740664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troca: risco documental identificado, ainda sem ocorrência registrada.</a:t>
            </a:r>
            <a:endParaRPr lang="en-US" sz="1650" dirty="0"/>
          </a:p>
        </p:txBody>
      </p:sp>
      <p:sp>
        <p:nvSpPr>
          <p:cNvPr id="25" name="Shape 1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1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Como funciona o processo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486400" y="2331720"/>
            <a:ext cx="7315200" cy="960120"/>
          </a:xfrm>
          <a:prstGeom prst="roundRect">
            <a:avLst>
              <a:gd name="adj" fmla="val 9524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42432" y="2487168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C:\Users\andre.eiras\Desktop\Apresentações Ek\build\assets\bi_desmon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604" y="2579340"/>
            <a:ext cx="474025" cy="474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245059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1. Desmonte do caminhão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583680" y="2834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 dias — etapa já eficiente. Quando cabível, inclui o macrocomponente.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9144000" y="3291840"/>
            <a:ext cx="0" cy="320040"/>
          </a:xfrm>
          <a:prstGeom prst="line">
            <a:avLst/>
          </a:prstGeom>
          <a:noFill/>
          <a:ln w="28575">
            <a:solidFill>
              <a:srgbClr val="0C6D6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2811780" y="3611880"/>
            <a:ext cx="12893040" cy="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281178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710946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1140714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5704820" y="3611880"/>
            <a:ext cx="0" cy="5486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2296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07899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C:\Users\andre.eiras\Desktop\Apresentações Ek\build\assets\bi_estoqu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362" y="4477634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Geral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07899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Itens sem tratamento especial seguem direto para catalogação.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12064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537667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C:\Users\andre.eiras\Desktop\Apresentações Ek\build\assets\bi_inspeca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042" y="4477634"/>
            <a:ext cx="408188" cy="4081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Eletrônicos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37667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Limpeza fina (mini-retíficas, jato de ar, discos de borracha) → estoque trancado.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41832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1"/>
          <p:cNvSpPr/>
          <p:nvPr/>
        </p:nvSpPr>
        <p:spPr>
          <a:xfrm>
            <a:off x="967435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4" descr="C:\Users\andre.eiras\Desktop\Apresentações Ek\build\assets\bi_cambio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722" y="4477634"/>
            <a:ext cx="408188" cy="4081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7435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/ Câmbio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967435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Lavagem bruta (desengraxante + água quente) → avaliação do mecânico define o que remanufaturar.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3716000" y="416052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5"/>
          <p:cNvSpPr/>
          <p:nvPr/>
        </p:nvSpPr>
        <p:spPr>
          <a:xfrm>
            <a:off x="13972032" y="4398264"/>
            <a:ext cx="566928" cy="56692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5" descr="C:\Users\andre.eiras\Desktop\Apresentações Ek\build\assets\bi_oficina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51402" y="4477634"/>
            <a:ext cx="408188" cy="4081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972032" y="5074920"/>
            <a:ext cx="3465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Cabines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13972032" y="5458968"/>
            <a:ext cx="3465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Limpeza fina e polimento de lataria.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281178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9"/>
          <p:cNvSpPr/>
          <p:nvPr/>
        </p:nvSpPr>
        <p:spPr>
          <a:xfrm>
            <a:off x="710946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0"/>
          <p:cNvSpPr/>
          <p:nvPr/>
        </p:nvSpPr>
        <p:spPr>
          <a:xfrm>
            <a:off x="1140714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1"/>
          <p:cNvSpPr/>
          <p:nvPr/>
        </p:nvSpPr>
        <p:spPr>
          <a:xfrm>
            <a:off x="15704820" y="6126480"/>
            <a:ext cx="0" cy="32004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2"/>
          <p:cNvSpPr/>
          <p:nvPr/>
        </p:nvSpPr>
        <p:spPr>
          <a:xfrm>
            <a:off x="2811780" y="6446520"/>
            <a:ext cx="12893040" cy="0"/>
          </a:xfrm>
          <a:prstGeom prst="line">
            <a:avLst/>
          </a:prstGeom>
          <a:noFill/>
          <a:ln w="28575">
            <a:solidFill>
              <a:srgbClr val="A3CC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3"/>
          <p:cNvSpPr/>
          <p:nvPr/>
        </p:nvSpPr>
        <p:spPr>
          <a:xfrm>
            <a:off x="9144000" y="6446520"/>
            <a:ext cx="0" cy="320040"/>
          </a:xfrm>
          <a:prstGeom prst="line">
            <a:avLst/>
          </a:prstGeom>
          <a:noFill/>
          <a:ln w="28575">
            <a:solidFill>
              <a:srgbClr val="0C6D6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4"/>
          <p:cNvSpPr/>
          <p:nvPr/>
        </p:nvSpPr>
        <p:spPr>
          <a:xfrm>
            <a:off x="4572000" y="6766560"/>
            <a:ext cx="9144000" cy="868680"/>
          </a:xfrm>
          <a:prstGeom prst="roundRect">
            <a:avLst>
              <a:gd name="adj" fmla="val 10526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5"/>
          <p:cNvSpPr/>
          <p:nvPr/>
        </p:nvSpPr>
        <p:spPr>
          <a:xfrm>
            <a:off x="4800600" y="6894576"/>
            <a:ext cx="603504" cy="603504"/>
          </a:xfrm>
          <a:prstGeom prst="ellipse">
            <a:avLst/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4" name="Image 6" descr="C:\Users\andre.eiras\Desktop\Apresentações Ek\build\assets\bi_armazenamento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5091" y="6979067"/>
            <a:ext cx="434523" cy="43452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623560" y="6766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Catalogação (part number + sistema) → Armazenamento</a:t>
            </a:r>
            <a:endParaRPr lang="en-US" sz="1550" dirty="0"/>
          </a:p>
        </p:txBody>
      </p:sp>
      <p:sp>
        <p:nvSpPr>
          <p:cNvPr id="46" name="Text 37"/>
          <p:cNvSpPr/>
          <p:nvPr/>
        </p:nvSpPr>
        <p:spPr>
          <a:xfrm>
            <a:off x="822960" y="7818120"/>
            <a:ext cx="1664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Vagas abertas: 3 Auxiliares Administrativos + 1 Estagiário de Engenharia Mecânica/Produção. Uma vaga de auxiliar vai para a expedição (hoje sem responsável formal) — reduz o ganho líquido de capacidade. O estagiário não entra na conta de capacidade operacional: seu foco é POPs, metodologia de qualidade e melhoria de processo.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3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2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Diagnóstico do gargalo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2296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/ semana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veículo processado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2860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03504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ATUAL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697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 dias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03504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 veículo (corridos)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1247120" y="2286000"/>
            <a:ext cx="6217920" cy="1600200"/>
          </a:xfrm>
          <a:prstGeom prst="roundRect">
            <a:avLst>
              <a:gd name="adj" fmla="val 571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1567160" y="2423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REAL DE TRABALHO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67160" y="2697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7–8 dias úteis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56716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 físico já é eficiente: 2 dias.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4160520"/>
            <a:ext cx="16642080" cy="960120"/>
          </a:xfrm>
          <a:prstGeom prst="roundRect">
            <a:avLst>
              <a:gd name="adj" fmla="val 7619"/>
            </a:avLst>
          </a:prstGeom>
          <a:solidFill>
            <a:srgbClr val="FCEE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188720" y="4160520"/>
            <a:ext cx="1591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gargalo está em limpeza e catalogação (5–6 dias) — sustentadas hoje por um único assistente administrativo para os quatro fluxos do processo.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Isso muda com as vagas já abertas — mas não na mesma proporção para todos: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22960" y="5943600"/>
            <a:ext cx="8092440" cy="2331720"/>
          </a:xfrm>
          <a:prstGeom prst="roundRect">
            <a:avLst>
              <a:gd name="adj" fmla="val 3922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188720" y="6263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1" descr="C:\Users\andre.eiras\Desktop\Apresentações Ek\build\assets\ci_pers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33" y="6366053"/>
            <a:ext cx="526694" cy="52669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03120" y="62179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Auxiliares Administrativos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188720" y="7178040"/>
            <a:ext cx="7360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Reforçam limpeza e catalogação nos quatro fluxos. Uma vaga será consumida pela expedição (hoje sem responsável formal) — reduz o ganho líquido de capacidade.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372600" y="5943600"/>
            <a:ext cx="8092440" cy="2331720"/>
          </a:xfrm>
          <a:prstGeom prst="roundRect">
            <a:avLst>
              <a:gd name="adj" fmla="val 3922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9738360" y="6263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2" descr="C:\Users\andre.eiras\Desktop\Apresentações Ek\build\assets\bi_inspeca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773" y="6366053"/>
            <a:ext cx="526694" cy="52669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652760" y="62179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Estagiário de Engenharia Mecânica/Produção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9738360" y="7178040"/>
            <a:ext cx="7360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Não entra na conta de capacidade operacional. Foco: desenvolver POPs, metodologia de análise de qualidade e propor melhorias de processo.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2960" y="850392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Aumentar headcount de forma genérica não resolve — a solução depende de como organizamos esses quatro fluxos.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 Lavras — Alocação das vagas de auxiliar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664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Os quatro fluxos (geral, eletrônicos, motor/câmbio, cabines) têm ritmos diferentes de entrada e saída. Hoje um único assistente atende a todos, o que cria filas cruzadas e prioriza o fluxo mais urgente às custas dos demais. As 3 vagas de auxiliar mudam esse cenário — mas uma delas será consumida pela expedição (hoje sem responsável formal), o que reduz o ganho líquido de capacidade.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069080"/>
            <a:ext cx="8092440" cy="3383280"/>
          </a:xfrm>
          <a:prstGeom prst="roundRect">
            <a:avLst>
              <a:gd name="adj" fmla="val 2432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22960" y="4069080"/>
            <a:ext cx="8092440" cy="64008"/>
          </a:xfrm>
          <a:prstGeom prst="round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280160" y="448056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Especialização por fluxo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80160" y="5303520"/>
            <a:ext cx="7178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Um auxiliar por fluxo (eletrônicos, motor/câmbio, cabines).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653796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↳ Mais throughput por pessoa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372600" y="4069080"/>
            <a:ext cx="8092440" cy="3383280"/>
          </a:xfrm>
          <a:prstGeom prst="roundRect">
            <a:avLst>
              <a:gd name="adj" fmla="val 2432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372600" y="4069080"/>
            <a:ext cx="8092440" cy="64008"/>
          </a:xfrm>
          <a:prstGeom prst="round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9829800" y="4480560"/>
            <a:ext cx="7178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Pool rotativo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829800" y="5303520"/>
            <a:ext cx="7178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Auxiliares circulam entre fluxos conforme a demanda do dia.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29800" y="6537960"/>
            <a:ext cx="7178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↳ Mais flexibilidade quando um fluxo esvazia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22960" y="768096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Recomendação: levar como ponto de discussão à diretoria — não como definição já fechada.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1 DE 2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Nosso papel e diferenciais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24028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Nosso papel: entregar os insumos que aumentam a chance de sucesso do time de vendas.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5367528" cy="777240"/>
          </a:xfrm>
          <a:prstGeom prst="roundRect">
            <a:avLst>
              <a:gd name="adj" fmla="val 10667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051560" y="2740660"/>
            <a:ext cx="4910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Dados de mercado</a:t>
            </a:r>
          </a:p>
          <a:p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Informação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técnica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de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produto</a:t>
            </a:r>
            <a:endParaRPr lang="en-US" sz="1350" dirty="0"/>
          </a:p>
          <a:p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• 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Argumentos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comerciais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eles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não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teriam</a:t>
            </a:r>
            <a:r>
              <a:rPr lang="en-US" sz="13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 </a:t>
            </a:r>
            <a:r>
              <a:rPr lang="en-US" sz="135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sozinhos</a:t>
            </a:r>
            <a:endParaRPr lang="en-US" sz="1350" b="1" dirty="0">
              <a:solidFill>
                <a:srgbClr val="012D2B"/>
              </a:solidFill>
              <a:latin typeface="Elms Sans" pitchFamily="34" charset="0"/>
              <a:ea typeface="Elms Sans" pitchFamily="3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22960" y="3741420"/>
            <a:ext cx="8092440" cy="1691640"/>
          </a:xfrm>
          <a:prstGeom prst="roundRect">
            <a:avLst>
              <a:gd name="adj" fmla="val 540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1143000" y="401574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C:\Users\andre.eiras\Desktop\Apresentações Ek\build\assets\bi_rastrei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172" y="4107912"/>
            <a:ext cx="474025" cy="4740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3970020"/>
            <a:ext cx="6629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Procedência Scania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143000" y="4701540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Atestado natural de origem para quem compra usado dentro de uma concessionária.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372600" y="3741420"/>
            <a:ext cx="8092440" cy="1691640"/>
          </a:xfrm>
          <a:prstGeom prst="roundRect">
            <a:avLst>
              <a:gd name="adj" fmla="val 540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9692640" y="401574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C:\Users\andre.eiras\Desktop\Apresentações Ek\build\assets\bi_garanti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812" y="4107912"/>
            <a:ext cx="474025" cy="474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61320" y="3970020"/>
            <a:ext cx="6629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 estendida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692640" y="4701540"/>
            <a:ext cx="7452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a 12 meses, conforme o item — o mercado pratica apenas 3 meses.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5623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precificamos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22960" y="6172200"/>
            <a:ext cx="8092440" cy="3063240"/>
          </a:xfrm>
          <a:prstGeom prst="roundRect">
            <a:avLst>
              <a:gd name="adj" fmla="val 298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188720" y="6446520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Preços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188720" y="7086600"/>
            <a:ext cx="7360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níveis de preço para todo o catálogo: sugerido, mínimo e referência de peça nova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Quantidade disponível de cada item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Piso e preço sugerido definidos por nós — controle direto sobre a margem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9372600" y="6172200"/>
            <a:ext cx="8092440" cy="3063240"/>
          </a:xfrm>
          <a:prstGeom prst="roundRect">
            <a:avLst>
              <a:gd name="adj" fmla="val 298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9738360" y="6446520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Materiais técnicos (itens de alto valor)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9738360" y="7086600"/>
            <a:ext cx="7360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Cartilha técnica com a composição do item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Configurações de venda possíveis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Avaliação de qualidade e manutenção documentada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2 DE 2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— Indicadores principais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331720"/>
            <a:ext cx="1664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conjunto de 10 KPIs propostos (detalhamento completo no memorando), estes quatro orientam a primeira fase — dois de qualidade/insumo, dois de conversão.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291840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188720" y="3566160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88720" y="3566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94560" y="3419856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% de itens de alto valor com cartilha técnica completa na data de disponibilização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264640" y="3419856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Qualidade / Insumo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93440" y="3419856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681728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F0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1188720" y="4956048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188720" y="4956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94560" y="4809744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médio entre catalogação e disponibilização de preço/cartilha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264640" y="4809744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Qualidade / Insumo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093440" y="4809744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2960" y="6071616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1188720" y="6345936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188720" y="63459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194560" y="6199632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Faturamento mensal por família de item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4264640" y="6199632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93440" y="6199632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2960" y="7461504"/>
            <a:ext cx="1664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F0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1188720" y="7735824"/>
            <a:ext cx="658368" cy="658368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1188720" y="77358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2194560" y="7589520"/>
            <a:ext cx="1188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de estoque parado acima de X dias (capital morto)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4264640" y="7589520"/>
            <a:ext cx="1874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6093440" y="7589520"/>
            <a:ext cx="10972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Dez/26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CAPITAL E ESTOQUE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e estoque — Regra por categoria de giro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097280" y="2606040"/>
            <a:ext cx="685800" cy="68580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C:\Users\andre.eiras\Desktop\Apresentações Ek\build\assets\bi_economiacust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2702052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~R$ 1 milhão/mês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965960" y="3063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caminhões/mês em ritmo pleno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118872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Alto giro, ticket alto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88720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 (~1 mês), motor completo (~1,5 mês)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Sem teto de estoque — escoa na mesma velocidade em que é desmontado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19088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6784848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lento, ticket alto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84848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Cabines (~5 meses de giro)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84848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Teto físico: nunca mais de 2 cabines inteiras em estoque simultâneas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2015216" y="434340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12380976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Giro contínuo, ticket baixo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2380976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Freios, suspensão, tanques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2380976" y="6035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Problema operacional (espaço/mão de obra), não financeiro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822960" y="7498080"/>
            <a:ext cx="16642080" cy="1051560"/>
          </a:xfrm>
          <a:prstGeom prst="roundRect">
            <a:avLst>
              <a:gd name="adj" fmla="val 6957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1097280" y="7680960"/>
            <a:ext cx="685800" cy="685800"/>
          </a:xfrm>
          <a:prstGeom prst="ellipse">
            <a:avLst/>
          </a:prstGeom>
          <a:solidFill>
            <a:srgbClr val="012D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C:\Users\andre.eiras\Desktop\Apresentações Ek\build\assets\bi_estoqu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292" y="777697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965960" y="7498080"/>
            <a:ext cx="1517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Exemplo em curso: cabines Scania NTG G14 — mercado restrito, 4 unidades em estoque. Já iniciamos o desmonte de duas para venda em peças menores; propomos formalizar como política padrão.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8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 — Risco documental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6642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motor vendido precisa ser formalmente adicionado ao documento do veículo para liberar o motor antigo para revenda. Hoje só comunicamos o cliente — sem apoio ativo nem contrato formal. Se o processo não for concluído, o motor antigo fica preso.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antecipado, sem ocorrência registrada até o momento — o momento certo de estruturar é agora, antes de escalar o volume.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063240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C:\Users\andre.eiras\Desktop\Apresentações Ek\build\assets\ci_docume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454" y="487009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Cláusula contratual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88720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explícito (ex: 30 dias) para comprovação, com garantia suspensa até então.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19088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419088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659368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C:\Users\andre.eiras\Desktop\Apresentações Ek\build\assets\ci_pers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4582" y="4870094"/>
            <a:ext cx="592531" cy="5925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Indicação de despachante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784848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Reduz a fricção — hoje o cliente precisa descobrir o processo sozinho.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12015216" y="43434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12015216" y="4343400"/>
            <a:ext cx="5303520" cy="64008"/>
          </a:xfrm>
          <a:prstGeom prst="roundRect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14255496" y="4754880"/>
            <a:ext cx="822960" cy="822960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C:\Users\andre.eiras\Desktop\Apresentações Ek\build\assets\ci_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0710" y="4870094"/>
            <a:ext cx="592531" cy="59253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89536" y="5760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Retenção financeira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2380976" y="64465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a receber, cancelado somente mediante comprovação da atualização.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22960" y="7909560"/>
            <a:ext cx="1664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As três camadas não são excludentes — ponto de decisão para a diretoria.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1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Oportunidades validadas e funil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16642080" cy="777240"/>
          </a:xfrm>
          <a:prstGeom prst="roundRect">
            <a:avLst>
              <a:gd name="adj" fmla="val 9412"/>
            </a:avLst>
          </a:prstGeom>
          <a:solidFill>
            <a:srgbClr val="FCEE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188720" y="2286000"/>
            <a:ext cx="1591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Não partimos de uma ideia vaga — três oportunidades já foram validadas diretamente pelo gestor da área nos últimos meses.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43000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Bomba de ARLA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3000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Reparo já praticado no mercado externo — reduz risco de entrada.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19088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739128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Servo ECA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9128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Reparo já praticado no mercado externo — reduz risco de entrada.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015216" y="32918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2335256" y="3520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Retarder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2335256" y="41148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Descoberta interna: custo de remanufatura ~R$4,5K vs. venda a R$12K.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5486400"/>
            <a:ext cx="8092440" cy="2286000"/>
          </a:xfrm>
          <a:prstGeom prst="roundRect">
            <a:avLst>
              <a:gd name="adj" fmla="val 400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143000" y="576072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143000" y="5760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FASE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" y="630936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Baixo capex, mesma lógica de bancada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143000" y="68580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Laboratório de reparo eletrônico de módulos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Sapatas de freio rebitadas vendidas em kit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372600" y="5486400"/>
            <a:ext cx="8092440" cy="2286000"/>
          </a:xfrm>
          <a:prstGeom prst="roundRect">
            <a:avLst>
              <a:gd name="adj" fmla="val 4000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9692640" y="5760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JÁ CONSOLIDADO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92640" y="630936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Itens grandes seguem no fluxo de CDV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9692640" y="68580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Motor, câmbio e diferenciais já têm mercado consolidado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Continuam em CDV até a estruturação própria da Reman avançar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8001000"/>
            <a:ext cx="1664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Gargalo de capital: investimento em maquinário e ferramental de bancada — pontual e escalável aos poucos, não uma decisão estrutural pesada como CDV.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2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Estrutura de </a:t>
            </a:r>
            <a:r>
              <a:rPr lang="en-US" sz="4400" b="1" dirty="0" err="1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vagas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143000" y="2834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C:\Users\andre.eiras\Desktop\Apresentações Ek\build\assets\ci_pers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3" y="2937053"/>
            <a:ext cx="526694" cy="526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703320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Supervisor de Remanufatura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143000" y="4434840"/>
            <a:ext cx="4727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 oportunidade já validada por dado, desenvolve fornecedor terceiro e testa a venda — antes de avaliar primarização, item por item, no máximo 3 simultâneos.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4652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6766560" y="2834640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C:\Users\andre.eiras\Desktop\Apresentações Ek\build\assets\bi_oficin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73" y="293705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3703320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Consultor Técnico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766560" y="4434840"/>
            <a:ext cx="4727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Perfil de aprendizado, opera os processos primarizados; no médio prazo pode se tornar referência técnica ou o futuro analista da área.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2070080" y="2514600"/>
            <a:ext cx="5367528" cy="4206240"/>
          </a:xfrm>
          <a:prstGeom prst="roundRect">
            <a:avLst>
              <a:gd name="adj" fmla="val 2174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15517368" y="269290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5517368" y="26929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AÇÃO FUTURA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2390120" y="2753868"/>
            <a:ext cx="731520" cy="731520"/>
          </a:xfrm>
          <a:prstGeom prst="ellipse">
            <a:avLst/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C:\Users\andre.eiras\Desktop\Apresentações Ek\build\assets\bi_cata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2533" y="2856281"/>
            <a:ext cx="526694" cy="52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90120" y="3622548"/>
            <a:ext cx="47274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Analista de Desenvolvimento de Peças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2390120" y="4354068"/>
            <a:ext cx="472744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Amplia o pipeline validado por dados, apoiando o Supervisor quando ele assumir gestão de equipe. Pode ser o Consultor promovido ou nova contratação — decisão não automática.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" y="6995160"/>
            <a:ext cx="1664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Gatilho para contratação do analista de Reman: ponto de revisão em 6 meses — não decisão automática.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3 DE 3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 — Análise SWOT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251460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188720" y="28346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18872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Forças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88720" y="356616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 oportunidades já validadas com dados reais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Retarder: economia comprovada (R$4,5K vs. R$12K)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Pipeline técnico já mapeado em fases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326880" y="251460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9692640" y="283464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5F63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692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Fraquezas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692640" y="356616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Equipe nova, sem processos formais ainda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Gap de maturidade técnica entre Supervisor e Consultor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580644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1188720" y="61264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C6D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188720" y="6126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Oportunidades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88720" y="685800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ARLA e Servo ECA com mercado de reparo já validado externamente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Expansão de baixo capex — Fase 2 eletrônicos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9326880" y="5806440"/>
            <a:ext cx="8092440" cy="2880360"/>
          </a:xfrm>
          <a:prstGeom prst="roundRect">
            <a:avLst>
              <a:gd name="adj" fmla="val 3175"/>
            </a:avLst>
          </a:prstGeom>
          <a:solidFill>
            <a:srgbClr val="EAF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9692640" y="61264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9692640" y="6126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Ameaças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692640" y="6858000"/>
            <a:ext cx="7360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Capex de bancada pode escalar sem priorização disciplinada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atrito de liderança por diferença de maturidade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D7E3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0" y="502920"/>
            <a:ext cx="1920240" cy="30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30352"/>
            <a:ext cx="3291840" cy="530352"/>
          </a:xfrm>
          <a:prstGeom prst="roundRect">
            <a:avLst>
              <a:gd name="adj" fmla="val 50000"/>
            </a:avLst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5303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PONTO DE DECISÃO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1664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pontos de decisão para a diretoria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188720" y="2820924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C:\Users\andre.eiras\Desktop\Apresentações Ek\build\assets\bi_desmon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374" y="2933578"/>
            <a:ext cx="579364" cy="5793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2660904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CDV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532120" y="2660904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Critério de alocação das vagas de auxiliar administrativo — especialização por fluxo vs. pool rotativo.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133088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188720" y="4439412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C:\Users\andre.eiras\Desktop\Apresentações Ek\build\assets\ci_docume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374" y="4552066"/>
            <a:ext cx="579364" cy="5793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0" y="4279392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 a base de troca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532120" y="4279392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Camadas de solução para o risco documental: cláusula contratual, despachante e/ou título a receber.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822960" y="5751576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1188720" y="6057900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C:\Users\andre.eiras\Desktop\Apresentações Ek\build\assets\bi_armazenament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374" y="6170554"/>
            <a:ext cx="579364" cy="5793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286000" y="5897880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5532120" y="5897880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Confirmar orçamento (~R$1 milhão/mês) e política de teto de estoque físico para giro lento (cabines).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822960" y="7370064"/>
            <a:ext cx="16642080" cy="1417320"/>
          </a:xfrm>
          <a:prstGeom prst="roundRect">
            <a:avLst>
              <a:gd name="adj" fmla="val 5161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1188720" y="7676388"/>
            <a:ext cx="804672" cy="804672"/>
          </a:xfrm>
          <a:prstGeom prst="ellipse">
            <a:avLst/>
          </a:prstGeom>
          <a:solidFill>
            <a:srgbClr val="F268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C:\Users\andre.eiras\Desktop\Apresentações Ek\build\assets\bi_motor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1374" y="7789042"/>
            <a:ext cx="579364" cy="5793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286000" y="7516368"/>
            <a:ext cx="31089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5532120" y="7516368"/>
            <a:ext cx="1156716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Abertura das duas vagas (Supervisor e Consultor) e faixa de orçamento inicial para maquinário/ferramental.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dre.eiras\Desktop\Apresentações Ek\build\assets\logo_simp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685800"/>
            <a:ext cx="2194560" cy="351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508760"/>
            <a:ext cx="1280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324612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234440" y="32461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86400" y="324612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Posicionamento sobre os 4 pontos de decisão desta reunião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66344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234440" y="46634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86400" y="466344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Formalizar critério de alocação em CDV e abrir processo seletivo Reman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608076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234440" y="60807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Jurídico / Comercial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86400" y="608076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Apoiar minuta contratual do risco documental de motor a base de troca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7498080"/>
            <a:ext cx="16642080" cy="1234440"/>
          </a:xfrm>
          <a:prstGeom prst="roundRect">
            <a:avLst>
              <a:gd name="adj" fmla="val 5926"/>
            </a:avLst>
          </a:prstGeom>
          <a:solidFill>
            <a:srgbClr val="0A3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234440" y="74980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Engenharia e Qualidade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486400" y="7498080"/>
            <a:ext cx="11521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Reportar os 10 indicadores até dezembro; revisão de Reman em 6 meses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9720072"/>
            <a:ext cx="16642080" cy="0"/>
          </a:xfrm>
          <a:prstGeom prst="line">
            <a:avLst/>
          </a:prstGeom>
          <a:noFill/>
          <a:ln w="9525">
            <a:solidFill>
              <a:srgbClr val="1F4B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822960" y="9829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— Grupo WLM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7007840" y="9829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F958D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2278</Words>
  <Application>Microsoft Office PowerPoint</Application>
  <PresentationFormat>Personalizar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Elms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Pavan Eiras</cp:lastModifiedBy>
  <cp:revision>5</cp:revision>
  <dcterms:created xsi:type="dcterms:W3CDTF">2026-08-15T21:35:22Z</dcterms:created>
  <dcterms:modified xsi:type="dcterms:W3CDTF">2026-08-15T21:44:48Z</dcterms:modified>
</cp:coreProperties>
</file>
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12D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31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3CC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BLUEPRINT DA ÁREA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6974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Desmonte, Reman e Garantia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611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organizacional, status das vagas e atribuições por posição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C6D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GERAL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organizacional da área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448556" y="1051560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012D2B"/>
          </a:solidFill>
          <a:ln/>
        </p:spPr>
      </p:sp>
      <p:sp>
        <p:nvSpPr>
          <p:cNvPr id="5" name="Text 3"/>
          <p:cNvSpPr/>
          <p:nvPr/>
        </p:nvSpPr>
        <p:spPr>
          <a:xfrm>
            <a:off x="4448556" y="10515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Gestor de área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486400" cy="4343400"/>
          </a:xfrm>
          <a:prstGeom prst="roundRect">
            <a:avLst>
              <a:gd name="adj" fmla="val 2105"/>
            </a:avLst>
          </a:prstGeom>
          <a:solidFill>
            <a:srgbClr val="EAF0EC"/>
          </a:solidFill>
          <a:ln w="12700">
            <a:solidFill>
              <a:srgbClr val="A3CC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20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C6D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DESMONTE / REMAN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45352" y="1783080"/>
            <a:ext cx="5486400" cy="2697480"/>
          </a:xfrm>
          <a:prstGeom prst="roundRect">
            <a:avLst>
              <a:gd name="adj" fmla="val 3390"/>
            </a:avLst>
          </a:prstGeom>
          <a:solidFill>
            <a:srgbClr val="EAF0EC"/>
          </a:solidFill>
          <a:ln w="12700">
            <a:solidFill>
              <a:srgbClr val="A3CC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3952" y="1920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C6D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313432"/>
            <a:ext cx="49377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313432"/>
            <a:ext cx="4663440" cy="4123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2703332"/>
            <a:ext cx="4663440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pessoas · 1 estagiário em contratação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3209544"/>
            <a:ext cx="49377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209544"/>
            <a:ext cx="4663440" cy="4123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Admin. de produção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3599444"/>
            <a:ext cx="4663440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pessoas · 3 em contratação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4105656"/>
            <a:ext cx="4937760" cy="749808"/>
          </a:xfrm>
          <a:prstGeom prst="roundRect">
            <a:avLst>
              <a:gd name="adj" fmla="val 8537"/>
            </a:avLst>
          </a:prstGeom>
          <a:solidFill>
            <a:srgbClr val="F26800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105656"/>
            <a:ext cx="4663440" cy="4123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Reman — execução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68680" y="4495556"/>
            <a:ext cx="4663440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vaga · prioridade nº1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" y="5001768"/>
            <a:ext cx="4937760" cy="749808"/>
          </a:xfrm>
          <a:prstGeom prst="roundRect">
            <a:avLst>
              <a:gd name="adj" fmla="val 8537"/>
            </a:avLst>
          </a:prstGeom>
          <a:solidFill>
            <a:srgbClr val="012D2B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001768"/>
            <a:ext cx="4663440" cy="4123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Fornecedor terceirizado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68680" y="5391668"/>
            <a:ext cx="4663440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mão de obra externa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19672" y="2313432"/>
            <a:ext cx="49377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2313432"/>
            <a:ext cx="4663440" cy="4123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656832" y="2703332"/>
            <a:ext cx="4663440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pessoas · 1 por estado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19672" y="3209544"/>
            <a:ext cx="4937760" cy="749808"/>
          </a:xfrm>
          <a:prstGeom prst="roundRect">
            <a:avLst>
              <a:gd name="adj" fmla="val 8537"/>
            </a:avLst>
          </a:prstGeom>
          <a:solidFill>
            <a:srgbClr val="F26800"/>
          </a:solidFill>
          <a:ln/>
        </p:spPr>
      </p:sp>
      <p:sp>
        <p:nvSpPr>
          <p:cNvPr id="26" name="Text 24"/>
          <p:cNvSpPr/>
          <p:nvPr/>
        </p:nvSpPr>
        <p:spPr>
          <a:xfrm>
            <a:off x="6656832" y="3209544"/>
            <a:ext cx="4663440" cy="4123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 técnico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656832" y="3599444"/>
            <a:ext cx="4663440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pessoa · 1 vaga (supervisor)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448556" y="6309360"/>
            <a:ext cx="3291840" cy="548640"/>
          </a:xfrm>
          <a:prstGeom prst="roundRect">
            <a:avLst>
              <a:gd name="adj" fmla="val 13333"/>
            </a:avLst>
          </a:prstGeom>
          <a:solidFill>
            <a:srgbClr val="5F6369"/>
          </a:solidFill>
          <a:ln/>
        </p:spPr>
      </p:sp>
      <p:sp>
        <p:nvSpPr>
          <p:cNvPr id="29" name="Text 27"/>
          <p:cNvSpPr/>
          <p:nvPr/>
        </p:nvSpPr>
        <p:spPr>
          <a:xfrm>
            <a:off x="4448556" y="6309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e projetos  ·  1 pessoa + 1 júnior (futuro)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 flipH="1">
            <a:off x="3200400" y="1554480"/>
            <a:ext cx="2894076" cy="228600"/>
          </a:xfrm>
          <a:prstGeom prst="line">
            <a:avLst/>
          </a:prstGeom>
          <a:noFill/>
          <a:ln w="15875">
            <a:solidFill>
              <a:srgbClr val="A3CCA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94476" y="1554480"/>
            <a:ext cx="2894076" cy="228600"/>
          </a:xfrm>
          <a:prstGeom prst="line">
            <a:avLst/>
          </a:prstGeom>
          <a:noFill/>
          <a:ln w="15875">
            <a:solidFill>
              <a:srgbClr val="A3CCA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94476" y="1554480"/>
            <a:ext cx="9144" cy="4754880"/>
          </a:xfrm>
          <a:prstGeom prst="line">
            <a:avLst/>
          </a:prstGeom>
          <a:noFill/>
          <a:ln w="15875">
            <a:solidFill>
              <a:srgbClr val="A3CCA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C6D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DESMONTE / REMAN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Desenvolvimento de produtos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9525">
            <a:solidFill>
              <a:srgbClr val="012D2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64208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0C6D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642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Preenchida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0299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Analista sênior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450592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 de compra de caminhões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Orçamentação de componentes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Cotação de peças para remanufatura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Precificação dos itens do catálogo de venda de peças do desmonte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46304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9525">
            <a:solidFill>
              <a:srgbClr val="012D2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664208"/>
            <a:ext cx="4700016" cy="292608"/>
          </a:xfrm>
          <a:prstGeom prst="roundRect">
            <a:avLst>
              <a:gd name="adj" fmla="val 50000"/>
            </a:avLst>
          </a:prstGeom>
          <a:solidFill>
            <a:srgbClr val="A3CCAB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664208"/>
            <a:ext cx="4700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Aprovada — a preencher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92240" y="20299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Estagiário de engenharia — Produto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450592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Pesquisa de aplicação e compatibilidade técnica de peças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Apoio no levantamento de especificações de componentes para reman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Apoio em orçamentação e benchmarking de preço de mercado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4526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Reduz a carga operacional do analista sênior, mas não elimina o risco de pessoa-chave: precificação e negociação de compra seguem centralizadas nele.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C6D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DESMONTE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Admin. de produção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012D2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18488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0C6D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184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Preenchida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19842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de produção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404872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Supervisão geral da produção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dos fornecedores de mão de obra terceirizada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Acompanhamento da baixa de veículos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70248" y="141732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012D2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98848" y="1618488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0C6D61"/>
          </a:solidFill>
          <a:ln/>
        </p:spPr>
      </p:sp>
      <p:sp>
        <p:nvSpPr>
          <p:cNvPr id="11" name="Text 9"/>
          <p:cNvSpPr/>
          <p:nvPr/>
        </p:nvSpPr>
        <p:spPr>
          <a:xfrm>
            <a:off x="4498848" y="16184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Preenchida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498848" y="19842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Assistente admin. (original)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98848" y="2404872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de produção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Apoio na gestão de estoque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Apoio na gestão do fornecedor terceirizado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83296" y="141732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012D2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11896" y="1618488"/>
            <a:ext cx="3200400" cy="292608"/>
          </a:xfrm>
          <a:prstGeom prst="roundRect">
            <a:avLst>
              <a:gd name="adj" fmla="val 50000"/>
            </a:avLst>
          </a:prstGeom>
          <a:solidFill>
            <a:srgbClr val="A3CCAB"/>
          </a:solidFill>
          <a:ln/>
        </p:spPr>
      </p:sp>
      <p:sp>
        <p:nvSpPr>
          <p:cNvPr id="16" name="Text 14"/>
          <p:cNvSpPr/>
          <p:nvPr/>
        </p:nvSpPr>
        <p:spPr>
          <a:xfrm>
            <a:off x="8311896" y="16184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Aprovada — a preencher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311896" y="19842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Assist. — Estoque/catalog.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11896" y="2404872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de entrada de peças no estoque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Catalogar aplicação e compatibilidade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Conferência periódica do estoque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404872" y="40233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012D2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633472" y="4224528"/>
            <a:ext cx="3200400" cy="292608"/>
          </a:xfrm>
          <a:prstGeom prst="roundRect">
            <a:avLst>
              <a:gd name="adj" fmla="val 50000"/>
            </a:avLst>
          </a:prstGeom>
          <a:solidFill>
            <a:srgbClr val="A3CCAB"/>
          </a:solidFill>
          <a:ln/>
        </p:spPr>
      </p:sp>
      <p:sp>
        <p:nvSpPr>
          <p:cNvPr id="21" name="Text 19"/>
          <p:cNvSpPr/>
          <p:nvPr/>
        </p:nvSpPr>
        <p:spPr>
          <a:xfrm>
            <a:off x="2633472" y="42245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Aprovada — a preencher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633472" y="4590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Assist. — Cotação/expedição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633472" y="5010912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Cotação de peças para clientes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Expedição das peças vendidas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Emissão de notas fiscais de venda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40233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012D2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46520" y="4224528"/>
            <a:ext cx="3200400" cy="292608"/>
          </a:xfrm>
          <a:prstGeom prst="roundRect">
            <a:avLst>
              <a:gd name="adj" fmla="val 50000"/>
            </a:avLst>
          </a:prstGeom>
          <a:solidFill>
            <a:srgbClr val="A3CCAB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42245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Aprovada — a preencher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46520" y="4590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Estagiário de engenharia — Produção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46520" y="5010912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Levantamento de tempos e etapas do processo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Apoio em melhoria de layout/fluxo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Suporte na construção de indicadores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C6D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DESMONTE / REMAN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Reman — execução e fornecedor terceirizado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9525">
            <a:solidFill>
              <a:srgbClr val="012D2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64208"/>
            <a:ext cx="5102352" cy="292608"/>
          </a:xfrm>
          <a:prstGeom prst="roundRect">
            <a:avLst>
              <a:gd name="adj" fmla="val 50000"/>
            </a:avLst>
          </a:prstGeom>
          <a:solidFill>
            <a:srgbClr val="F2680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64208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Vaga aberta — prioridade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0299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Mecânico primarizado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450592"/>
            <a:ext cx="50292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 técnica de todo núcleo/componente recebido, classificando complexo/alto valor (interno) x simples (oficina parceira)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Execução da remanufatura dos itens selecionados internamente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de qualidade de saída — do que produz e do que retorna da oficina parceira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Suporte técnico ao analista sênior na cotação/precificação de reman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463040"/>
            <a:ext cx="548640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5875">
            <a:solidFill>
              <a:srgbClr val="5F6369"/>
            </a:solidFill>
            <a:prstDash val="dash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664208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0C6D61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6642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Preenchida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92240" y="20299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Fornecedor terceirizado (externo)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450592"/>
            <a:ext cx="50292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Mão de obra de desmontagem de veículos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Limpeza das áreas do desmonte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Copeiro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Lavagem de uniformes de produção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Fornecimento dos EPIs necessários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55778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híbrido: mecânico interno assume serviços complexos/grandes; oficina parceira absorve revisões simples e picos de fila. Indicador de expansão: % de itens transbordados por falta de capacidade.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C6D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 e corpo técnico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012D2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64208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0C6D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642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Preenchida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20299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assistentes / estoquistas (atendimento)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450592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 das demandas de garantia do estado sob responsabilidade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mérito de cada demanda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 ao cliente sobre concessão de garantia, praticamente em tempo real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 com certa ociosidade — capacidade disponível para apoio à governança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70248" y="146304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012D2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98848" y="1664208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0C6D61"/>
          </a:solidFill>
          <a:ln/>
        </p:spPr>
      </p:sp>
      <p:sp>
        <p:nvSpPr>
          <p:cNvPr id="11" name="Text 9"/>
          <p:cNvSpPr/>
          <p:nvPr/>
        </p:nvSpPr>
        <p:spPr>
          <a:xfrm>
            <a:off x="4498848" y="16642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Preenchida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498848" y="20299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Analista técnico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98848" y="2450592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Estudos de viabilidade de garantia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Concessão técnica em casos específicos/complexos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Desenvolvimento de POPs para os atendentes (a transferir para o supervisor)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83296" y="146304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012D2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11896" y="1664208"/>
            <a:ext cx="3200400" cy="292608"/>
          </a:xfrm>
          <a:prstGeom prst="roundRect">
            <a:avLst>
              <a:gd name="adj" fmla="val 50000"/>
            </a:avLst>
          </a:prstGeom>
          <a:solidFill>
            <a:srgbClr val="F26800"/>
          </a:solidFill>
          <a:ln/>
        </p:spPr>
      </p:sp>
      <p:sp>
        <p:nvSpPr>
          <p:cNvPr id="16" name="Text 14"/>
          <p:cNvSpPr/>
          <p:nvPr/>
        </p:nvSpPr>
        <p:spPr>
          <a:xfrm>
            <a:off x="8311896" y="16642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Vaga aberta — prioridade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311896" y="20299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técnico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11896" y="2450592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Auditoria amostral das concessões, checando consistência entre estados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Titularidade e manutenção dos POPs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causa-raiz cruzada com Reman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Direcionamento da ociosidade dos atendentes para apoio à governança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C6D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TRANSVERSAL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e projetos — e próximos passos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012D2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64208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0C6D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642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Preenchida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0299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Analista de controle e projetos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450592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Desenvolvimento dos controles da área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Acompanhamento de desmonte, reman e garantia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de projetos para a diretoria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46304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012D2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664208"/>
            <a:ext cx="4700016" cy="292608"/>
          </a:xfrm>
          <a:prstGeom prst="roundRect">
            <a:avLst>
              <a:gd name="adj" fmla="val 50000"/>
            </a:avLst>
          </a:prstGeom>
          <a:solidFill>
            <a:srgbClr val="5F6369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664208"/>
            <a:ext cx="4700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Futura — próximo ciclo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92240" y="20299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Analista júnior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450592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Consolidação de dados e atualização de indicadores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Apoio na montagem dos relatórios para diretoria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Acompanhamento operacional das entregas de projetos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3977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de prioridades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2680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44805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Mecânico primarizado (Reman)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abrir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9834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2680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983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4983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técnico (Garantia)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4983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Já aberta — redesenhar escopo p/ governança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4864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5F6369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5486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54864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Analista júnior (Controle e projetos)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0" y="5486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ciclo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2026-08-06T19:00:03Z</dcterms:created>
  <dcterms:modified xsi:type="dcterms:W3CDTF">2026-08-06T19:00:03Z</dcterms:modified>
</cp:coreProperties>
</file>
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CFB0"/>
    <a:srgbClr val="0E4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384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ngine_p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0"/>
            <a:ext cx="4343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8120" y="0"/>
            <a:ext cx="4343400" cy="6858000"/>
          </a:xfrm>
          <a:prstGeom prst="rect">
            <a:avLst/>
          </a:prstGeom>
          <a:solidFill>
            <a:srgbClr val="012E2B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assets/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2194560" cy="5760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Desmonte Veicular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29260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Ekotruck – UFLA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640080" y="3886200"/>
            <a:ext cx="502920" cy="45720"/>
          </a:xfrm>
          <a:prstGeom prst="rect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40080" y="411480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Pesquisa, Desenvolvimento e Inovação em Economia Circular Automotiva — integrando empresa, universidade e governo em remanufatura, reuso e reciclagem, inteligência artificial e ativos ambientais.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 Programa MOVER · Nova Indústria Brasil (NIB) · Estratégia Nacional de Economia Circular (ENEC)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 do projeto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Tecnológico da UFLA (IpêTech): ecossistema que conecta ciência, tecnologia e indústria</a:t>
            </a:r>
            <a:endParaRPr lang="en-US" sz="1350" dirty="0"/>
          </a:p>
        </p:txBody>
      </p:sp>
      <p:pic>
        <p:nvPicPr>
          <p:cNvPr id="4" name="Image 0" descr="assets/ufla_buildin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83080"/>
            <a:ext cx="630936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6309360" cy="3246120"/>
          </a:xfrm>
          <a:prstGeom prst="rect">
            <a:avLst/>
          </a:prstGeom>
          <a:ln w="12700">
            <a:solidFill>
              <a:srgbClr val="AACF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0080" y="52120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Parque conecta universidade, empresas, governo e centros de pesquisa para transformar conhecimento científico em inovação aplicada — posicionando a Ekotruck como protagonista da economia circular automotiva.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69480" y="178308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479792" y="1993392"/>
            <a:ext cx="493776" cy="49377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107" y="2047707"/>
            <a:ext cx="385145" cy="3851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8388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· NIB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83880" y="21671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da nova indústria brasileira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269480" y="2862072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7479792" y="3072384"/>
            <a:ext cx="493776" cy="49377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107" y="3126699"/>
            <a:ext cx="385145" cy="3851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3880" y="2935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ENEC · Renovar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83880" y="3246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nacionais de economia circular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269480" y="3941064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7479792" y="4151376"/>
            <a:ext cx="493776" cy="49377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107" y="4205691"/>
            <a:ext cx="385145" cy="3851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4014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Verde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83880" y="4325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Mensuração de benefícios ambientais e ESG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269480" y="5020056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7"/>
          <p:cNvSpPr/>
          <p:nvPr/>
        </p:nvSpPr>
        <p:spPr>
          <a:xfrm>
            <a:off x="7479792" y="5230368"/>
            <a:ext cx="493776" cy="49377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107" y="5284683"/>
            <a:ext cx="385145" cy="38514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83880" y="5093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to Zero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183880" y="54041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Compromissos internacionais de descarbonização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8"/>
                </a:solidFill>
              </a:rPr>
              <a:t>Ekotruck × UFLA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que serão abordados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4400" y="144475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1505102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426464"/>
            <a:ext cx="4000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Remanufatura de Componentes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 protocolos de recuperação e certificação de componentes automotivos.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761488"/>
            <a:ext cx="47320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comercial: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linhas de produto, maior rentabilidade e competitividade no mercado de reposição.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40780" y="118872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15100" y="144475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150510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6620" y="1426464"/>
            <a:ext cx="4000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 e Reciclagem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5100" y="2103120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para ampliar o reaproveitamento de peças e a reciclagem de materiais.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515100" y="2761488"/>
            <a:ext cx="47320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comercial: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receitas, redução de custos e fortalecimento na cadeia de economia circular.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84048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14400" y="409651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" y="4156862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078224"/>
            <a:ext cx="4000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e Soluções Digitais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4400" y="4754880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visão computacional, blockchain e rastreabilidade digital para otimizar a operação.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14400" y="5413248"/>
            <a:ext cx="47320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comercial: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Automação, produtividade, softwares comercializáveis e novos serviços tecnológicos.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40780" y="384048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6515100" y="409651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450" y="4156862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46620" y="4078224"/>
            <a:ext cx="4000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Ambientais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515100" y="4754880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para mensurar benefícios ambientais: indicadores ESG e créditos de carbono.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515100" y="5413248"/>
            <a:ext cx="47320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comercial: </a:t>
            </a: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ativos econômicos, monetização de créditos e acesso a mercados sustentáveis.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8"/>
                </a:solidFill>
              </a:rPr>
              <a:t>Ekotruck × UFLA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Produtos de Remanufatura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componentes de alto valor agregado, maior demanda e maior potencial tecnológico.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623060" y="185623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10" y="1916582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Mecânicos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172968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de direção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Bombas hidráulicas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411980" y="185623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330" y="19165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Eletroeletrônicos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172968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eletrônicos (ECU)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de instrumentos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Centrais multimídia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Alternadores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partida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200900" y="185623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250" y="1916582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Segurança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3172968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Pinças de freio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Servofreios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Bombas de direção elétrica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suspensão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06840" y="16002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989820" y="1856232"/>
            <a:ext cx="548640" cy="54864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0170" y="1916582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Tecnologias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35440" y="3172968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híbridos e elétricos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Inversores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Conversores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elétricos</a:t>
            </a:r>
            <a:endParaRPr lang="en-US" sz="1050" dirty="0"/>
          </a:p>
          <a:p>
            <a:pPr marL="152400" indent="-152400">
              <a:lnSpc>
                <a:spcPct val="135000"/>
              </a:lnSpc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Eletrônicos embarcados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8"/>
                </a:solidFill>
              </a:rPr>
              <a:t>Ekotruck × UFLA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269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implantação do projeto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565189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projeto ao longo de 3 anos: o que será feito e o que será entregue em cada fase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248575"/>
            <a:ext cx="9418320" cy="0"/>
          </a:xfrm>
          <a:prstGeom prst="line">
            <a:avLst/>
          </a:prstGeom>
          <a:noFill/>
          <a:ln w="19050">
            <a:solidFill>
              <a:srgbClr val="AACFB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054352" y="964593"/>
            <a:ext cx="585216" cy="58521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26" y="1020341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99865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74185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Estruturação, Pesquisa Aplicada e Primeiros Resultados Comerciais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238648"/>
            <a:ext cx="3413760" cy="2196285"/>
          </a:xfrm>
          <a:prstGeom prst="roundRect">
            <a:avLst>
              <a:gd name="adj" fmla="val 2254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68680" y="2448960"/>
            <a:ext cx="29565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PD&amp;I implantado, com equipe técnico-científica formada e parcerias estratégicas firmadas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iniciadas em Remanufatura, Reuso e Reciclagem, IA e Ativos Ambientais, com laboratórios em operação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e processos de validação técnica implantados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comercialização de peças certificadas, gerando as primeiras receitas do projeto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88152" y="964593"/>
            <a:ext cx="585216" cy="58521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526" y="1020341"/>
            <a:ext cx="456468" cy="456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73880" y="1499865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73880" y="1774185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Tecnológico, Validação Industrial e Expansão Comercial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73880" y="2238648"/>
            <a:ext cx="3413760" cy="2196285"/>
          </a:xfrm>
          <a:prstGeom prst="roundRect">
            <a:avLst>
              <a:gd name="adj" fmla="val 2254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4602480" y="2448960"/>
            <a:ext cx="29565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desenvolvidas e validadas, com projetos-piloto concluídos em ambiente industrial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e soluções de Inteligência Artificial em operação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 remanufatura e reciclagem consolidados, com portfólio de produtos e serviços ampliado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ativos ambientais estruturados, com indicadores ESG implementados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521952" y="964593"/>
            <a:ext cx="585216" cy="58521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6326" y="1020341"/>
            <a:ext cx="456468" cy="4564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7680" y="1499865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07680" y="1774185"/>
            <a:ext cx="341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Escalonamento, Comercialização e Consolidação do Centro de Inovação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107680" y="2238648"/>
            <a:ext cx="3413760" cy="2196284"/>
          </a:xfrm>
          <a:prstGeom prst="roundRect">
            <a:avLst>
              <a:gd name="adj" fmla="val 2254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8336280" y="2448960"/>
            <a:ext cx="2956560" cy="177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consolidado como referência nacional em Economia Circular Automotiva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transferidas ao setor produtivo, licenciadas e comercializadas no mercado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modelos de negócio e ativos ambientais monetizáveis gerados</a:t>
            </a:r>
            <a:endParaRPr lang="en-US" sz="1000" dirty="0"/>
          </a:p>
          <a:p>
            <a:pPr marL="152400" indent="-152400">
              <a:lnSpc>
                <a:spcPct val="128000"/>
              </a:lnSpc>
              <a:buSzPct val="100000"/>
              <a:buChar char="▪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expandidas com montadoras, sistemistas, universidades e órgãos públicos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B57059D7-5EF5-6738-07BB-0059F4A24478}"/>
              </a:ext>
            </a:extLst>
          </p:cNvPr>
          <p:cNvSpPr/>
          <p:nvPr/>
        </p:nvSpPr>
        <p:spPr>
          <a:xfrm>
            <a:off x="640080" y="5059449"/>
            <a:ext cx="3413760" cy="1710881"/>
          </a:xfrm>
          <a:prstGeom prst="roundRect">
            <a:avLst>
              <a:gd name="adj" fmla="val 2254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3948EB5-EA79-6599-01DD-7DD14D3874A3}"/>
              </a:ext>
            </a:extLst>
          </p:cNvPr>
          <p:cNvSpPr/>
          <p:nvPr/>
        </p:nvSpPr>
        <p:spPr>
          <a:xfrm>
            <a:off x="717959" y="5102465"/>
            <a:ext cx="3185734" cy="116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Infra </a:t>
            </a: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porta: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R$1,00/m²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</a:rPr>
              <a:t>Preparação</a:t>
            </a:r>
            <a:r>
              <a:rPr lang="en-US" sz="1000" u="sng" dirty="0">
                <a:solidFill>
                  <a:srgbClr val="AACFB0"/>
                </a:solidFill>
              </a:rPr>
              <a:t> do </a:t>
            </a:r>
            <a:r>
              <a:rPr lang="en-US" sz="1000" u="sng" dirty="0" err="1">
                <a:solidFill>
                  <a:srgbClr val="AACFB0"/>
                </a:solidFill>
              </a:rPr>
              <a:t>terreno</a:t>
            </a:r>
            <a:r>
              <a:rPr lang="en-US" sz="1000" u="sng" dirty="0">
                <a:solidFill>
                  <a:srgbClr val="AACFB0"/>
                </a:solidFill>
              </a:rPr>
              <a:t>:</a:t>
            </a:r>
            <a:r>
              <a:rPr lang="en-US" sz="1000" dirty="0">
                <a:solidFill>
                  <a:srgbClr val="AACFB0"/>
                </a:solidFill>
              </a:rPr>
              <a:t> R$ 400K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>
                <a:solidFill>
                  <a:srgbClr val="AACFB0"/>
                </a:solidFill>
              </a:rPr>
              <a:t>Obras </a:t>
            </a:r>
            <a:r>
              <a:rPr lang="en-US" sz="1000" u="sng" dirty="0" err="1">
                <a:solidFill>
                  <a:srgbClr val="AACFB0"/>
                </a:solidFill>
              </a:rPr>
              <a:t>civis</a:t>
            </a:r>
            <a:r>
              <a:rPr lang="en-US" sz="1000" u="sng" dirty="0">
                <a:solidFill>
                  <a:srgbClr val="AACFB0"/>
                </a:solidFill>
              </a:rPr>
              <a:t>:</a:t>
            </a:r>
            <a:r>
              <a:rPr lang="en-US" sz="1000" dirty="0">
                <a:solidFill>
                  <a:srgbClr val="AACFB0"/>
                </a:solidFill>
              </a:rPr>
              <a:t> R$ 1.215K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</a:rPr>
              <a:t>Infraestrutura</a:t>
            </a:r>
            <a:r>
              <a:rPr lang="en-US" sz="1000" u="sng" dirty="0">
                <a:solidFill>
                  <a:srgbClr val="AACFB0"/>
                </a:solidFill>
              </a:rPr>
              <a:t> </a:t>
            </a:r>
            <a:r>
              <a:rPr lang="en-US" sz="1000" u="sng" dirty="0" err="1">
                <a:solidFill>
                  <a:srgbClr val="AACFB0"/>
                </a:solidFill>
              </a:rPr>
              <a:t>pesada</a:t>
            </a:r>
            <a:r>
              <a:rPr lang="en-US" sz="1000" u="sng" dirty="0">
                <a:solidFill>
                  <a:srgbClr val="AACFB0"/>
                </a:solidFill>
              </a:rPr>
              <a:t>:</a:t>
            </a:r>
            <a:r>
              <a:rPr lang="en-US" sz="1000" dirty="0">
                <a:solidFill>
                  <a:srgbClr val="AACFB0"/>
                </a:solidFill>
              </a:rPr>
              <a:t> R$ 180K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</a:rPr>
              <a:t>Equipamentos</a:t>
            </a:r>
            <a:r>
              <a:rPr lang="en-US" sz="1000" u="sng" dirty="0">
                <a:solidFill>
                  <a:srgbClr val="AACFB0"/>
                </a:solidFill>
              </a:rPr>
              <a:t> </a:t>
            </a:r>
            <a:r>
              <a:rPr lang="en-US" sz="1000" u="sng" dirty="0" err="1">
                <a:solidFill>
                  <a:srgbClr val="AACFB0"/>
                </a:solidFill>
              </a:rPr>
              <a:t>mínimos</a:t>
            </a:r>
            <a:r>
              <a:rPr lang="en-US" sz="1000" u="sng" dirty="0">
                <a:solidFill>
                  <a:srgbClr val="AACFB0"/>
                </a:solidFill>
              </a:rPr>
              <a:t>:</a:t>
            </a:r>
            <a:r>
              <a:rPr lang="en-US" sz="1000" dirty="0">
                <a:solidFill>
                  <a:srgbClr val="AACFB0"/>
                </a:solidFill>
              </a:rPr>
              <a:t> R$ 110K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</a:rPr>
              <a:t>Ferramental</a:t>
            </a:r>
            <a:r>
              <a:rPr lang="en-US" sz="1000" u="sng" dirty="0">
                <a:solidFill>
                  <a:srgbClr val="AACFB0"/>
                </a:solidFill>
              </a:rPr>
              <a:t> e </a:t>
            </a:r>
            <a:r>
              <a:rPr lang="en-US" sz="1000" u="sng" dirty="0" err="1">
                <a:solidFill>
                  <a:srgbClr val="AACFB0"/>
                </a:solidFill>
              </a:rPr>
              <a:t>segurança</a:t>
            </a:r>
            <a:r>
              <a:rPr lang="en-US" sz="1000" u="sng" dirty="0">
                <a:solidFill>
                  <a:srgbClr val="AACFB0"/>
                </a:solidFill>
              </a:rPr>
              <a:t>:</a:t>
            </a:r>
            <a:r>
              <a:rPr lang="en-US" sz="1000" dirty="0">
                <a:solidFill>
                  <a:srgbClr val="AACFB0"/>
                </a:solidFill>
              </a:rPr>
              <a:t> 90K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</a:rPr>
              <a:t>Engenharia</a:t>
            </a:r>
            <a:r>
              <a:rPr lang="en-US" sz="1000" u="sng" dirty="0">
                <a:solidFill>
                  <a:srgbClr val="AACFB0"/>
                </a:solidFill>
              </a:rPr>
              <a:t>:</a:t>
            </a:r>
            <a:r>
              <a:rPr lang="en-US" sz="1000" dirty="0">
                <a:solidFill>
                  <a:srgbClr val="AACFB0"/>
                </a:solidFill>
              </a:rPr>
              <a:t> R$ 275K</a:t>
            </a:r>
            <a:endParaRPr lang="en-US" sz="1000" u="sng" dirty="0">
              <a:solidFill>
                <a:srgbClr val="AACFB0"/>
              </a:solidFill>
            </a:endParaRPr>
          </a:p>
          <a:p>
            <a:pPr algn="ctr">
              <a:lnSpc>
                <a:spcPct val="128000"/>
              </a:lnSpc>
              <a:buSzPct val="100000"/>
            </a:pPr>
            <a:r>
              <a:rPr lang="en-US" dirty="0">
                <a:solidFill>
                  <a:srgbClr val="AACFB0"/>
                </a:solidFill>
              </a:rPr>
              <a:t>1,73M</a:t>
            </a:r>
            <a:endParaRPr lang="en-US" sz="2200" dirty="0">
              <a:solidFill>
                <a:srgbClr val="AACFB0"/>
              </a:solidFill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B83083F3-2E39-A695-5815-2FD257F9377A}"/>
              </a:ext>
            </a:extLst>
          </p:cNvPr>
          <p:cNvSpPr/>
          <p:nvPr/>
        </p:nvSpPr>
        <p:spPr>
          <a:xfrm>
            <a:off x="1066800" y="4371811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r>
              <a:rPr lang="en-US" sz="13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</a:t>
            </a:r>
            <a:endParaRPr lang="en-US" sz="13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E78EFDC2-38D3-D030-4503-B64797013268}"/>
              </a:ext>
            </a:extLst>
          </p:cNvPr>
          <p:cNvSpPr/>
          <p:nvPr/>
        </p:nvSpPr>
        <p:spPr>
          <a:xfrm>
            <a:off x="851746" y="4659313"/>
            <a:ext cx="3017520" cy="36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</a:t>
            </a: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próprio</a:t>
            </a: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(WLM)</a:t>
            </a:r>
            <a:endParaRPr lang="en-US" sz="14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20DC45C4-9B9E-1806-4CEE-B8F4DDCFCCD7}"/>
              </a:ext>
            </a:extLst>
          </p:cNvPr>
          <p:cNvSpPr/>
          <p:nvPr/>
        </p:nvSpPr>
        <p:spPr>
          <a:xfrm>
            <a:off x="4330413" y="5006961"/>
            <a:ext cx="3413760" cy="1710881"/>
          </a:xfrm>
          <a:prstGeom prst="roundRect">
            <a:avLst>
              <a:gd name="adj" fmla="val 2254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2CA0434E-1306-FC6D-07A6-7CE7A0001C89}"/>
              </a:ext>
            </a:extLst>
          </p:cNvPr>
          <p:cNvSpPr/>
          <p:nvPr/>
        </p:nvSpPr>
        <p:spPr>
          <a:xfrm>
            <a:off x="4408292" y="5049977"/>
            <a:ext cx="3185734" cy="116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R$ 205K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Ferramental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R$ 260K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Loja e </a:t>
            </a: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R$ 140K</a:t>
            </a:r>
            <a:endParaRPr lang="en-US" sz="1000" u="sng" dirty="0">
              <a:solidFill>
                <a:srgbClr val="AAC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R$ 100K</a:t>
            </a: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u="sng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eletrônicos</a:t>
            </a:r>
            <a:r>
              <a:rPr lang="en-US" sz="1000" u="sng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R$ 65K</a:t>
            </a:r>
            <a:endParaRPr lang="en-US" sz="1000" u="sng" dirty="0">
              <a:solidFill>
                <a:srgbClr val="AAC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endParaRPr lang="en-US" sz="1000" u="sng" dirty="0">
              <a:solidFill>
                <a:srgbClr val="AAC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lnSpc>
                <a:spcPct val="128000"/>
              </a:lnSpc>
              <a:buSzPct val="100000"/>
              <a:buFont typeface="Arial" panose="020B0604020202020204" pitchFamily="34" charset="0"/>
              <a:buChar char="•"/>
            </a:pPr>
            <a:endParaRPr lang="en-US" sz="1000" u="sng" dirty="0">
              <a:solidFill>
                <a:srgbClr val="AAC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28000"/>
              </a:lnSpc>
              <a:buSzPct val="100000"/>
            </a:pPr>
            <a:r>
              <a:rPr lang="en-US" dirty="0">
                <a:solidFill>
                  <a:srgbClr val="AACFB0"/>
                </a:solidFill>
              </a:rPr>
              <a:t>R$ 770K</a:t>
            </a: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467F7A7-3B03-2E65-8A7F-0085E17F2723}"/>
              </a:ext>
            </a:extLst>
          </p:cNvPr>
          <p:cNvSpPr/>
          <p:nvPr/>
        </p:nvSpPr>
        <p:spPr>
          <a:xfrm>
            <a:off x="4542079" y="4659313"/>
            <a:ext cx="3017520" cy="36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</a:t>
            </a: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r>
              <a:rPr lang="en-US" sz="14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(30% WLM)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associados à implantação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 identificados e respectivas estratégias de mitigação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566928" cy="566928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62" y="1891162"/>
            <a:ext cx="442204" cy="442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4000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regulado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732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em conformidade com a legislação vigente e participação ativa junto a órgãos reguladores.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0780" y="155448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15100" y="1828800"/>
            <a:ext cx="566928" cy="566928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462" y="1891162"/>
            <a:ext cx="442204" cy="442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2340" y="1847088"/>
            <a:ext cx="4000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técnica do projeto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5100" y="2606040"/>
            <a:ext cx="4732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em parceria com a UFLA e validação contínua das tecnologias em ambiente real.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914400" y="4480560"/>
            <a:ext cx="566928" cy="566928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62" y="4542922"/>
            <a:ext cx="442204" cy="442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98848"/>
            <a:ext cx="4000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 para IA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5257800"/>
            <a:ext cx="4732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confiável, padronização, rastreabilidade e validação contínua dos modelos.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40780" y="4206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515100" y="4480560"/>
            <a:ext cx="566928" cy="566928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462" y="4542922"/>
            <a:ext cx="442204" cy="442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2340" y="4498848"/>
            <a:ext cx="4000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de mão de obra especializada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15100" y="5257800"/>
            <a:ext cx="47320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universidades, bolsas e capacitação técnica voltadas à economia circular.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8"/>
                </a:solidFill>
              </a:rPr>
              <a:t>Ekotruck × UFLA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Fomento e Atratividade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2057400" y="1920240"/>
            <a:ext cx="731520" cy="73152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867" y="20007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Fomento Público e Incentivos à Inovação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via FINEP, EMBRAPII, BNDES, CNPq, FAPEMIG e editais ligados ao MOVER, NIB e à economia circular.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26280" y="160020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943600" y="1920240"/>
            <a:ext cx="731520" cy="73152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067" y="200070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006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Pesquisa, Desenvolvimento e Inovação (PD&amp;I)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46320" y="3749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cooperativos com a UFLA: pesquisa aplicada, transferência tecnológica, formação de profissionais e proteção da PI.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0" y="160020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9829800" y="1920240"/>
            <a:ext cx="731520" cy="731520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0267" y="2000707"/>
            <a:ext cx="570586" cy="5705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338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6868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Novos Negócios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732520" y="3749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dos resultados em produtos, serviços e tecnologias de alto valor agregado para a cadeia automotiva.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7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8"/>
                </a:solidFill>
              </a:rPr>
              <a:t>Ekotruck × UFLA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Financeiro Preliminar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41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Desmontagem e comercialização dos dois primeiros caminhões — G500 e G480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989320" cy="3429000"/>
          </a:xfrm>
          <a:prstGeom prst="roundRect">
            <a:avLst>
              <a:gd name="adj" fmla="val 2133"/>
            </a:avLst>
          </a:prstGeom>
          <a:solidFill>
            <a:srgbClr val="0E433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QUASE-DRE — RESULTADO APURADO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de vendas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2011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R$ 577.139,30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(–) Aquisição dos veículos (G500 + G480)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2350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R$ 480.000,00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88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(–) Desmontagem (2 veículos)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26883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R$ 40.000,00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26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(–) Reparos em componentes + frete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3026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R$ 44.793,70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392424"/>
            <a:ext cx="5440680" cy="0"/>
          </a:xfrm>
          <a:prstGeom prst="line">
            <a:avLst/>
          </a:prstGeom>
          <a:noFill/>
          <a:ln w="9525">
            <a:solidFill>
              <a:srgbClr val="CFE3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35295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apurado (vendas realizadas)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3529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R$ 12.345,60</a:t>
            </a:r>
            <a:endParaRPr lang="en-US" sz="1300" dirty="0">
              <a:solidFill>
                <a:srgbClr val="AACFB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986784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momentaneamente negativo porque o investimento cobre a aquisição de 2 veículos completos, mas parte relevante dos componentes ainda está em estoque, aguardando venda.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1463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ITENS VENDIDOS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737360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0E4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995160" y="1801368"/>
            <a:ext cx="347472" cy="347472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382" y="1839590"/>
            <a:ext cx="271028" cy="2710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70648" y="1737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G500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829800" y="17373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R$ 144.000,00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903720" y="2272284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0E4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6995160" y="2336292"/>
            <a:ext cx="347472" cy="347472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3"/>
          <p:cNvSpPr/>
          <p:nvPr/>
        </p:nvSpPr>
        <p:spPr>
          <a:xfrm>
            <a:off x="7470648" y="22722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G480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9829800" y="22722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R$ 90.000,00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903720" y="2807208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0E4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6"/>
          <p:cNvSpPr/>
          <p:nvPr/>
        </p:nvSpPr>
        <p:spPr>
          <a:xfrm>
            <a:off x="6995160" y="2871216"/>
            <a:ext cx="347472" cy="347472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382" y="2909438"/>
            <a:ext cx="271028" cy="27102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470648" y="28072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G500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9829800" y="28072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R$ 80.000,00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903720" y="3342132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0E4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0"/>
          <p:cNvSpPr/>
          <p:nvPr/>
        </p:nvSpPr>
        <p:spPr>
          <a:xfrm>
            <a:off x="6995160" y="3406140"/>
            <a:ext cx="347472" cy="347472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382" y="3444362"/>
            <a:ext cx="271028" cy="2710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70648" y="33421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 G480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9829800" y="33421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R$ 80.000,00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6903720" y="3877056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0E4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4"/>
          <p:cNvSpPr/>
          <p:nvPr/>
        </p:nvSpPr>
        <p:spPr>
          <a:xfrm>
            <a:off x="6995160" y="3941064"/>
            <a:ext cx="347472" cy="347472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382" y="3979286"/>
            <a:ext cx="271028" cy="27102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470648" y="38770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G500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9829800" y="387705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R$ 76.000,00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6903720" y="44302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somam R$ 470.000,00 — 81,4% da receita total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40080" y="5029199"/>
            <a:ext cx="10881360" cy="1554481"/>
          </a:xfrm>
          <a:prstGeom prst="roundRect">
            <a:avLst>
              <a:gd name="adj" fmla="val 4571"/>
            </a:avLst>
          </a:prstGeom>
          <a:solidFill>
            <a:srgbClr val="12534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39"/>
          <p:cNvSpPr/>
          <p:nvPr/>
        </p:nvSpPr>
        <p:spPr>
          <a:xfrm>
            <a:off x="914400" y="5121337"/>
            <a:ext cx="585216" cy="585216"/>
          </a:xfrm>
          <a:prstGeom prst="ellipse">
            <a:avLst/>
          </a:prstGeom>
          <a:solidFill>
            <a:srgbClr val="AACFB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774" y="5185711"/>
            <a:ext cx="456468" cy="45646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664208" y="5103049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</a:t>
            </a:r>
            <a:r>
              <a:rPr lang="en-US" sz="135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remanescente</a:t>
            </a:r>
            <a:r>
              <a:rPr lang="en-US" sz="13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(Valores </a:t>
            </a:r>
            <a:r>
              <a:rPr lang="en-US" sz="135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r>
              <a:rPr lang="en-US" sz="13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realista</a:t>
            </a:r>
            <a:r>
              <a:rPr lang="en-US" sz="135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49" name="Text 41"/>
          <p:cNvSpPr/>
          <p:nvPr/>
        </p:nvSpPr>
        <p:spPr>
          <a:xfrm>
            <a:off x="1664208" y="5400837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câmbio GRSO 905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4434840" y="540083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R$ 60.000,00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1664208" y="5693445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diferenciais (R$ 25.000,00 cada)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4434840" y="5693445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R$ 100.000,00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1664208" y="5986053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cubos redutores (R$ 8.500,00 cada)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4434840" y="598605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R$ 68.000,00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6309360" y="5093905"/>
            <a:ext cx="0" cy="1143000"/>
          </a:xfrm>
          <a:prstGeom prst="line">
            <a:avLst/>
          </a:prstGeom>
          <a:noFill/>
          <a:ln w="9525">
            <a:solidFill>
              <a:srgbClr val="CFE3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8"/>
          <p:cNvSpPr/>
          <p:nvPr/>
        </p:nvSpPr>
        <p:spPr>
          <a:xfrm>
            <a:off x="6629400" y="5121337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em estoque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6629400" y="5395657"/>
            <a:ext cx="1651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R$ 684.000,00</a:t>
            </a:r>
            <a:endParaRPr lang="en-US" sz="2100" dirty="0"/>
          </a:p>
        </p:txBody>
      </p:sp>
      <p:sp>
        <p:nvSpPr>
          <p:cNvPr id="60" name="Text 5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D8"/>
                </a:solidFill>
              </a:rPr>
              <a:t>8</a:t>
            </a:r>
            <a:endParaRPr lang="en-US" sz="1000" dirty="0"/>
          </a:p>
        </p:txBody>
      </p:sp>
      <p:sp>
        <p:nvSpPr>
          <p:cNvPr id="61" name="Text 53"/>
          <p:cNvSpPr/>
          <p:nvPr/>
        </p:nvSpPr>
        <p:spPr>
          <a:xfrm>
            <a:off x="292608" y="6502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D8"/>
                </a:solidFill>
              </a:rPr>
              <a:t>Ekotruck × UFLA</a:t>
            </a:r>
            <a:endParaRPr lang="en-US" sz="1000" dirty="0"/>
          </a:p>
        </p:txBody>
      </p:sp>
      <p:pic>
        <p:nvPicPr>
          <p:cNvPr id="63" name="Image 2" descr="preencoded.png">
            <a:extLst>
              <a:ext uri="{FF2B5EF4-FFF2-40B4-BE49-F238E27FC236}">
                <a16:creationId xmlns:a16="http://schemas.microsoft.com/office/drawing/2014/main" id="{E431F2F0-6811-FBF4-C95D-BC1BA3364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13" y="2388981"/>
            <a:ext cx="271028" cy="271028"/>
          </a:xfrm>
          <a:prstGeom prst="rect">
            <a:avLst/>
          </a:prstGeom>
        </p:spPr>
      </p:pic>
      <p:sp>
        <p:nvSpPr>
          <p:cNvPr id="62" name="Text 45">
            <a:extLst>
              <a:ext uri="{FF2B5EF4-FFF2-40B4-BE49-F238E27FC236}">
                <a16:creationId xmlns:a16="http://schemas.microsoft.com/office/drawing/2014/main" id="{90573990-7B22-C82E-BAAB-80A5A26C01D7}"/>
              </a:ext>
            </a:extLst>
          </p:cNvPr>
          <p:cNvSpPr/>
          <p:nvPr/>
        </p:nvSpPr>
        <p:spPr>
          <a:xfrm>
            <a:off x="1664208" y="62146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eletrônicos</a:t>
            </a:r>
            <a:endParaRPr lang="en-US" sz="1050" dirty="0"/>
          </a:p>
        </p:txBody>
      </p:sp>
      <p:sp>
        <p:nvSpPr>
          <p:cNvPr id="65" name="Text 46">
            <a:extLst>
              <a:ext uri="{FF2B5EF4-FFF2-40B4-BE49-F238E27FC236}">
                <a16:creationId xmlns:a16="http://schemas.microsoft.com/office/drawing/2014/main" id="{79A02080-8F7B-12C5-C1BA-E1AE9921BF02}"/>
              </a:ext>
            </a:extLst>
          </p:cNvPr>
          <p:cNvSpPr/>
          <p:nvPr/>
        </p:nvSpPr>
        <p:spPr>
          <a:xfrm>
            <a:off x="4434840" y="62146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R$ 30.800,00 </a:t>
            </a:r>
            <a:endParaRPr lang="en-US" sz="1050" dirty="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AD75A6E0-FDC6-1B0C-129E-BDF3A11E8F3C}"/>
              </a:ext>
            </a:extLst>
          </p:cNvPr>
          <p:cNvSpPr/>
          <p:nvPr/>
        </p:nvSpPr>
        <p:spPr>
          <a:xfrm>
            <a:off x="5132716" y="3796630"/>
            <a:ext cx="1258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r>
              <a:rPr lang="en-US" sz="95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r>
              <a:rPr lang="en-US" sz="95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0,02%</a:t>
            </a:r>
            <a:endParaRPr lang="en-US" sz="950" dirty="0"/>
          </a:p>
        </p:txBody>
      </p: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42F9C430-8791-0655-8274-1DDD4B2A3168}"/>
              </a:ext>
            </a:extLst>
          </p:cNvPr>
          <p:cNvCxnSpPr/>
          <p:nvPr/>
        </p:nvCxnSpPr>
        <p:spPr>
          <a:xfrm>
            <a:off x="8376249" y="5581291"/>
            <a:ext cx="793630" cy="0"/>
          </a:xfrm>
          <a:prstGeom prst="straightConnector1">
            <a:avLst/>
          </a:prstGeom>
          <a:ln w="28575">
            <a:solidFill>
              <a:srgbClr val="AACF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49">
            <a:extLst>
              <a:ext uri="{FF2B5EF4-FFF2-40B4-BE49-F238E27FC236}">
                <a16:creationId xmlns:a16="http://schemas.microsoft.com/office/drawing/2014/main" id="{CFC231CE-1B58-7F0B-065E-21650A403948}"/>
              </a:ext>
            </a:extLst>
          </p:cNvPr>
          <p:cNvSpPr/>
          <p:nvPr/>
        </p:nvSpPr>
        <p:spPr>
          <a:xfrm>
            <a:off x="9550550" y="5242383"/>
            <a:ext cx="1651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R$ 762.000,00</a:t>
            </a:r>
            <a:endParaRPr lang="en-US" dirty="0"/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AC833575-CF67-765E-F120-B34CA6EF3F8A}"/>
              </a:ext>
            </a:extLst>
          </p:cNvPr>
          <p:cNvSpPr/>
          <p:nvPr/>
        </p:nvSpPr>
        <p:spPr>
          <a:xfrm>
            <a:off x="9395460" y="5589525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Encontrando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para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carroceria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800" dirty="0"/>
          </a:p>
        </p:txBody>
      </p:sp>
      <p:pic>
        <p:nvPicPr>
          <p:cNvPr id="73" name="Gráfico 72" descr="Estrela cadente com preenchimento sólido">
            <a:extLst>
              <a:ext uri="{FF2B5EF4-FFF2-40B4-BE49-F238E27FC236}">
                <a16:creationId xmlns:a16="http://schemas.microsoft.com/office/drawing/2014/main" id="{11939BBB-A5AC-460E-B6CC-0BF7932280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8676" y="4984295"/>
            <a:ext cx="339176" cy="339176"/>
          </a:xfrm>
          <a:prstGeom prst="rect">
            <a:avLst/>
          </a:prstGeom>
        </p:spPr>
      </p:pic>
      <p:sp>
        <p:nvSpPr>
          <p:cNvPr id="75" name="Text 3">
            <a:extLst>
              <a:ext uri="{FF2B5EF4-FFF2-40B4-BE49-F238E27FC236}">
                <a16:creationId xmlns:a16="http://schemas.microsoft.com/office/drawing/2014/main" id="{C637A465-EDB4-7581-F5CB-8C022005604D}"/>
              </a:ext>
            </a:extLst>
          </p:cNvPr>
          <p:cNvSpPr/>
          <p:nvPr/>
        </p:nvSpPr>
        <p:spPr>
          <a:xfrm>
            <a:off x="9944027" y="5049151"/>
            <a:ext cx="88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OTIMISTA</a:t>
            </a:r>
            <a:endParaRPr lang="en-US" sz="1000" dirty="0"/>
          </a:p>
        </p:txBody>
      </p: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D184ACC1-70C0-FD55-6A29-0D52D0F16A51}"/>
              </a:ext>
            </a:extLst>
          </p:cNvPr>
          <p:cNvCxnSpPr>
            <a:cxnSpLocks/>
            <a:stCxn id="57" idx="2"/>
          </p:cNvCxnSpPr>
          <p:nvPr/>
        </p:nvCxnSpPr>
        <p:spPr>
          <a:xfrm rot="16200000" flipH="1">
            <a:off x="7558081" y="5704435"/>
            <a:ext cx="450810" cy="656214"/>
          </a:xfrm>
          <a:prstGeom prst="bentConnector2">
            <a:avLst/>
          </a:prstGeom>
          <a:ln w="28575">
            <a:solidFill>
              <a:srgbClr val="AACF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Gráfico 79" descr="Gráfico de tendência descendente com preenchimento sólido">
            <a:extLst>
              <a:ext uri="{FF2B5EF4-FFF2-40B4-BE49-F238E27FC236}">
                <a16:creationId xmlns:a16="http://schemas.microsoft.com/office/drawing/2014/main" id="{FCB64885-0B29-CFEE-E713-E682B982F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1389" y="5725438"/>
            <a:ext cx="330581" cy="330581"/>
          </a:xfrm>
          <a:prstGeom prst="rect">
            <a:avLst/>
          </a:prstGeom>
        </p:spPr>
      </p:pic>
      <p:sp>
        <p:nvSpPr>
          <p:cNvPr id="82" name="Text 49">
            <a:extLst>
              <a:ext uri="{FF2B5EF4-FFF2-40B4-BE49-F238E27FC236}">
                <a16:creationId xmlns:a16="http://schemas.microsoft.com/office/drawing/2014/main" id="{43555C03-4B33-0CB0-3C12-41ADF5FBD69F}"/>
              </a:ext>
            </a:extLst>
          </p:cNvPr>
          <p:cNvSpPr/>
          <p:nvPr/>
        </p:nvSpPr>
        <p:spPr>
          <a:xfrm>
            <a:off x="8432950" y="5944149"/>
            <a:ext cx="16519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R$ 401.000,00</a:t>
            </a:r>
            <a:endParaRPr lang="en-US" dirty="0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D1E890D8-4253-511C-1231-0F1957DCCFBB}"/>
              </a:ext>
            </a:extLst>
          </p:cNvPr>
          <p:cNvSpPr/>
          <p:nvPr/>
        </p:nvSpPr>
        <p:spPr>
          <a:xfrm>
            <a:off x="8276874" y="6291291"/>
            <a:ext cx="3153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800" i="1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atacado</a:t>
            </a:r>
            <a:r>
              <a:rPr lang="en-US" sz="8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en-US" sz="800" dirty="0"/>
          </a:p>
        </p:txBody>
      </p:sp>
      <p:sp>
        <p:nvSpPr>
          <p:cNvPr id="88" name="Text 3">
            <a:extLst>
              <a:ext uri="{FF2B5EF4-FFF2-40B4-BE49-F238E27FC236}">
                <a16:creationId xmlns:a16="http://schemas.microsoft.com/office/drawing/2014/main" id="{E1874618-6058-45B1-5D11-B09A069447AC}"/>
              </a:ext>
            </a:extLst>
          </p:cNvPr>
          <p:cNvSpPr/>
          <p:nvPr/>
        </p:nvSpPr>
        <p:spPr>
          <a:xfrm>
            <a:off x="8807690" y="5804186"/>
            <a:ext cx="882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 err="1">
                <a:solidFill>
                  <a:srgbClr val="AA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1070</Words>
  <Application>Microsoft Office PowerPoint</Application>
  <PresentationFormat>Widescreen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Centro de Desmonte Veicular Ekotruck - UFLA</dc:title>
  <dc:subject>PptxGenJS Presentation</dc:subject>
  <dc:creator>Ekotruck</dc:creator>
  <cp:lastModifiedBy>Andre Pavan Eiras</cp:lastModifiedBy>
  <cp:revision>10</cp:revision>
  <dcterms:created xsi:type="dcterms:W3CDTF">2026-07-01T00:44:51Z</dcterms:created>
  <dcterms:modified xsi:type="dcterms:W3CDTF">2026-07-03T21:23:22Z</dcterms:modified>
</cp:coreProperties>
</file>
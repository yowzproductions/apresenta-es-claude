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EKOTRUCK · INTELIGÊNCIA COMERCIAL SDR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Itaipu Norte — Contas G450 / G500 / G540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C6D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Consolidado por cliente · exclui Equipo Locação (empresa do grupo econômico WLM)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2450592" cy="749808"/>
          </a:xfrm>
          <a:prstGeom prst="roundRect">
            <a:avLst>
              <a:gd name="adj" fmla="val 9756"/>
            </a:avLst>
          </a:prstGeom>
          <a:solidFill>
            <a:srgbClr val="EAF0E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517904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219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66928" y="1901952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Veículos no recorte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35808" y="1444752"/>
            <a:ext cx="2450592" cy="749808"/>
          </a:xfrm>
          <a:prstGeom prst="roundRect">
            <a:avLst>
              <a:gd name="adj" fmla="val 9756"/>
            </a:avLst>
          </a:prstGeom>
          <a:solidFill>
            <a:srgbClr val="EAF0EC"/>
          </a:solidFill>
          <a:ln/>
        </p:spPr>
      </p:sp>
      <p:sp>
        <p:nvSpPr>
          <p:cNvPr id="9" name="Text 7"/>
          <p:cNvSpPr/>
          <p:nvPr/>
        </p:nvSpPr>
        <p:spPr>
          <a:xfrm>
            <a:off x="3145536" y="1517904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6,5%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145536" y="1901952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Penetração combinada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14416" y="1444752"/>
            <a:ext cx="2450592" cy="749808"/>
          </a:xfrm>
          <a:prstGeom prst="roundRect">
            <a:avLst>
              <a:gd name="adj" fmla="val 9756"/>
            </a:avLst>
          </a:prstGeom>
          <a:solidFill>
            <a:srgbClr val="EAF0EC"/>
          </a:solidFill>
          <a:ln/>
        </p:spPr>
      </p:sp>
      <p:sp>
        <p:nvSpPr>
          <p:cNvPr id="12" name="Text 10"/>
          <p:cNvSpPr/>
          <p:nvPr/>
        </p:nvSpPr>
        <p:spPr>
          <a:xfrm>
            <a:off x="5724144" y="1517904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R$ 20,2 mi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724144" y="1901952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Potencial de venda (gap)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93024" y="1444752"/>
            <a:ext cx="2450592" cy="749808"/>
          </a:xfrm>
          <a:prstGeom prst="roundRect">
            <a:avLst>
              <a:gd name="adj" fmla="val 9756"/>
            </a:avLst>
          </a:prstGeom>
          <a:solidFill>
            <a:srgbClr val="EAF0EC"/>
          </a:solidFill>
          <a:ln/>
        </p:spPr>
      </p:sp>
      <p:sp>
        <p:nvSpPr>
          <p:cNvPr id="15" name="Text 13"/>
          <p:cNvSpPr/>
          <p:nvPr/>
        </p:nvSpPr>
        <p:spPr>
          <a:xfrm>
            <a:off x="8302752" y="1517904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02752" y="1901952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Contas analisadas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95728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731520"/>
                <a:gridCol w="731520"/>
                <a:gridCol w="731520"/>
                <a:gridCol w="731520"/>
                <a:gridCol w="1188720"/>
                <a:gridCol w="2377440"/>
                <a:gridCol w="11887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G450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G500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G540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Penetração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Potencial de venda (R$)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Idade média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D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12D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Grupo Vale (Vale SA + Salobo Metais + Onça Puma) *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11.223.950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12D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Mineração Rio do Norte S/A **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consome acima do esperado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12D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Mineração Paragominas S.A.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6.414.553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12D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Fontaim &amp; Fernandes Serviços Ltda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396.674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12D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Fidens Construções S/A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342.093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12D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Iterceler Logística S/A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161.266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12D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Cia. de Ferro Ligas da Bahia (Ferbasa)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696.802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12D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JMN Mineração S.A.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520.646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12D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MM Transportes Ltda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260.323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12D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Evandro Plácido dos Santos (PF)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174.415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12D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Outras 7 contas *** (sem Potencial calculado)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s/ dado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s/ dado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 Grupo Vale: CNPJs distintos, mesmo grupo econômico (Salobo Metais e Mineração Onça Puma são subsidiárias da Vale Base Metals/Vale S.A.).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 Penetração acima de 100% = cliente consumindo mais do que o esperado pra idade da frota (indício de operação severa) — não é oportunidade de reconquista, é candidato a reman.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 R.S.E Transportes, Tradimaq, Arej, Eron, Ferro + Mineração, Diamond e Transportes Sarzedo — Scania não calculou Potencial Total pra essas linhas; 3 delas têm faturamento real (R$ 123 mil somados).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2026-08-10T13:39:07Z</dcterms:created>
  <dcterms:modified xsi:type="dcterms:W3CDTF">2026-08-10T13:39:07Z</dcterms:modified>
</cp:coreProperties>
</file>
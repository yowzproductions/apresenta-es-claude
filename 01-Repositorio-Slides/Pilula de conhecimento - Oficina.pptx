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contextualizar o objetivo do treinamento — mapear os perfis de oficina do mercado e o catálogo de peças menores que vendemos para cada 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Postos de molas: suspensão traseira, ferragem de feixe de mola. Freios: item de desgaste rápido e reparo de componentes hidráulicos/pneumáticos.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Embreagem: troca de kit completo e acionamento hidráulico. Arla: pós-tratamento de emissões, demanda constante por fiscalização.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Autoelétricos: falha súbita em partida/carga/chicote. Suspensão e direção: vibração e alinhamento. Funilaria e pintura: reparo por colisão.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Fechamento: visão consolidada dos sete perfis e suas peças-chave, para consulta rápida no dia a dia comercial.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3481388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TREINAMENTO COMERCIAL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4052888"/>
            <a:ext cx="15716250" cy="870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460"/>
              </a:lnSpc>
              <a:buNone/>
            </a:pPr>
            <a:r>
              <a:rPr lang="en-US" sz="5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Tipos de oficina, peças que vendemos</a:t>
            </a:r>
            <a:endParaRPr lang="en-US" sz="5700" dirty="0"/>
          </a:p>
        </p:txBody>
      </p:sp>
      <p:sp>
        <p:nvSpPr>
          <p:cNvPr id="4" name="Text 2"/>
          <p:cNvSpPr/>
          <p:nvPr/>
        </p:nvSpPr>
        <p:spPr>
          <a:xfrm>
            <a:off x="1047750" y="5190083"/>
            <a:ext cx="12753975" cy="115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500"/>
              </a:lnSpc>
              <a:buNone/>
            </a:pPr>
            <a:r>
              <a:rPr lang="en-US" sz="3150" dirty="0">
                <a:solidFill>
                  <a:srgbClr val="A3CC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perfis especializados do mercado de reposição e o catálogo de peças menores para cada um</a:t>
            </a:r>
            <a:endParaRPr lang="en-US" sz="3150" dirty="0"/>
          </a:p>
        </p:txBody>
      </p:sp>
      <p:sp>
        <p:nvSpPr>
          <p:cNvPr id="5" name="Shape 3"/>
          <p:cNvSpPr/>
          <p:nvPr/>
        </p:nvSpPr>
        <p:spPr>
          <a:xfrm>
            <a:off x="1047750" y="6767364"/>
            <a:ext cx="1143000" cy="38100"/>
          </a:xfrm>
          <a:prstGeom prst="rect">
            <a:avLst/>
          </a:prstGeom>
          <a:solidFill>
            <a:srgbClr val="F2680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SUSPENSÃO TRASEIRA E FRENAGEM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829675" y="1676400"/>
            <a:ext cx="9525" cy="78486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1676400"/>
            <a:ext cx="78895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Postos de molas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047750" y="2324100"/>
            <a:ext cx="738749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Manutenção de feixes de mola em caminhões e reboques. Trabalho de bancada, ferragem se desgasta rápido.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232547"/>
            <a:ext cx="78895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81357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718322"/>
            <a:ext cx="227345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Feixes de mola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443835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4343102"/>
            <a:ext cx="305533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Grampos-U (u-bolts)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506313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4967883"/>
            <a:ext cx="3578557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Buchas e pinos de mola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568791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5592663"/>
            <a:ext cx="286936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Jumelos (shackles)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48800" y="1676400"/>
            <a:ext cx="85705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em freios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9448800" y="2324100"/>
            <a:ext cx="802519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de lonas e pastilhas, reparo de cilindros e regulagem. Volume alto, ticket médio baixo por peça.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448800" y="3232547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448800" y="381357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3718322"/>
            <a:ext cx="258614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Lonas </a:t>
            </a:r>
            <a:pPr algn="l" indent="0" marL="0">
              <a:lnSpc>
                <a:spcPct val="112432"/>
              </a:lnSpc>
              <a:buNone/>
            </a:pPr>
            <a:r>
              <a:rPr lang="en-US" sz="180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(peças novas)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448800" y="443835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1" name="Text 19"/>
          <p:cNvSpPr/>
          <p:nvPr/>
        </p:nvSpPr>
        <p:spPr>
          <a:xfrm>
            <a:off x="9753600" y="4343102"/>
            <a:ext cx="253457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Cilindros de roda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448800" y="506313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0" y="4967883"/>
            <a:ext cx="326144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Válvulas pneumáticas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9448800" y="568791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5" name="Text 23"/>
          <p:cNvSpPr/>
          <p:nvPr/>
        </p:nvSpPr>
        <p:spPr>
          <a:xfrm>
            <a:off x="9753600" y="5592663"/>
            <a:ext cx="225495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Cuícas de freio</a:t>
            </a:r>
            <a:endParaRPr lang="en-US" sz="2400" dirty="0"/>
          </a:p>
        </p:txBody>
      </p:sp>
      <p:sp>
        <p:nvSpPr>
          <p:cNvPr id="26" name="Shape 24"/>
          <p:cNvSpPr/>
          <p:nvPr/>
        </p:nvSpPr>
        <p:spPr>
          <a:xfrm>
            <a:off x="9448800" y="6312694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7" name="Text 25"/>
          <p:cNvSpPr/>
          <p:nvPr/>
        </p:nvSpPr>
        <p:spPr>
          <a:xfrm>
            <a:off x="9753600" y="6217444"/>
            <a:ext cx="232944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Tambor de freio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TRANSMISSÃO DE FORÇA E EMISSÕES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829675" y="1676400"/>
            <a:ext cx="9525" cy="78486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1676400"/>
            <a:ext cx="7889558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Postos de embreagem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047750" y="2324100"/>
            <a:ext cx="7387495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Troca do kit de embreagem completo e reparo do acionamento hidráulico. Bancada pesada, maior valor agregado.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232547"/>
            <a:ext cx="788955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81357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718322"/>
            <a:ext cx="6448246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 e platô de embreagem </a:t>
            </a:r>
            <a:pPr algn="l" indent="0" marL="0">
              <a:lnSpc>
                <a:spcPct val="112432"/>
              </a:lnSpc>
              <a:buNone/>
            </a:pPr>
            <a:r>
              <a:rPr lang="en-US" sz="180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(remanufaturados)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443835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4343102"/>
            <a:ext cx="523744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Rolamento e garfo de acionamento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506313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4967883"/>
            <a:ext cx="7073551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Atuador eletro-hidráulico (ECA) </a:t>
            </a:r>
            <a:pPr algn="l" indent="0" marL="0">
              <a:lnSpc>
                <a:spcPct val="112432"/>
              </a:lnSpc>
              <a:buNone/>
            </a:pPr>
            <a:r>
              <a:rPr lang="en-US" sz="180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(peças novas, futuramente remanufaturado)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448800" y="1676400"/>
            <a:ext cx="857059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em sistemas de arla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9448800" y="2324100"/>
            <a:ext cx="8025194" cy="7560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613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Injeção de arla 32 e escapamento. Peça obrigatória por fiscalização ambiental, demanda constante em frotas.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448800" y="3232547"/>
            <a:ext cx="857059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448800" y="381357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7" name="Text 15"/>
          <p:cNvSpPr/>
          <p:nvPr/>
        </p:nvSpPr>
        <p:spPr>
          <a:xfrm>
            <a:off x="9753600" y="3718322"/>
            <a:ext cx="4174793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 injetor e bomba de arla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448800" y="4438352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4343102"/>
            <a:ext cx="527509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de qualidade e nível de arla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448800" y="5063133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1" name="Text 19"/>
          <p:cNvSpPr/>
          <p:nvPr/>
        </p:nvSpPr>
        <p:spPr>
          <a:xfrm>
            <a:off x="9753600" y="4967883"/>
            <a:ext cx="549823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Mangueiras e braçadeiras aquecidas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ELÉTRICO, ROLAGEM E CARROCERIA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6130826" y="1676400"/>
            <a:ext cx="9525" cy="78486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" name="Text 2"/>
          <p:cNvSpPr/>
          <p:nvPr/>
        </p:nvSpPr>
        <p:spPr>
          <a:xfrm>
            <a:off x="1047750" y="1676400"/>
            <a:ext cx="508846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Autoelétricos</a:t>
            </a:r>
            <a:endParaRPr lang="en-US" sz="3150" dirty="0"/>
          </a:p>
        </p:txBody>
      </p:sp>
      <p:sp>
        <p:nvSpPr>
          <p:cNvPr id="5" name="Text 3"/>
          <p:cNvSpPr/>
          <p:nvPr/>
        </p:nvSpPr>
        <p:spPr>
          <a:xfrm>
            <a:off x="1047750" y="2286000"/>
            <a:ext cx="476465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 reparo de partida, carga e chicote. Demanda por falha súbita.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47750" y="3131641"/>
            <a:ext cx="508846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1047750" y="367456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8" name="Text 6"/>
          <p:cNvSpPr/>
          <p:nvPr/>
        </p:nvSpPr>
        <p:spPr>
          <a:xfrm>
            <a:off x="1352550" y="3579316"/>
            <a:ext cx="445070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Alternadores e motores de partida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47750" y="469552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0" name="Text 8"/>
          <p:cNvSpPr/>
          <p:nvPr/>
        </p:nvSpPr>
        <p:spPr>
          <a:xfrm>
            <a:off x="1352550" y="4600277"/>
            <a:ext cx="3782869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Relés, fusíveis e chicotes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047750" y="532030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2" name="Text 10"/>
          <p:cNvSpPr/>
          <p:nvPr/>
        </p:nvSpPr>
        <p:spPr>
          <a:xfrm>
            <a:off x="1352550" y="5225058"/>
            <a:ext cx="4450708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Sensores e módulos eletrônicos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047750" y="6341269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14" name="Text 12"/>
          <p:cNvSpPr/>
          <p:nvPr/>
        </p:nvSpPr>
        <p:spPr>
          <a:xfrm>
            <a:off x="1352550" y="6246019"/>
            <a:ext cx="4640878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Conectores de chicote a granel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1680775" y="1676400"/>
            <a:ext cx="9525" cy="7848600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6" name="Text 14"/>
          <p:cNvSpPr/>
          <p:nvPr/>
        </p:nvSpPr>
        <p:spPr>
          <a:xfrm>
            <a:off x="6597551" y="1676400"/>
            <a:ext cx="508862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Suspensão e direção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6597551" y="2286000"/>
            <a:ext cx="4764805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Amortecimento, esterçamento e alinhamento. Vibração e folga perceptível.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597551" y="3131641"/>
            <a:ext cx="508862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597551" y="367456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0" name="Text 18"/>
          <p:cNvSpPr/>
          <p:nvPr/>
        </p:nvSpPr>
        <p:spPr>
          <a:xfrm>
            <a:off x="6902351" y="3579316"/>
            <a:ext cx="2273454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Amortecedores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597551" y="42993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02351" y="4204097"/>
            <a:ext cx="4450861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Terminais e barras de direção </a:t>
            </a:r>
            <a:pPr algn="l" indent="0" marL="0">
              <a:lnSpc>
                <a:spcPct val="112432"/>
              </a:lnSpc>
              <a:buNone/>
            </a:pPr>
            <a:r>
              <a:rPr lang="en-US" sz="180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(revisado)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597551" y="5320308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4" name="Text 22"/>
          <p:cNvSpPr/>
          <p:nvPr/>
        </p:nvSpPr>
        <p:spPr>
          <a:xfrm>
            <a:off x="6902351" y="5225058"/>
            <a:ext cx="4450861" cy="8304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Buchas e coxins de suspensão </a:t>
            </a:r>
            <a:pPr algn="l" indent="0" marL="0">
              <a:lnSpc>
                <a:spcPct val="112432"/>
              </a:lnSpc>
              <a:buNone/>
            </a:pPr>
            <a:r>
              <a:rPr lang="en-US" sz="180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(novas e usadas)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2147500" y="1676400"/>
            <a:ext cx="560202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Funilaria e pintura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2147500" y="2286000"/>
            <a:ext cx="5245532" cy="731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7419"/>
              </a:lnSpc>
              <a:buNone/>
            </a:pPr>
            <a:r>
              <a:rPr lang="en-US" sz="195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Reparo estrutural e estético após colisão. Demanda pontual, ticket variável.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2147500" y="3131641"/>
            <a:ext cx="56020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17" kern="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 QUE VENDEMOS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2147500" y="3674566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29" name="Text 27"/>
          <p:cNvSpPr/>
          <p:nvPr/>
        </p:nvSpPr>
        <p:spPr>
          <a:xfrm>
            <a:off x="12452300" y="3579316"/>
            <a:ext cx="328011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Para-choques e faróis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12147500" y="429934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31" name="Text 29"/>
          <p:cNvSpPr/>
          <p:nvPr/>
        </p:nvSpPr>
        <p:spPr>
          <a:xfrm>
            <a:off x="12452300" y="4204097"/>
            <a:ext cx="2552745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Molduras e frisos</a:t>
            </a:r>
            <a:endParaRPr lang="en-US" sz="2400" dirty="0"/>
          </a:p>
        </p:txBody>
      </p:sp>
      <p:sp>
        <p:nvSpPr>
          <p:cNvPr id="32" name="Shape 30"/>
          <p:cNvSpPr/>
          <p:nvPr/>
        </p:nvSpPr>
        <p:spPr>
          <a:xfrm>
            <a:off x="12147500" y="4924127"/>
            <a:ext cx="114300" cy="114300"/>
          </a:xfrm>
          <a:prstGeom prst="roundRect">
            <a:avLst>
              <a:gd name="adj" fmla="val 16667"/>
            </a:avLst>
          </a:prstGeom>
          <a:solidFill>
            <a:srgbClr val="0C6D61"/>
          </a:solidFill>
          <a:ln/>
        </p:spPr>
      </p:sp>
      <p:sp>
        <p:nvSpPr>
          <p:cNvPr id="33" name="Text 31"/>
          <p:cNvSpPr/>
          <p:nvPr/>
        </p:nvSpPr>
        <p:spPr>
          <a:xfrm>
            <a:off x="12452300" y="4828877"/>
            <a:ext cx="4901342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432"/>
              </a:lnSpc>
              <a:buNone/>
            </a:pPr>
            <a:r>
              <a:rPr lang="en-US" sz="240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Cabines completas ou em partes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0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52500"/>
            <a:ext cx="17811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44" kern="0" dirty="0">
                <a:solidFill>
                  <a:srgbClr val="F26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047750" y="1333500"/>
            <a:ext cx="17811750" cy="7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por perfil de oficina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1047750" y="2495550"/>
            <a:ext cx="4347270" cy="576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062288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2647950"/>
            <a:ext cx="409668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OFICINA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395020" y="2495550"/>
            <a:ext cx="11845230" cy="5762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5395020" y="3062288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9" name="Text 7"/>
          <p:cNvSpPr/>
          <p:nvPr/>
        </p:nvSpPr>
        <p:spPr>
          <a:xfrm>
            <a:off x="5585520" y="2647950"/>
            <a:ext cx="1181958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108" kern="0" dirty="0">
                <a:solidFill>
                  <a:srgbClr val="5F63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PEÇAS-CHAVE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7750" y="3071813"/>
            <a:ext cx="434727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047750" y="3985171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2" name="Text 10"/>
          <p:cNvSpPr/>
          <p:nvPr/>
        </p:nvSpPr>
        <p:spPr>
          <a:xfrm>
            <a:off x="1238250" y="3224213"/>
            <a:ext cx="4096688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Postos de molas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5395020" y="3071813"/>
            <a:ext cx="1184523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395020" y="3985171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5585520" y="3224213"/>
            <a:ext cx="11819587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Feixes de mola, grampos-U, buchas e pinos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047750" y="3994696"/>
            <a:ext cx="434727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47750" y="4908054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18" name="Text 16"/>
          <p:cNvSpPr/>
          <p:nvPr/>
        </p:nvSpPr>
        <p:spPr>
          <a:xfrm>
            <a:off x="1238250" y="4147096"/>
            <a:ext cx="4096688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Especialistas em freios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5395020" y="3994696"/>
            <a:ext cx="1184523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5020" y="4908054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1" name="Text 19"/>
          <p:cNvSpPr/>
          <p:nvPr/>
        </p:nvSpPr>
        <p:spPr>
          <a:xfrm>
            <a:off x="5585520" y="4147096"/>
            <a:ext cx="11819587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Lonas (peças novas), cilindros de roda, válvulas pneumáticas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1047750" y="4917579"/>
            <a:ext cx="434727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7750" y="5830937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4" name="Text 22"/>
          <p:cNvSpPr/>
          <p:nvPr/>
        </p:nvSpPr>
        <p:spPr>
          <a:xfrm>
            <a:off x="1238250" y="5069979"/>
            <a:ext cx="4096688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Postos de embreagem</a:t>
            </a:r>
            <a:endParaRPr lang="en-US" sz="1950" dirty="0"/>
          </a:p>
        </p:txBody>
      </p:sp>
      <p:sp>
        <p:nvSpPr>
          <p:cNvPr id="25" name="Shape 23"/>
          <p:cNvSpPr/>
          <p:nvPr/>
        </p:nvSpPr>
        <p:spPr>
          <a:xfrm>
            <a:off x="5395020" y="4917579"/>
            <a:ext cx="1184523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4"/>
          <p:cNvSpPr/>
          <p:nvPr/>
        </p:nvSpPr>
        <p:spPr>
          <a:xfrm>
            <a:off x="5395020" y="5830937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27" name="Text 25"/>
          <p:cNvSpPr/>
          <p:nvPr/>
        </p:nvSpPr>
        <p:spPr>
          <a:xfrm>
            <a:off x="5585520" y="5069979"/>
            <a:ext cx="11819587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Disco/platô (remanufaturados), rolamento, atuador eletro-hidráulico (ECA)</a:t>
            </a:r>
            <a:endParaRPr lang="en-US" sz="1950" dirty="0"/>
          </a:p>
        </p:txBody>
      </p:sp>
      <p:sp>
        <p:nvSpPr>
          <p:cNvPr id="28" name="Shape 26"/>
          <p:cNvSpPr/>
          <p:nvPr/>
        </p:nvSpPr>
        <p:spPr>
          <a:xfrm>
            <a:off x="1047750" y="5840462"/>
            <a:ext cx="434727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47750" y="6753820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0" name="Text 28"/>
          <p:cNvSpPr/>
          <p:nvPr/>
        </p:nvSpPr>
        <p:spPr>
          <a:xfrm>
            <a:off x="1238250" y="5992862"/>
            <a:ext cx="4096688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Sistemas de arla</a:t>
            </a:r>
            <a:endParaRPr lang="en-US" sz="1950" dirty="0"/>
          </a:p>
        </p:txBody>
      </p:sp>
      <p:sp>
        <p:nvSpPr>
          <p:cNvPr id="31" name="Shape 29"/>
          <p:cNvSpPr/>
          <p:nvPr/>
        </p:nvSpPr>
        <p:spPr>
          <a:xfrm>
            <a:off x="5395020" y="5840462"/>
            <a:ext cx="1184523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5395020" y="6753820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3" name="Text 31"/>
          <p:cNvSpPr/>
          <p:nvPr/>
        </p:nvSpPr>
        <p:spPr>
          <a:xfrm>
            <a:off x="5585520" y="5992862"/>
            <a:ext cx="11819587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Bico injetor, sensor de arla, mangueiras</a:t>
            </a:r>
            <a:endParaRPr lang="en-US" sz="1950" dirty="0"/>
          </a:p>
        </p:txBody>
      </p:sp>
      <p:sp>
        <p:nvSpPr>
          <p:cNvPr id="34" name="Shape 32"/>
          <p:cNvSpPr/>
          <p:nvPr/>
        </p:nvSpPr>
        <p:spPr>
          <a:xfrm>
            <a:off x="1047750" y="6763345"/>
            <a:ext cx="434727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1047750" y="7676704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6" name="Text 34"/>
          <p:cNvSpPr/>
          <p:nvPr/>
        </p:nvSpPr>
        <p:spPr>
          <a:xfrm>
            <a:off x="1238250" y="6915745"/>
            <a:ext cx="4096688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Autoelétricos</a:t>
            </a:r>
            <a:endParaRPr lang="en-US" sz="1950" dirty="0"/>
          </a:p>
        </p:txBody>
      </p:sp>
      <p:sp>
        <p:nvSpPr>
          <p:cNvPr id="37" name="Shape 35"/>
          <p:cNvSpPr/>
          <p:nvPr/>
        </p:nvSpPr>
        <p:spPr>
          <a:xfrm>
            <a:off x="5395020" y="6763345"/>
            <a:ext cx="1184523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395020" y="7676704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39" name="Text 37"/>
          <p:cNvSpPr/>
          <p:nvPr/>
        </p:nvSpPr>
        <p:spPr>
          <a:xfrm>
            <a:off x="5585520" y="6915745"/>
            <a:ext cx="11819587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Alternador, motor de partida, conectores a granel</a:t>
            </a:r>
            <a:endParaRPr lang="en-US" sz="1950" dirty="0"/>
          </a:p>
        </p:txBody>
      </p:sp>
      <p:sp>
        <p:nvSpPr>
          <p:cNvPr id="40" name="Shape 38"/>
          <p:cNvSpPr/>
          <p:nvPr/>
        </p:nvSpPr>
        <p:spPr>
          <a:xfrm>
            <a:off x="1047750" y="7686229"/>
            <a:ext cx="434727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1047750" y="8599587"/>
            <a:ext cx="434727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2" name="Text 40"/>
          <p:cNvSpPr/>
          <p:nvPr/>
        </p:nvSpPr>
        <p:spPr>
          <a:xfrm>
            <a:off x="1238250" y="7838629"/>
            <a:ext cx="4096688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Suspensão e direção</a:t>
            </a:r>
            <a:endParaRPr lang="en-US" sz="1950" dirty="0"/>
          </a:p>
        </p:txBody>
      </p:sp>
      <p:sp>
        <p:nvSpPr>
          <p:cNvPr id="43" name="Shape 41"/>
          <p:cNvSpPr/>
          <p:nvPr/>
        </p:nvSpPr>
        <p:spPr>
          <a:xfrm>
            <a:off x="5395020" y="7686229"/>
            <a:ext cx="11845230" cy="92288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42"/>
          <p:cNvSpPr/>
          <p:nvPr/>
        </p:nvSpPr>
        <p:spPr>
          <a:xfrm>
            <a:off x="5395020" y="8599587"/>
            <a:ext cx="11845230" cy="9525"/>
          </a:xfrm>
          <a:prstGeom prst="rect">
            <a:avLst/>
          </a:prstGeom>
          <a:solidFill>
            <a:srgbClr val="D7E2DC"/>
          </a:solidFill>
          <a:ln/>
        </p:spPr>
      </p:sp>
      <p:sp>
        <p:nvSpPr>
          <p:cNvPr id="45" name="Text 43"/>
          <p:cNvSpPr/>
          <p:nvPr/>
        </p:nvSpPr>
        <p:spPr>
          <a:xfrm>
            <a:off x="5585520" y="7838629"/>
            <a:ext cx="11819587" cy="6466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Amortecedores, terminais (revisado), buchas (novas e usadas)</a:t>
            </a:r>
            <a:endParaRPr lang="en-US" sz="1950" dirty="0"/>
          </a:p>
        </p:txBody>
      </p:sp>
      <p:sp>
        <p:nvSpPr>
          <p:cNvPr id="46" name="Shape 44"/>
          <p:cNvSpPr/>
          <p:nvPr/>
        </p:nvSpPr>
        <p:spPr>
          <a:xfrm>
            <a:off x="1047750" y="8609112"/>
            <a:ext cx="4347270" cy="915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238250" y="8761512"/>
            <a:ext cx="4096688" cy="649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Funilaria e pintura</a:t>
            </a:r>
            <a:endParaRPr lang="en-US" sz="1950" dirty="0"/>
          </a:p>
        </p:txBody>
      </p:sp>
      <p:sp>
        <p:nvSpPr>
          <p:cNvPr id="48" name="Shape 46"/>
          <p:cNvSpPr/>
          <p:nvPr/>
        </p:nvSpPr>
        <p:spPr>
          <a:xfrm>
            <a:off x="5395020" y="8609112"/>
            <a:ext cx="11845230" cy="9158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5585520" y="8761512"/>
            <a:ext cx="11819587" cy="649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012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Para-choques, faróis, cabines completas ou em partes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2026-08-07T18:11:23Z</dcterms:created>
  <dcterms:modified xsi:type="dcterms:W3CDTF">2026-08-07T18:11:23Z</dcterms:modified>
</cp:coreProperties>
</file>
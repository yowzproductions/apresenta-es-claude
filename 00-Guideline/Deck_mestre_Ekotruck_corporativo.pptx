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1-11.svg" ContentType="image/svg+xml"/>
  <Override PartName="/ppt/media/image-31-13.svg" ContentType="image/svg+xml"/>
  <Override PartName="/ppt/media/image-31-15.svg" ContentType="image/svg+xml"/>
  <Override PartName="/ppt/media/image-31-17.svg" ContentType="image/svg+xml"/>
  <Override PartName="/ppt/media/image-31-19.svg" ContentType="image/svg+xml"/>
  <Override PartName="/ppt/media/image-31-21.svg" ContentType="image/svg+xml"/>
  <Override PartName="/ppt/media/image-31-3.svg" ContentType="image/svg+xml"/>
  <Override PartName="/ppt/media/image-31-5.svg" ContentType="image/svg+xml"/>
  <Override PartName="/ppt/media/image-31-7.svg" ContentType="image/svg+xml"/>
  <Override PartName="/ppt/media/image-31-9.svg" ContentType="image/svg+xml"/>
  <Override PartName="/ppt/media/image-32-11.svg" ContentType="image/svg+xml"/>
  <Override PartName="/ppt/media/image-32-13.svg" ContentType="image/svg+xml"/>
  <Override PartName="/ppt/media/image-32-15.svg" ContentType="image/svg+xml"/>
  <Override PartName="/ppt/media/image-32-17.svg" ContentType="image/svg+xml"/>
  <Override PartName="/ppt/media/image-32-19.svg" ContentType="image/svg+xml"/>
  <Override PartName="/ppt/media/image-32-21.svg" ContentType="image/svg+xml"/>
  <Override PartName="/ppt/media/image-32-3.svg" ContentType="image/svg+xml"/>
  <Override PartName="/ppt/media/image-32-5.svg" ContentType="image/svg+xml"/>
  <Override PartName="/ppt/media/image-32-7.svg" ContentType="image/svg+xml"/>
  <Override PartName="/ppt/media/image-32-9.svg" ContentType="image/svg+xml"/>
  <Override PartName="/ppt/media/image-33-11.svg" ContentType="image/svg+xml"/>
  <Override PartName="/ppt/media/image-33-13.svg" ContentType="image/svg+xml"/>
  <Override PartName="/ppt/media/image-33-15.svg" ContentType="image/svg+xml"/>
  <Override PartName="/ppt/media/image-33-17.svg" ContentType="image/svg+xml"/>
  <Override PartName="/ppt/media/image-33-19.svg" ContentType="image/svg+xml"/>
  <Override PartName="/ppt/media/image-33-21.svg" ContentType="image/svg+xml"/>
  <Override PartName="/ppt/media/image-33-23.svg" ContentType="image/svg+xml"/>
  <Override PartName="/ppt/media/image-33-25.svg" ContentType="image/svg+xml"/>
  <Override PartName="/ppt/media/image-33-27.svg" ContentType="image/svg+xml"/>
  <Override PartName="/ppt/media/image-33-29.svg" ContentType="image/svg+xml"/>
  <Override PartName="/ppt/media/image-33-3.svg" ContentType="image/svg+xml"/>
  <Override PartName="/ppt/media/image-33-31.svg" ContentType="image/svg+xml"/>
  <Override PartName="/ppt/media/image-33-33.svg" ContentType="image/svg+xml"/>
  <Override PartName="/ppt/media/image-33-35.svg" ContentType="image/svg+xml"/>
  <Override PartName="/ppt/media/image-33-37.svg" ContentType="image/svg+xml"/>
  <Override PartName="/ppt/media/image-33-39.svg" ContentType="image/svg+xml"/>
  <Override PartName="/ppt/media/image-33-41.svg" ContentType="image/svg+xml"/>
  <Override PartName="/ppt/media/image-33-5.svg" ContentType="image/svg+xml"/>
  <Override PartName="/ppt/media/image-33-7.svg" ContentType="image/svg+xml"/>
  <Override PartName="/ppt/media/image-33-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1" r:id="rId42"/>
    <p:sldId id="292" r:id="rId43"/>
    <p:sldId id="293" r:id="rId44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Capa principal. Logo/wordmark, título, subtítulo, data e cliente. Fundo verde escuro com filete laranja.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Capa de seção / divisor de capítulo. Numeração grande, título da seção e uma linha de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Agenda / sumário. Lista numerada em duas colunas com duração estimada.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Encerramento / agradecimento. Frase curta centralizada e assinatura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Contato / próximos passos. Três ações com responsável e prazo, mais bloco de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Texto único / mensagem-chave. Poucas palavras em corpo muito grande, fundo escuro.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Bullets simples, 3 a 5 itens com marcador e frase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Duas colunas: texto à esquerda, imagem ou bloco visual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Citação / destaque. Frase grande centralizada com atribuição.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Definição de problema / contexto. Situação, complicação e implicação em três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barras verticais para comparação entre categorias. Uma barra em laranja destaca a categoria em foco.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barras horizontais para ranking. Rótulo, barra e valor alinhados em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pizza / rosca para participação percentual, com legenda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linha para evolução temporal, com grade horizontal e rótulos de eixo.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combinado barras + linha com dois eixos. Barras = valor absoluto, linha =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Cards de KPI. Três a quatro números grandes com rótulo e variação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Tabela comparativa de opções lado a lado. Uma coluna destacada como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Tabela de ranking / lista priorizada com valores e barra de proporção na célula.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Linha do tempo horizontal de marcos, com datas acima e descrições abaixo.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Roadmap / cronograma por trimestres. Barras de duração em faixas por frente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Fluxograma de processo com etapas sequenciais e setas.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Organograma / estrutura hierárquica em três níveis.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Matriz 2x2 de priorização, eixos esforço x impacto com itens posicionados.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Funil de conversão. Etapas empilhadas com volume e taxa de passagem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Antes e depois. Duas colunas espelhadas, estado anterior em cinza e novo estado em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Prós e contras em duas colunas opostas, com veredito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Matriz SWOT em quatro quadrantes.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Comparação de cenários em três colunas com trade-offs e número-chave.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Slide de equipe. Grade de fotos com nome, cargo e uma linha de responsabilidade.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Case / depoimento. Citação do cliente à esquerda e resultados numéricos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verde). Ícones monolineares da operação sobre fundo verde escuro; branco e menta para o conjunto, laranja só para os temas ambientais.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verde · menta e laranja). Ícones monolineares da operação sobre fundo verde escuro; branco e menta para o conjunto, laranja só para os temas ambientais.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branco). Mesmo conjunto em verde escuro para slides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Grade de logos. Versão completa (com assinatura) e simplificada (só marca), em fundo verde e fundo branco, com área de respiro mínima.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Referência de marca: paleta, tipografia e elementos gráficos recorrentes do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- Ponto de decisão (duas opções). Fundo escuro com badge laranja 'PONTO DE DECISÃO', contexto e dois caminhos possíveis lado a lado, cada um com a vantagem principal em destaque. Use quando a reunião precisa parar em um ponto específico para a diretoria escolher entre dois caminhos.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- Ponto de decisão (lista consolidada). Fundo escuro, badge laranja e uma linha por decisão pendente (ícone + área + do que se trata). Use para recapitular, no fechamento de uma reunião, todos os pontos que ficaram pendentes de aprovação da diretoria.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- Fluxograma de processo com bifurcação e convergência. Diferente do fluxograma linear (slide 21): aqui uma etapa se ramifica em processos paralelos (setas para baixo a partir de uma linha horizontal) e depois converge de volta a uma etapa única. Use para processos operacionais com sub-fluxos simultâneos, como desmonte, triagem ou qualquer etapa que 'bifurca aqui, converge ali'.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image" Target="../media/image-31-4.png"/><Relationship Id="rId5" Type="http://schemas.openxmlformats.org/officeDocument/2006/relationships/image" Target="../media/image-31-5.svg"/><Relationship Id="rId6" Type="http://schemas.openxmlformats.org/officeDocument/2006/relationships/image" Target="../media/image-31-6.png"/><Relationship Id="rId7" Type="http://schemas.openxmlformats.org/officeDocument/2006/relationships/image" Target="../media/image-31-7.svg"/><Relationship Id="rId8" Type="http://schemas.openxmlformats.org/officeDocument/2006/relationships/image" Target="../media/image-31-8.png"/><Relationship Id="rId9" Type="http://schemas.openxmlformats.org/officeDocument/2006/relationships/image" Target="../media/image-31-9.sv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sv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svg"/><Relationship Id="rId14" Type="http://schemas.openxmlformats.org/officeDocument/2006/relationships/image" Target="../media/image-31-14.png"/><Relationship Id="rId15" Type="http://schemas.openxmlformats.org/officeDocument/2006/relationships/image" Target="../media/image-31-15.svg"/><Relationship Id="rId16" Type="http://schemas.openxmlformats.org/officeDocument/2006/relationships/image" Target="../media/image-31-16.png"/><Relationship Id="rId17" Type="http://schemas.openxmlformats.org/officeDocument/2006/relationships/image" Target="../media/image-31-17.svg"/><Relationship Id="rId18" Type="http://schemas.openxmlformats.org/officeDocument/2006/relationships/image" Target="../media/image-31-18.png"/><Relationship Id="rId19" Type="http://schemas.openxmlformats.org/officeDocument/2006/relationships/image" Target="../media/image-31-19.svg"/><Relationship Id="rId20" Type="http://schemas.openxmlformats.org/officeDocument/2006/relationships/image" Target="../media/image-31-20.png"/><Relationship Id="rId21" Type="http://schemas.openxmlformats.org/officeDocument/2006/relationships/image" Target="../media/image-31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image" Target="../media/image-32-4.png"/><Relationship Id="rId5" Type="http://schemas.openxmlformats.org/officeDocument/2006/relationships/image" Target="../media/image-32-5.svg"/><Relationship Id="rId6" Type="http://schemas.openxmlformats.org/officeDocument/2006/relationships/image" Target="../media/image-32-6.png"/><Relationship Id="rId7" Type="http://schemas.openxmlformats.org/officeDocument/2006/relationships/image" Target="../media/image-32-7.svg"/><Relationship Id="rId8" Type="http://schemas.openxmlformats.org/officeDocument/2006/relationships/image" Target="../media/image-32-8.png"/><Relationship Id="rId9" Type="http://schemas.openxmlformats.org/officeDocument/2006/relationships/image" Target="../media/image-32-9.sv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sv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svg"/><Relationship Id="rId14" Type="http://schemas.openxmlformats.org/officeDocument/2006/relationships/image" Target="../media/image-32-14.png"/><Relationship Id="rId15" Type="http://schemas.openxmlformats.org/officeDocument/2006/relationships/image" Target="../media/image-32-15.svg"/><Relationship Id="rId16" Type="http://schemas.openxmlformats.org/officeDocument/2006/relationships/image" Target="../media/image-32-16.png"/><Relationship Id="rId17" Type="http://schemas.openxmlformats.org/officeDocument/2006/relationships/image" Target="../media/image-32-17.svg"/><Relationship Id="rId18" Type="http://schemas.openxmlformats.org/officeDocument/2006/relationships/image" Target="../media/image-32-18.png"/><Relationship Id="rId19" Type="http://schemas.openxmlformats.org/officeDocument/2006/relationships/image" Target="../media/image-32-19.svg"/><Relationship Id="rId20" Type="http://schemas.openxmlformats.org/officeDocument/2006/relationships/image" Target="../media/image-32-20.png"/><Relationship Id="rId21" Type="http://schemas.openxmlformats.org/officeDocument/2006/relationships/image" Target="../media/image-32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image" Target="../media/image-33-4.png"/><Relationship Id="rId5" Type="http://schemas.openxmlformats.org/officeDocument/2006/relationships/image" Target="../media/image-33-5.svg"/><Relationship Id="rId6" Type="http://schemas.openxmlformats.org/officeDocument/2006/relationships/image" Target="../media/image-33-6.png"/><Relationship Id="rId7" Type="http://schemas.openxmlformats.org/officeDocument/2006/relationships/image" Target="../media/image-33-7.svg"/><Relationship Id="rId8" Type="http://schemas.openxmlformats.org/officeDocument/2006/relationships/image" Target="../media/image-33-8.png"/><Relationship Id="rId9" Type="http://schemas.openxmlformats.org/officeDocument/2006/relationships/image" Target="../media/image-33-9.sv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sv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svg"/><Relationship Id="rId14" Type="http://schemas.openxmlformats.org/officeDocument/2006/relationships/image" Target="../media/image-33-14.png"/><Relationship Id="rId15" Type="http://schemas.openxmlformats.org/officeDocument/2006/relationships/image" Target="../media/image-33-15.svg"/><Relationship Id="rId16" Type="http://schemas.openxmlformats.org/officeDocument/2006/relationships/image" Target="../media/image-33-16.png"/><Relationship Id="rId17" Type="http://schemas.openxmlformats.org/officeDocument/2006/relationships/image" Target="../media/image-33-17.svg"/><Relationship Id="rId18" Type="http://schemas.openxmlformats.org/officeDocument/2006/relationships/image" Target="../media/image-33-18.png"/><Relationship Id="rId19" Type="http://schemas.openxmlformats.org/officeDocument/2006/relationships/image" Target="../media/image-33-19.svg"/><Relationship Id="rId20" Type="http://schemas.openxmlformats.org/officeDocument/2006/relationships/image" Target="../media/image-33-20.png"/><Relationship Id="rId21" Type="http://schemas.openxmlformats.org/officeDocument/2006/relationships/image" Target="../media/image-33-21.svg"/><Relationship Id="rId22" Type="http://schemas.openxmlformats.org/officeDocument/2006/relationships/image" Target="../media/image-33-22.png"/><Relationship Id="rId23" Type="http://schemas.openxmlformats.org/officeDocument/2006/relationships/image" Target="../media/image-33-23.svg"/><Relationship Id="rId24" Type="http://schemas.openxmlformats.org/officeDocument/2006/relationships/image" Target="../media/image-33-24.png"/><Relationship Id="rId25" Type="http://schemas.openxmlformats.org/officeDocument/2006/relationships/image" Target="../media/image-33-25.svg"/><Relationship Id="rId26" Type="http://schemas.openxmlformats.org/officeDocument/2006/relationships/image" Target="../media/image-33-26.png"/><Relationship Id="rId27" Type="http://schemas.openxmlformats.org/officeDocument/2006/relationships/image" Target="../media/image-33-27.svg"/><Relationship Id="rId28" Type="http://schemas.openxmlformats.org/officeDocument/2006/relationships/image" Target="../media/image-33-28.png"/><Relationship Id="rId29" Type="http://schemas.openxmlformats.org/officeDocument/2006/relationships/image" Target="../media/image-33-29.svg"/><Relationship Id="rId30" Type="http://schemas.openxmlformats.org/officeDocument/2006/relationships/image" Target="../media/image-33-30.png"/><Relationship Id="rId31" Type="http://schemas.openxmlformats.org/officeDocument/2006/relationships/image" Target="../media/image-33-31.svg"/><Relationship Id="rId32" Type="http://schemas.openxmlformats.org/officeDocument/2006/relationships/image" Target="../media/image-33-32.png"/><Relationship Id="rId33" Type="http://schemas.openxmlformats.org/officeDocument/2006/relationships/image" Target="../media/image-33-33.svg"/><Relationship Id="rId34" Type="http://schemas.openxmlformats.org/officeDocument/2006/relationships/image" Target="../media/image-33-34.png"/><Relationship Id="rId35" Type="http://schemas.openxmlformats.org/officeDocument/2006/relationships/image" Target="../media/image-33-35.svg"/><Relationship Id="rId36" Type="http://schemas.openxmlformats.org/officeDocument/2006/relationships/image" Target="../media/image-33-36.png"/><Relationship Id="rId37" Type="http://schemas.openxmlformats.org/officeDocument/2006/relationships/image" Target="../media/image-33-37.svg"/><Relationship Id="rId38" Type="http://schemas.openxmlformats.org/officeDocument/2006/relationships/image" Target="../media/image-33-38.png"/><Relationship Id="rId39" Type="http://schemas.openxmlformats.org/officeDocument/2006/relationships/image" Target="../media/image-33-39.svg"/><Relationship Id="rId40" Type="http://schemas.openxmlformats.org/officeDocument/2006/relationships/image" Target="../media/image-33-40.png"/><Relationship Id="rId41" Type="http://schemas.openxmlformats.org/officeDocument/2006/relationships/image" Target="../media/image-33-41.sv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133350" cy="609600"/>
          </a:xfrm>
          <a:prstGeom prst="rect">
            <a:avLst/>
          </a:prstGeom>
          <a:solidFill>
            <a:srgbClr val="F268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914400"/>
            <a:ext cx="3070721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2738835"/>
            <a:ext cx="178117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APRESENTAÇÃO CORPORATIVA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47750" y="3354784"/>
            <a:ext cx="13735050" cy="315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90"/>
              </a:lnSpc>
              <a:buNone/>
            </a:pPr>
            <a:r>
              <a:rPr lang="en-US" sz="7800" b="1" spc="-156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principal da apresentação em até duas linhas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779915"/>
            <a:ext cx="107918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30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Subtítulo de apoio explicando o escopo e o recorte do material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9201150"/>
            <a:ext cx="7645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 Comercial · Reunião trimestral · Março de 2026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752016" y="9201150"/>
            <a:ext cx="3837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Capa principal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3281760"/>
            <a:ext cx="2250589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385"/>
              </a:lnSpc>
              <a:buNone/>
            </a:pPr>
            <a:r>
              <a:rPr lang="en-US" sz="15000" b="1" spc="-600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3703340" y="3434160"/>
            <a:ext cx="115252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SEÇÃO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703340" y="3973909"/>
            <a:ext cx="10791825" cy="175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62"/>
              </a:lnSpc>
              <a:buNone/>
            </a:pPr>
            <a:r>
              <a:rPr lang="en-US" sz="6150" b="1" spc="-123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Desempenho comercial do trimestre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3703340" y="5958880"/>
            <a:ext cx="98107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82"/>
              </a:lnSpc>
              <a:buNone/>
            </a:pPr>
            <a:r>
              <a:rPr lang="en-US" sz="25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por linha de produto, penetração por região e evolução da carteira ativa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556953" y="9201150"/>
            <a:ext cx="40516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Divisor de seção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3935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AGENDA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vamos cobrir nesta reunião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239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6044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09750" y="2566392"/>
            <a:ext cx="667624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Contexto de mercado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145760" y="2661642"/>
            <a:ext cx="731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8 min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486900" y="3239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9486900" y="26044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248900" y="2566392"/>
            <a:ext cx="6580852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Roadmap de expansão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6498193" y="2661642"/>
            <a:ext cx="8182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10 min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47750" y="418564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" y="355064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809750" y="3512542"/>
            <a:ext cx="65988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Desempenho comercial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8075414" y="3607792"/>
            <a:ext cx="8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 min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9486900" y="418564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9486900" y="355064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248900" y="3512542"/>
            <a:ext cx="66612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necessário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6571318" y="3607792"/>
            <a:ext cx="745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min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047750" y="5144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1047750" y="44967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809750" y="4458692"/>
            <a:ext cx="66612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e retenção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8132168" y="4553942"/>
            <a:ext cx="745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min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9486900" y="5131792"/>
            <a:ext cx="7753350" cy="190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9486900" y="44967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0248900" y="4458692"/>
            <a:ext cx="665419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Decisões e próximos passos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6564868" y="4553942"/>
            <a:ext cx="7515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 min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668773" y="9264650"/>
            <a:ext cx="392862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Agenda / sumário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0" y="3664049"/>
            <a:ext cx="914400" cy="76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6902912" y="4159349"/>
            <a:ext cx="4482078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4706"/>
              </a:lnSpc>
              <a:buNone/>
            </a:pPr>
            <a:r>
              <a:rPr lang="en-US" sz="7200" b="1" spc="-144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Obrigado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748087" y="5469930"/>
            <a:ext cx="10791825" cy="105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838"/>
              </a:lnSpc>
              <a:buNone/>
            </a:pPr>
            <a:r>
              <a:rPr lang="en-US" sz="28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perguntas e alinhamento final antes da aprovação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06755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87618" y="9201150"/>
            <a:ext cx="37218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Encerramento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17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PRÓXIMOS PASSOS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acontece depois desta reunião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5194300" cy="2884488"/>
          </a:xfrm>
          <a:prstGeom prst="roundRect">
            <a:avLst>
              <a:gd name="adj" fmla="val 264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7950" y="287754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22/03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77950" y="3334742"/>
            <a:ext cx="4669917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Validar orçamento das duas primeiras praças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377950" y="4334867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Financeiro · M. Andrade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546850" y="2528292"/>
            <a:ext cx="5194300" cy="2884488"/>
          </a:xfrm>
          <a:prstGeom prst="roundRect">
            <a:avLst>
              <a:gd name="adj" fmla="val 264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77050" y="287754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05/04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877050" y="3334742"/>
            <a:ext cx="4669917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Fechar contrato com fornecedor de remanufatura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877050" y="4739680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Suprimentos · R. Lima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2045951" y="5406430"/>
            <a:ext cx="51943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12045951" y="2528292"/>
            <a:ext cx="51943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5" name="Shape 12"/>
          <p:cNvSpPr/>
          <p:nvPr/>
        </p:nvSpPr>
        <p:spPr>
          <a:xfrm>
            <a:off x="12045951" y="2528292"/>
            <a:ext cx="9525" cy="2884488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Shape 13"/>
          <p:cNvSpPr/>
          <p:nvPr/>
        </p:nvSpPr>
        <p:spPr>
          <a:xfrm>
            <a:off x="17233901" y="2528292"/>
            <a:ext cx="9525" cy="2884488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7" name="Text 14"/>
          <p:cNvSpPr/>
          <p:nvPr/>
        </p:nvSpPr>
        <p:spPr>
          <a:xfrm>
            <a:off x="12376150" y="290929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18/04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2376150" y="3366492"/>
            <a:ext cx="4669917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Iniciar piloto de vendas na região Sul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12376150" y="4366617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· P. Duarte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47750" y="5869980"/>
            <a:ext cx="16192500" cy="1079500"/>
          </a:xfrm>
          <a:prstGeom prst="roundRect">
            <a:avLst>
              <a:gd name="adj" fmla="val 7059"/>
            </a:avLst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428750" y="6212880"/>
            <a:ext cx="480393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do time responsável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864575" y="6235105"/>
            <a:ext cx="389806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comercial@ekotruck.com.br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1941671" y="6235105"/>
            <a:ext cx="256120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+55 41 3000-0000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4803438" y="6235105"/>
            <a:ext cx="226139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ekotruck.com.br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688788" y="9264650"/>
            <a:ext cx="50066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Contato / próximos passos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5410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MENSAGEM-CHAVE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461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606550"/>
            <a:ext cx="14716125" cy="336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49"/>
              </a:lnSpc>
              <a:buNone/>
            </a:pPr>
            <a:r>
              <a:rPr lang="en-US" sz="8250" b="1" spc="-247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Cada caminhão fora de garantia é um cliente que ninguém está atendendo</a:t>
            </a:r>
            <a:endParaRPr lang="en-US" sz="8250" dirty="0"/>
          </a:p>
        </p:txBody>
      </p:sp>
      <p:sp>
        <p:nvSpPr>
          <p:cNvPr id="5" name="Shape 2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748096" y="9201150"/>
            <a:ext cx="60413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Texto único / mensagem-chave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3934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CONTEXTO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Quatro movimentos explicam o resultado do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737842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447800" y="2566392"/>
            <a:ext cx="14304074" cy="10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base de veículos fora de garantia cresceu 14% e concentra-se em cinco estados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1047750" y="4057849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8" name="Text 5"/>
          <p:cNvSpPr/>
          <p:nvPr/>
        </p:nvSpPr>
        <p:spPr>
          <a:xfrm>
            <a:off x="1447800" y="3886399"/>
            <a:ext cx="14737805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passaram a responder por um quarto da receita da unidade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1047750" y="4889302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0" name="Text 7"/>
          <p:cNvSpPr/>
          <p:nvPr/>
        </p:nvSpPr>
        <p:spPr>
          <a:xfrm>
            <a:off x="1447800" y="4717852"/>
            <a:ext cx="15219770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prazo médio de entrega caiu de 9 para 6 dias após a nova malha logística</a:t>
            </a:r>
            <a:endParaRPr lang="en-US" sz="2850" dirty="0"/>
          </a:p>
        </p:txBody>
      </p:sp>
      <p:sp>
        <p:nvSpPr>
          <p:cNvPr id="11" name="Shape 8"/>
          <p:cNvSpPr/>
          <p:nvPr/>
        </p:nvSpPr>
        <p:spPr>
          <a:xfrm>
            <a:off x="1047750" y="5720755"/>
            <a:ext cx="133350" cy="133350"/>
          </a:xfrm>
          <a:prstGeom prst="ellipse">
            <a:avLst/>
          </a:prstGeom>
          <a:solidFill>
            <a:srgbClr val="F26800"/>
          </a:solidFill>
          <a:ln/>
        </p:spPr>
      </p:sp>
      <p:sp>
        <p:nvSpPr>
          <p:cNvPr id="12" name="Text 9"/>
          <p:cNvSpPr/>
          <p:nvPr/>
        </p:nvSpPr>
        <p:spPr>
          <a:xfrm>
            <a:off x="1447800" y="5549305"/>
            <a:ext cx="14322743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 seguem limitados pela capacidade de bancada</a:t>
            </a:r>
            <a:endParaRPr lang="en-US" sz="2850" dirty="0"/>
          </a:p>
        </p:txBody>
      </p:sp>
      <p:sp>
        <p:nvSpPr>
          <p:cNvPr id="13" name="Shape 1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101565" y="9264650"/>
            <a:ext cx="34525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Bullets simples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475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6678275" cy="1360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o centro de desmonte alimenta a venda de peças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1047750" y="3189684"/>
            <a:ext cx="7985950" cy="1916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Cada veículo recebido é catalogado por conjunto antes da desmontagem, o que permite precificar peça a peça e reservar itens críticos para a carteira ativa.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5353447"/>
            <a:ext cx="7985950" cy="144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25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processo hoje roda em dois turnos, com capacidade de 42 veículos por mês e taxa de aproveitamento de 78% do peso recebido.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7123906"/>
            <a:ext cx="1608078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42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1047750" y="7765256"/>
            <a:ext cx="16080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veículos/mês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966839" y="7123906"/>
            <a:ext cx="203449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78%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2966839" y="7765256"/>
            <a:ext cx="20344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aproveitamento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273576" y="7123906"/>
            <a:ext cx="1629688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dias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5273576" y="7765256"/>
            <a:ext cx="16296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médio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9486900" y="3189684"/>
            <a:ext cx="7753350" cy="4965700"/>
          </a:xfrm>
          <a:prstGeom prst="roundRect">
            <a:avLst>
              <a:gd name="adj" fmla="val 153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94727" y="5497910"/>
            <a:ext cx="697135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foto do pátio ou diagrama do fluxo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50923" y="9264650"/>
            <a:ext cx="55982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Duas colunas (texto + imagem)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8563" y="914400"/>
            <a:ext cx="1785938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2944019"/>
            <a:ext cx="171831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050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“</a:t>
            </a:r>
            <a:endParaRPr lang="en-US" sz="10500" dirty="0"/>
          </a:p>
        </p:txBody>
      </p:sp>
      <p:sp>
        <p:nvSpPr>
          <p:cNvPr id="4" name="Text 1"/>
          <p:cNvSpPr/>
          <p:nvPr/>
        </p:nvSpPr>
        <p:spPr>
          <a:xfrm>
            <a:off x="1333500" y="3972719"/>
            <a:ext cx="14519910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3"/>
              </a:lnSpc>
              <a:buNone/>
            </a:pPr>
            <a:r>
              <a:rPr lang="en-US" sz="5250" spc="-5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Passamos a resolver o caminhão parado em dois dias. Antes disso, a frota inteira ficava esperando peça de importação.</a:t>
            </a:r>
            <a:endParaRPr lang="en-US" sz="5250" dirty="0"/>
          </a:p>
        </p:txBody>
      </p:sp>
      <p:sp>
        <p:nvSpPr>
          <p:cNvPr id="5" name="Shape 2"/>
          <p:cNvSpPr/>
          <p:nvPr/>
        </p:nvSpPr>
        <p:spPr>
          <a:xfrm>
            <a:off x="1333500" y="7065169"/>
            <a:ext cx="533400" cy="28575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6" name="Text 3"/>
          <p:cNvSpPr/>
          <p:nvPr/>
        </p:nvSpPr>
        <p:spPr>
          <a:xfrm>
            <a:off x="2076450" y="6892132"/>
            <a:ext cx="90925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Carlos Menezes · Gerente de frota, Transportes Vale Norte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333500" y="9010650"/>
            <a:ext cx="156210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5"/>
          <p:cNvSpPr/>
          <p:nvPr/>
        </p:nvSpPr>
        <p:spPr>
          <a:xfrm>
            <a:off x="1333500" y="92265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45208" y="9226550"/>
            <a:ext cx="408022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Citação / destaque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162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PROBLEMA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está no caminho do crescimento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Shape 3"/>
          <p:cNvSpPr/>
          <p:nvPr/>
        </p:nvSpPr>
        <p:spPr>
          <a:xfrm>
            <a:off x="6438900" y="2534642"/>
            <a:ext cx="9525" cy="3428603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2915642"/>
            <a:ext cx="5469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SITUAÇÃO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47750" y="3449042"/>
            <a:ext cx="5121212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frota nacional acima de sete anos soma 61 mil veículos e sai da rede autorizada logo após o fim da garantia.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1836400" y="2534642"/>
            <a:ext cx="9525" cy="3428603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6864350" y="2915642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COMPLICAÇÃO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864350" y="3449042"/>
            <a:ext cx="4689539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Esse cliente passa a comprar de oficinas independentes, sem rastreabilidade de peça e sem histórico de manutenção.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261850" y="2915642"/>
            <a:ext cx="547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IMPLICAÇÃO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261850" y="3449042"/>
            <a:ext cx="5127752" cy="217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Perdemos a maior janela de receita de pós-venda do ciclo de vida do veículo — justamente quando o consumo de peças acelera.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047750" y="6382345"/>
            <a:ext cx="16192500" cy="1866900"/>
          </a:xfrm>
          <a:prstGeom prst="roundRect">
            <a:avLst>
              <a:gd name="adj" fmla="val 4082"/>
            </a:avLst>
          </a:prstGeom>
          <a:solidFill>
            <a:srgbClr val="012D2B"/>
          </a:solidFill>
          <a:ln/>
        </p:spPr>
      </p:sp>
      <p:sp>
        <p:nvSpPr>
          <p:cNvPr id="15" name="Text 12"/>
          <p:cNvSpPr/>
          <p:nvPr/>
        </p:nvSpPr>
        <p:spPr>
          <a:xfrm>
            <a:off x="1466850" y="6744295"/>
            <a:ext cx="270408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45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R$ 380 mi</a:t>
            </a:r>
            <a:endParaRPr lang="en-US" sz="4500" dirty="0"/>
          </a:p>
        </p:txBody>
      </p:sp>
      <p:sp>
        <p:nvSpPr>
          <p:cNvPr id="16" name="Text 13"/>
          <p:cNvSpPr/>
          <p:nvPr/>
        </p:nvSpPr>
        <p:spPr>
          <a:xfrm>
            <a:off x="4473178" y="6904336"/>
            <a:ext cx="12718411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 potencial anual de peças e serviços nessa faixa de frota, hoje capturado fora da rede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162162" y="9264650"/>
            <a:ext cx="448589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Definição de problema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4150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POR LINHA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lideram o faturamento do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8489950"/>
            <a:ext cx="16192500" cy="19050"/>
          </a:xfrm>
          <a:prstGeom prst="rect">
            <a:avLst/>
          </a:prstGeom>
          <a:solidFill>
            <a:srgbClr val="012D2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52092"/>
            <a:ext cx="16192500" cy="6056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1862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370681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8176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Importadas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9256712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Usadas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203166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Suspensão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480661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Serviços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0"/>
          <p:cNvSpPr/>
          <p:nvPr/>
        </p:nvSpPr>
        <p:spPr>
          <a:xfrm>
            <a:off x="1047750" y="9264650"/>
            <a:ext cx="53820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Base: faturamento 1T26 · dados de exemplo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660611" y="9264650"/>
            <a:ext cx="50376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barras verticais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603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RANKING DE PRAÇAS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Penetração de mercado por região atendida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90192"/>
            <a:ext cx="16192500" cy="44005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3"/>
          <p:cNvSpPr/>
          <p:nvPr/>
        </p:nvSpPr>
        <p:spPr>
          <a:xfrm>
            <a:off x="1047750" y="9264650"/>
            <a:ext cx="781588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Goiás é a praça com maior espaço aberto · dados de exemplo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519124" y="9264650"/>
            <a:ext cx="519323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Barras horizontais (ranking)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45035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COMPOSIÇÃO DA RECEITA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Participação de cada frente no faturamento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521571"/>
            <a:ext cx="4381500" cy="4381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62750" y="47280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Shape 3"/>
          <p:cNvSpPr/>
          <p:nvPr/>
        </p:nvSpPr>
        <p:spPr>
          <a:xfrm>
            <a:off x="6762750" y="4159746"/>
            <a:ext cx="247650" cy="2476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8" name="Text 4"/>
          <p:cNvSpPr/>
          <p:nvPr/>
        </p:nvSpPr>
        <p:spPr>
          <a:xfrm>
            <a:off x="7258050" y="4074021"/>
            <a:ext cx="99468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e desmonte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16548299" y="4048621"/>
            <a:ext cx="768152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42%</a:t>
            </a:r>
            <a:endParaRPr lang="en-US" sz="2850" dirty="0"/>
          </a:p>
        </p:txBody>
      </p:sp>
      <p:sp>
        <p:nvSpPr>
          <p:cNvPr id="10" name="Shape 6"/>
          <p:cNvSpPr/>
          <p:nvPr/>
        </p:nvSpPr>
        <p:spPr>
          <a:xfrm>
            <a:off x="6762750" y="56805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7"/>
          <p:cNvSpPr/>
          <p:nvPr/>
        </p:nvSpPr>
        <p:spPr>
          <a:xfrm>
            <a:off x="6762750" y="5112246"/>
            <a:ext cx="247650" cy="24765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12" name="Text 8"/>
          <p:cNvSpPr/>
          <p:nvPr/>
        </p:nvSpPr>
        <p:spPr>
          <a:xfrm>
            <a:off x="7258050" y="5026521"/>
            <a:ext cx="99777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novas importadas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16576378" y="5001121"/>
            <a:ext cx="74007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27%</a:t>
            </a:r>
            <a:endParaRPr lang="en-US" sz="2850" dirty="0"/>
          </a:p>
        </p:txBody>
      </p:sp>
      <p:sp>
        <p:nvSpPr>
          <p:cNvPr id="14" name="Shape 10"/>
          <p:cNvSpPr/>
          <p:nvPr/>
        </p:nvSpPr>
        <p:spPr>
          <a:xfrm>
            <a:off x="6762750" y="66330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5" name="Shape 11"/>
          <p:cNvSpPr/>
          <p:nvPr/>
        </p:nvSpPr>
        <p:spPr>
          <a:xfrm>
            <a:off x="6762750" y="6064746"/>
            <a:ext cx="247650" cy="247650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6" name="Text 12"/>
          <p:cNvSpPr/>
          <p:nvPr/>
        </p:nvSpPr>
        <p:spPr>
          <a:xfrm>
            <a:off x="7258050" y="5979021"/>
            <a:ext cx="100187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e câmbios remanufaturados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6613684" y="5953621"/>
            <a:ext cx="702766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19%</a:t>
            </a:r>
            <a:endParaRPr lang="en-US" sz="2850" dirty="0"/>
          </a:p>
        </p:txBody>
      </p:sp>
      <p:sp>
        <p:nvSpPr>
          <p:cNvPr id="18" name="Shape 14"/>
          <p:cNvSpPr/>
          <p:nvPr/>
        </p:nvSpPr>
        <p:spPr>
          <a:xfrm>
            <a:off x="6762750" y="7017246"/>
            <a:ext cx="247650" cy="2476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9" name="Text 15"/>
          <p:cNvSpPr/>
          <p:nvPr/>
        </p:nvSpPr>
        <p:spPr>
          <a:xfrm>
            <a:off x="7258050" y="6931521"/>
            <a:ext cx="100350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Serviços de oficina</a:t>
            </a:r>
            <a:endParaRPr lang="en-US" sz="2550" dirty="0"/>
          </a:p>
        </p:txBody>
      </p:sp>
      <p:sp>
        <p:nvSpPr>
          <p:cNvPr id="20" name="Text 16"/>
          <p:cNvSpPr/>
          <p:nvPr/>
        </p:nvSpPr>
        <p:spPr>
          <a:xfrm>
            <a:off x="16628468" y="6906121"/>
            <a:ext cx="68798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12%</a:t>
            </a:r>
            <a:endParaRPr lang="en-US" sz="2850" dirty="0"/>
          </a:p>
        </p:txBody>
      </p:sp>
      <p:sp>
        <p:nvSpPr>
          <p:cNvPr id="21" name="Shape 17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8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3806190" y="9264650"/>
            <a:ext cx="37774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rosca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358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EVOLUÇÃO MENSAL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ativa de clientes ao longo de doze meses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13992"/>
            <a:ext cx="16192500" cy="663475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3"/>
          <p:cNvSpPr/>
          <p:nvPr/>
        </p:nvSpPr>
        <p:spPr>
          <a:xfrm>
            <a:off x="1047750" y="9264650"/>
            <a:ext cx="82147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Clientes com pelo menos uma compra no mês · dados de exemplo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3897174" y="9264650"/>
            <a:ext cx="36773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linha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3943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E MARGEM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cresce sem perder margem bruta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318742"/>
            <a:ext cx="247650" cy="2476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2280642"/>
            <a:ext cx="190986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(R$ mi)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3681512" y="2413992"/>
            <a:ext cx="323850" cy="571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8" name="Text 5"/>
          <p:cNvSpPr/>
          <p:nvPr/>
        </p:nvSpPr>
        <p:spPr>
          <a:xfrm>
            <a:off x="4138712" y="2280642"/>
            <a:ext cx="23379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bruta (%)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33092"/>
            <a:ext cx="16192500" cy="62156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Text 7"/>
          <p:cNvSpPr/>
          <p:nvPr/>
        </p:nvSpPr>
        <p:spPr>
          <a:xfrm>
            <a:off x="1047750" y="9264650"/>
            <a:ext cx="43663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2T26 projetado · dados de exemplo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2216508" y="9264650"/>
            <a:ext cx="552611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combinado (dois eixos)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3142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INDICADORES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Resultado do trimestre em quatro números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7000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líquida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97000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R$ 31,9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mi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1397000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+18,4% vs. 4T25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172075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21325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bruta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521325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34,2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%</a:t>
            </a:r>
            <a:endParaRPr lang="en-US" sz="5700" dirty="0"/>
          </a:p>
        </p:txBody>
      </p:sp>
      <p:sp>
        <p:nvSpPr>
          <p:cNvPr id="12" name="Text 9"/>
          <p:cNvSpPr/>
          <p:nvPr/>
        </p:nvSpPr>
        <p:spPr>
          <a:xfrm>
            <a:off x="5521325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+2,1 p.p.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9296400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45650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Clientes ativos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645650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742</a:t>
            </a:r>
            <a:endParaRPr lang="en-US" sz="5700" dirty="0"/>
          </a:p>
        </p:txBody>
      </p:sp>
      <p:sp>
        <p:nvSpPr>
          <p:cNvPr id="16" name="Text 13"/>
          <p:cNvSpPr/>
          <p:nvPr/>
        </p:nvSpPr>
        <p:spPr>
          <a:xfrm>
            <a:off x="9645650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+96 no trimestre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3420725" y="5498108"/>
            <a:ext cx="3819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Shape 15"/>
          <p:cNvSpPr/>
          <p:nvPr/>
        </p:nvSpPr>
        <p:spPr>
          <a:xfrm>
            <a:off x="13420725" y="2566392"/>
            <a:ext cx="3819525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9" name="Shape 16"/>
          <p:cNvSpPr/>
          <p:nvPr/>
        </p:nvSpPr>
        <p:spPr>
          <a:xfrm>
            <a:off x="13420725" y="2566392"/>
            <a:ext cx="9525" cy="2938066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Shape 17"/>
          <p:cNvSpPr/>
          <p:nvPr/>
        </p:nvSpPr>
        <p:spPr>
          <a:xfrm>
            <a:off x="17233900" y="2566392"/>
            <a:ext cx="9525" cy="2938066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1" name="Text 18"/>
          <p:cNvSpPr/>
          <p:nvPr/>
        </p:nvSpPr>
        <p:spPr>
          <a:xfrm>
            <a:off x="13769976" y="2985492"/>
            <a:ext cx="321465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médio de entrega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3769976" y="3836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dias</a:t>
            </a:r>
            <a:endParaRPr lang="en-US" sz="5700" dirty="0"/>
          </a:p>
        </p:txBody>
      </p:sp>
      <p:sp>
        <p:nvSpPr>
          <p:cNvPr id="23" name="Text 20"/>
          <p:cNvSpPr/>
          <p:nvPr/>
        </p:nvSpPr>
        <p:spPr>
          <a:xfrm>
            <a:off x="13769976" y="4767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91B1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+0,4 dia vs. meta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47750" y="5961658"/>
            <a:ext cx="16192500" cy="1074341"/>
          </a:xfrm>
          <a:prstGeom prst="roundRect">
            <a:avLst>
              <a:gd name="adj" fmla="val 7093"/>
            </a:avLst>
          </a:prstGeom>
          <a:solidFill>
            <a:srgbClr val="EAF0EC"/>
          </a:solidFill>
          <a:ln/>
        </p:spPr>
      </p:sp>
      <p:sp>
        <p:nvSpPr>
          <p:cNvPr id="25" name="Text 22"/>
          <p:cNvSpPr/>
          <p:nvPr/>
        </p:nvSpPr>
        <p:spPr>
          <a:xfrm>
            <a:off x="1428750" y="6285508"/>
            <a:ext cx="15916275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crescimento veio de volume, não de preço: o ticket médio ficou estável em R$ 4.180 no período.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047750" y="9264650"/>
            <a:ext cx="462745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Fechamento 1T26 · dados de exemplo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194830" y="9264650"/>
            <a:ext cx="33499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Cards de KPI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41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COMPARAÇÃO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Três modelos de operação para a nova praça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4200525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" name="Shape 3"/>
          <p:cNvSpPr/>
          <p:nvPr/>
        </p:nvSpPr>
        <p:spPr>
          <a:xfrm>
            <a:off x="1047750" y="32934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4"/>
          <p:cNvSpPr/>
          <p:nvPr/>
        </p:nvSpPr>
        <p:spPr>
          <a:xfrm>
            <a:off x="1314450" y="2718792"/>
            <a:ext cx="3793141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Critério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5248275" y="2490192"/>
            <a:ext cx="2996307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9" name="Shape 6"/>
          <p:cNvSpPr/>
          <p:nvPr/>
        </p:nvSpPr>
        <p:spPr>
          <a:xfrm>
            <a:off x="5248275" y="32934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5514975" y="2718792"/>
            <a:ext cx="2552796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· Filial própria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244582" y="2490192"/>
            <a:ext cx="4175224" cy="809625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2" name="Shape 9"/>
          <p:cNvSpPr/>
          <p:nvPr/>
        </p:nvSpPr>
        <p:spPr>
          <a:xfrm>
            <a:off x="8244582" y="3293467"/>
            <a:ext cx="4175224" cy="9525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3" name="Text 10"/>
          <p:cNvSpPr/>
          <p:nvPr/>
        </p:nvSpPr>
        <p:spPr>
          <a:xfrm>
            <a:off x="8511282" y="2718792"/>
            <a:ext cx="3767081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 · Distribuidor parceiro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2419807" y="2490192"/>
            <a:ext cx="4820444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5" name="Shape 12"/>
          <p:cNvSpPr/>
          <p:nvPr/>
        </p:nvSpPr>
        <p:spPr>
          <a:xfrm>
            <a:off x="12419807" y="32934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2686507" y="2718792"/>
            <a:ext cx="4431657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 · Representante autônomo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47750" y="41697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1314450" y="35474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inicial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5248275" y="41697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Text 17"/>
          <p:cNvSpPr/>
          <p:nvPr/>
        </p:nvSpPr>
        <p:spPr>
          <a:xfrm>
            <a:off x="5514975" y="35474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R$ 2,4 mi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8244582" y="32998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22" name="Shape 19"/>
          <p:cNvSpPr/>
          <p:nvPr/>
        </p:nvSpPr>
        <p:spPr>
          <a:xfrm>
            <a:off x="8244582" y="41697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3" name="Text 20"/>
          <p:cNvSpPr/>
          <p:nvPr/>
        </p:nvSpPr>
        <p:spPr>
          <a:xfrm>
            <a:off x="8511282" y="35474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R$ 680 mil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2419807" y="41697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5" name="Text 22"/>
          <p:cNvSpPr/>
          <p:nvPr/>
        </p:nvSpPr>
        <p:spPr>
          <a:xfrm>
            <a:off x="12686507" y="35474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R$ 120 mil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1047750" y="50460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314450" y="44237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de abertura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5248275" y="50460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9" name="Text 26"/>
          <p:cNvSpPr/>
          <p:nvPr/>
        </p:nvSpPr>
        <p:spPr>
          <a:xfrm>
            <a:off x="5514975" y="44237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meses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8244582" y="41761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31" name="Shape 28"/>
          <p:cNvSpPr/>
          <p:nvPr/>
        </p:nvSpPr>
        <p:spPr>
          <a:xfrm>
            <a:off x="8244582" y="50460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8511282" y="44237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 meses</a:t>
            </a:r>
            <a:endParaRPr lang="en-US" sz="2250" dirty="0"/>
          </a:p>
        </p:txBody>
      </p:sp>
      <p:sp>
        <p:nvSpPr>
          <p:cNvPr id="33" name="Shape 30"/>
          <p:cNvSpPr/>
          <p:nvPr/>
        </p:nvSpPr>
        <p:spPr>
          <a:xfrm>
            <a:off x="12419807" y="50460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4" name="Text 31"/>
          <p:cNvSpPr/>
          <p:nvPr/>
        </p:nvSpPr>
        <p:spPr>
          <a:xfrm>
            <a:off x="12686507" y="44237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semanas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1047750" y="59223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6" name="Text 33"/>
          <p:cNvSpPr/>
          <p:nvPr/>
        </p:nvSpPr>
        <p:spPr>
          <a:xfrm>
            <a:off x="1314450" y="53000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Controle da experiência</a:t>
            </a:r>
            <a:endParaRPr lang="en-US" sz="2250" dirty="0"/>
          </a:p>
        </p:txBody>
      </p:sp>
      <p:sp>
        <p:nvSpPr>
          <p:cNvPr id="37" name="Shape 34"/>
          <p:cNvSpPr/>
          <p:nvPr/>
        </p:nvSpPr>
        <p:spPr>
          <a:xfrm>
            <a:off x="5248275" y="59223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8" name="Text 35"/>
          <p:cNvSpPr/>
          <p:nvPr/>
        </p:nvSpPr>
        <p:spPr>
          <a:xfrm>
            <a:off x="5514975" y="53000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Total</a:t>
            </a:r>
            <a:endParaRPr lang="en-US" sz="2250" dirty="0"/>
          </a:p>
        </p:txBody>
      </p:sp>
      <p:sp>
        <p:nvSpPr>
          <p:cNvPr id="39" name="Shape 36"/>
          <p:cNvSpPr/>
          <p:nvPr/>
        </p:nvSpPr>
        <p:spPr>
          <a:xfrm>
            <a:off x="8244582" y="50524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40" name="Shape 37"/>
          <p:cNvSpPr/>
          <p:nvPr/>
        </p:nvSpPr>
        <p:spPr>
          <a:xfrm>
            <a:off x="8244582" y="59223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1" name="Text 38"/>
          <p:cNvSpPr/>
          <p:nvPr/>
        </p:nvSpPr>
        <p:spPr>
          <a:xfrm>
            <a:off x="8511282" y="53000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Compartilhado</a:t>
            </a:r>
            <a:endParaRPr lang="en-US" sz="2250" dirty="0"/>
          </a:p>
        </p:txBody>
      </p:sp>
      <p:sp>
        <p:nvSpPr>
          <p:cNvPr id="42" name="Shape 39"/>
          <p:cNvSpPr/>
          <p:nvPr/>
        </p:nvSpPr>
        <p:spPr>
          <a:xfrm>
            <a:off x="12419807" y="59223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3" name="Text 40"/>
          <p:cNvSpPr/>
          <p:nvPr/>
        </p:nvSpPr>
        <p:spPr>
          <a:xfrm>
            <a:off x="12686507" y="53000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Baixo</a:t>
            </a:r>
            <a:endParaRPr lang="en-US" sz="2250" dirty="0"/>
          </a:p>
        </p:txBody>
      </p:sp>
      <p:sp>
        <p:nvSpPr>
          <p:cNvPr id="44" name="Shape 41"/>
          <p:cNvSpPr/>
          <p:nvPr/>
        </p:nvSpPr>
        <p:spPr>
          <a:xfrm>
            <a:off x="1047750" y="67986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Text 42"/>
          <p:cNvSpPr/>
          <p:nvPr/>
        </p:nvSpPr>
        <p:spPr>
          <a:xfrm>
            <a:off x="1314450" y="61763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retida</a:t>
            </a:r>
            <a:endParaRPr lang="en-US" sz="2250" dirty="0"/>
          </a:p>
        </p:txBody>
      </p:sp>
      <p:sp>
        <p:nvSpPr>
          <p:cNvPr id="46" name="Shape 43"/>
          <p:cNvSpPr/>
          <p:nvPr/>
        </p:nvSpPr>
        <p:spPr>
          <a:xfrm>
            <a:off x="5248275" y="67986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7" name="Text 44"/>
          <p:cNvSpPr/>
          <p:nvPr/>
        </p:nvSpPr>
        <p:spPr>
          <a:xfrm>
            <a:off x="5514975" y="61763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38%</a:t>
            </a:r>
            <a:endParaRPr lang="en-US" sz="2250" dirty="0"/>
          </a:p>
        </p:txBody>
      </p:sp>
      <p:sp>
        <p:nvSpPr>
          <p:cNvPr id="48" name="Shape 45"/>
          <p:cNvSpPr/>
          <p:nvPr/>
        </p:nvSpPr>
        <p:spPr>
          <a:xfrm>
            <a:off x="8244582" y="59287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49" name="Shape 46"/>
          <p:cNvSpPr/>
          <p:nvPr/>
        </p:nvSpPr>
        <p:spPr>
          <a:xfrm>
            <a:off x="8244582" y="67986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0" name="Text 47"/>
          <p:cNvSpPr/>
          <p:nvPr/>
        </p:nvSpPr>
        <p:spPr>
          <a:xfrm>
            <a:off x="8511282" y="61763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29%</a:t>
            </a:r>
            <a:endParaRPr lang="en-US" sz="2250" dirty="0"/>
          </a:p>
        </p:txBody>
      </p:sp>
      <p:sp>
        <p:nvSpPr>
          <p:cNvPr id="51" name="Shape 48"/>
          <p:cNvSpPr/>
          <p:nvPr/>
        </p:nvSpPr>
        <p:spPr>
          <a:xfrm>
            <a:off x="12419807" y="67986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2" name="Text 49"/>
          <p:cNvSpPr/>
          <p:nvPr/>
        </p:nvSpPr>
        <p:spPr>
          <a:xfrm>
            <a:off x="12686507" y="61763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22%</a:t>
            </a:r>
            <a:endParaRPr lang="en-US" sz="2250" dirty="0"/>
          </a:p>
        </p:txBody>
      </p:sp>
      <p:sp>
        <p:nvSpPr>
          <p:cNvPr id="53" name="Text 50"/>
          <p:cNvSpPr/>
          <p:nvPr/>
        </p:nvSpPr>
        <p:spPr>
          <a:xfrm>
            <a:off x="1314450" y="7052667"/>
            <a:ext cx="3793141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execução</a:t>
            </a:r>
            <a:endParaRPr lang="en-US" sz="2250" dirty="0"/>
          </a:p>
        </p:txBody>
      </p:sp>
      <p:sp>
        <p:nvSpPr>
          <p:cNvPr id="54" name="Text 51"/>
          <p:cNvSpPr/>
          <p:nvPr/>
        </p:nvSpPr>
        <p:spPr>
          <a:xfrm>
            <a:off x="5514975" y="7052667"/>
            <a:ext cx="2552796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Alto</a:t>
            </a:r>
            <a:endParaRPr lang="en-US" sz="2250" dirty="0"/>
          </a:p>
        </p:txBody>
      </p:sp>
      <p:sp>
        <p:nvSpPr>
          <p:cNvPr id="55" name="Shape 52"/>
          <p:cNvSpPr/>
          <p:nvPr/>
        </p:nvSpPr>
        <p:spPr>
          <a:xfrm>
            <a:off x="8244582" y="6805017"/>
            <a:ext cx="4175224" cy="873125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56" name="Text 53"/>
          <p:cNvSpPr/>
          <p:nvPr/>
        </p:nvSpPr>
        <p:spPr>
          <a:xfrm>
            <a:off x="8511282" y="7052667"/>
            <a:ext cx="3767081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Médio · recomendado</a:t>
            </a:r>
            <a:endParaRPr lang="en-US" sz="2250" dirty="0"/>
          </a:p>
        </p:txBody>
      </p:sp>
      <p:sp>
        <p:nvSpPr>
          <p:cNvPr id="57" name="Text 54"/>
          <p:cNvSpPr/>
          <p:nvPr/>
        </p:nvSpPr>
        <p:spPr>
          <a:xfrm>
            <a:off x="12686507" y="7052667"/>
            <a:ext cx="4431657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Médio</a:t>
            </a:r>
            <a:endParaRPr lang="en-US" sz="2250" dirty="0"/>
          </a:p>
        </p:txBody>
      </p:sp>
      <p:sp>
        <p:nvSpPr>
          <p:cNvPr id="58" name="Shape 55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9" name="Text 56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3454559" y="9264650"/>
            <a:ext cx="41642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Tabela comparativa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42012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PRIORIDADE COMERCIAL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 maiores grupos por potencial não atendido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52092"/>
            <a:ext cx="1219200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276350" y="2642592"/>
            <a:ext cx="838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66950" y="2452092"/>
            <a:ext cx="5405339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8" name="Text 5"/>
          <p:cNvSpPr/>
          <p:nvPr/>
        </p:nvSpPr>
        <p:spPr>
          <a:xfrm>
            <a:off x="2495550" y="2642592"/>
            <a:ext cx="511029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Grupo econômico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72289" y="2452092"/>
            <a:ext cx="1628974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0" name="Text 7"/>
          <p:cNvSpPr/>
          <p:nvPr/>
        </p:nvSpPr>
        <p:spPr>
          <a:xfrm>
            <a:off x="7900889" y="2642592"/>
            <a:ext cx="124797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301262" y="2452092"/>
            <a:ext cx="3367385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2" name="Text 9"/>
          <p:cNvSpPr/>
          <p:nvPr/>
        </p:nvSpPr>
        <p:spPr>
          <a:xfrm>
            <a:off x="9529862" y="2642592"/>
            <a:ext cx="301120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Potencial anual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2668648" y="2452092"/>
            <a:ext cx="4571603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4" name="Text 11"/>
          <p:cNvSpPr/>
          <p:nvPr/>
        </p:nvSpPr>
        <p:spPr>
          <a:xfrm>
            <a:off x="12897248" y="2642592"/>
            <a:ext cx="425155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Penetração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750" y="38586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276350" y="3322042"/>
            <a:ext cx="838200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2266950" y="38586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2495550" y="3322042"/>
            <a:ext cx="5110299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Transportes Vale Norte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672289" y="38586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Text 17"/>
          <p:cNvSpPr/>
          <p:nvPr/>
        </p:nvSpPr>
        <p:spPr>
          <a:xfrm>
            <a:off x="7900889" y="3322042"/>
            <a:ext cx="1247974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312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9301262" y="38586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9529862" y="3322042"/>
            <a:ext cx="3011207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R$ 8,4 mi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2668648" y="38586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Shape 21"/>
          <p:cNvSpPr/>
          <p:nvPr/>
        </p:nvSpPr>
        <p:spPr>
          <a:xfrm>
            <a:off x="12897248" y="34580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5" name="Shape 22"/>
          <p:cNvSpPr/>
          <p:nvPr/>
        </p:nvSpPr>
        <p:spPr>
          <a:xfrm>
            <a:off x="12897248" y="3458071"/>
            <a:ext cx="377130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14859595" y="3322042"/>
            <a:ext cx="57368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22%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47750" y="45952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8" name="Text 25"/>
          <p:cNvSpPr/>
          <p:nvPr/>
        </p:nvSpPr>
        <p:spPr>
          <a:xfrm>
            <a:off x="1276350" y="40554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2266950" y="45952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2495550" y="40554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 Sul Cargas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7672289" y="45952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7900889" y="40554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268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9301262" y="45952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4" name="Text 31"/>
          <p:cNvSpPr/>
          <p:nvPr/>
        </p:nvSpPr>
        <p:spPr>
          <a:xfrm>
            <a:off x="9529862" y="40554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R$ 7,1 mi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12668648" y="45952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6" name="Shape 33"/>
          <p:cNvSpPr/>
          <p:nvPr/>
        </p:nvSpPr>
        <p:spPr>
          <a:xfrm>
            <a:off x="12897248" y="41946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37" name="Shape 34"/>
          <p:cNvSpPr/>
          <p:nvPr/>
        </p:nvSpPr>
        <p:spPr>
          <a:xfrm>
            <a:off x="12897248" y="4194671"/>
            <a:ext cx="531416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38" name="Text 35"/>
          <p:cNvSpPr/>
          <p:nvPr/>
        </p:nvSpPr>
        <p:spPr>
          <a:xfrm>
            <a:off x="14859595" y="4058642"/>
            <a:ext cx="52030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31%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047750" y="53318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0" name="Text 37"/>
          <p:cNvSpPr/>
          <p:nvPr/>
        </p:nvSpPr>
        <p:spPr>
          <a:xfrm>
            <a:off x="1276350" y="47920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2100" dirty="0"/>
          </a:p>
        </p:txBody>
      </p:sp>
      <p:sp>
        <p:nvSpPr>
          <p:cNvPr id="41" name="Shape 38"/>
          <p:cNvSpPr/>
          <p:nvPr/>
        </p:nvSpPr>
        <p:spPr>
          <a:xfrm>
            <a:off x="2266950" y="53318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2" name="Text 39"/>
          <p:cNvSpPr/>
          <p:nvPr/>
        </p:nvSpPr>
        <p:spPr>
          <a:xfrm>
            <a:off x="2495550" y="47920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Agro Paraná Logística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7672289" y="53318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4" name="Text 41"/>
          <p:cNvSpPr/>
          <p:nvPr/>
        </p:nvSpPr>
        <p:spPr>
          <a:xfrm>
            <a:off x="7900889" y="47920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241</a:t>
            </a:r>
            <a:endParaRPr lang="en-US" sz="2100" dirty="0"/>
          </a:p>
        </p:txBody>
      </p:sp>
      <p:sp>
        <p:nvSpPr>
          <p:cNvPr id="45" name="Shape 42"/>
          <p:cNvSpPr/>
          <p:nvPr/>
        </p:nvSpPr>
        <p:spPr>
          <a:xfrm>
            <a:off x="9301262" y="53318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6" name="Text 43"/>
          <p:cNvSpPr/>
          <p:nvPr/>
        </p:nvSpPr>
        <p:spPr>
          <a:xfrm>
            <a:off x="9529862" y="47920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R$ 6,3 mi</a:t>
            </a:r>
            <a:endParaRPr lang="en-US" sz="2100" dirty="0"/>
          </a:p>
        </p:txBody>
      </p:sp>
      <p:sp>
        <p:nvSpPr>
          <p:cNvPr id="47" name="Shape 44"/>
          <p:cNvSpPr/>
          <p:nvPr/>
        </p:nvSpPr>
        <p:spPr>
          <a:xfrm>
            <a:off x="12668648" y="53318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8" name="Shape 45"/>
          <p:cNvSpPr/>
          <p:nvPr/>
        </p:nvSpPr>
        <p:spPr>
          <a:xfrm>
            <a:off x="12897248" y="49312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49" name="Shape 46"/>
          <p:cNvSpPr/>
          <p:nvPr/>
        </p:nvSpPr>
        <p:spPr>
          <a:xfrm>
            <a:off x="12897248" y="4931271"/>
            <a:ext cx="308570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50" name="Text 47"/>
          <p:cNvSpPr/>
          <p:nvPr/>
        </p:nvSpPr>
        <p:spPr>
          <a:xfrm>
            <a:off x="14859595" y="4795242"/>
            <a:ext cx="5085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18%</a:t>
            </a:r>
            <a:endParaRPr lang="en-US" sz="2100" dirty="0"/>
          </a:p>
        </p:txBody>
      </p:sp>
      <p:sp>
        <p:nvSpPr>
          <p:cNvPr id="51" name="Shape 48"/>
          <p:cNvSpPr/>
          <p:nvPr/>
        </p:nvSpPr>
        <p:spPr>
          <a:xfrm>
            <a:off x="1047750" y="60684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2" name="Text 49"/>
          <p:cNvSpPr/>
          <p:nvPr/>
        </p:nvSpPr>
        <p:spPr>
          <a:xfrm>
            <a:off x="1276350" y="55286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2100" dirty="0"/>
          </a:p>
        </p:txBody>
      </p:sp>
      <p:sp>
        <p:nvSpPr>
          <p:cNvPr id="53" name="Shape 50"/>
          <p:cNvSpPr/>
          <p:nvPr/>
        </p:nvSpPr>
        <p:spPr>
          <a:xfrm>
            <a:off x="2266950" y="60684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4" name="Text 51"/>
          <p:cNvSpPr/>
          <p:nvPr/>
        </p:nvSpPr>
        <p:spPr>
          <a:xfrm>
            <a:off x="2495550" y="55286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Rodofrete Brasil</a:t>
            </a:r>
            <a:endParaRPr lang="en-US" sz="2100" dirty="0"/>
          </a:p>
        </p:txBody>
      </p:sp>
      <p:sp>
        <p:nvSpPr>
          <p:cNvPr id="55" name="Shape 52"/>
          <p:cNvSpPr/>
          <p:nvPr/>
        </p:nvSpPr>
        <p:spPr>
          <a:xfrm>
            <a:off x="7672289" y="60684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6" name="Text 53"/>
          <p:cNvSpPr/>
          <p:nvPr/>
        </p:nvSpPr>
        <p:spPr>
          <a:xfrm>
            <a:off x="7900889" y="55286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197</a:t>
            </a:r>
            <a:endParaRPr lang="en-US" sz="2100" dirty="0"/>
          </a:p>
        </p:txBody>
      </p:sp>
      <p:sp>
        <p:nvSpPr>
          <p:cNvPr id="57" name="Shape 54"/>
          <p:cNvSpPr/>
          <p:nvPr/>
        </p:nvSpPr>
        <p:spPr>
          <a:xfrm>
            <a:off x="9301262" y="60684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8" name="Text 55"/>
          <p:cNvSpPr/>
          <p:nvPr/>
        </p:nvSpPr>
        <p:spPr>
          <a:xfrm>
            <a:off x="9529862" y="55286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R$ 5,2 mi</a:t>
            </a:r>
            <a:endParaRPr lang="en-US" sz="2100" dirty="0"/>
          </a:p>
        </p:txBody>
      </p:sp>
      <p:sp>
        <p:nvSpPr>
          <p:cNvPr id="59" name="Shape 56"/>
          <p:cNvSpPr/>
          <p:nvPr/>
        </p:nvSpPr>
        <p:spPr>
          <a:xfrm>
            <a:off x="12668648" y="60684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0" name="Shape 57"/>
          <p:cNvSpPr/>
          <p:nvPr/>
        </p:nvSpPr>
        <p:spPr>
          <a:xfrm>
            <a:off x="12897248" y="56678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1" name="Shape 58"/>
          <p:cNvSpPr/>
          <p:nvPr/>
        </p:nvSpPr>
        <p:spPr>
          <a:xfrm>
            <a:off x="12897248" y="5667871"/>
            <a:ext cx="75436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2" name="Text 59"/>
          <p:cNvSpPr/>
          <p:nvPr/>
        </p:nvSpPr>
        <p:spPr>
          <a:xfrm>
            <a:off x="14859595" y="5531843"/>
            <a:ext cx="58221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44%</a:t>
            </a:r>
            <a:endParaRPr lang="en-US" sz="2100" dirty="0"/>
          </a:p>
        </p:txBody>
      </p:sp>
      <p:sp>
        <p:nvSpPr>
          <p:cNvPr id="63" name="Shape 60"/>
          <p:cNvSpPr/>
          <p:nvPr/>
        </p:nvSpPr>
        <p:spPr>
          <a:xfrm>
            <a:off x="1047750" y="6805018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4" name="Text 61"/>
          <p:cNvSpPr/>
          <p:nvPr/>
        </p:nvSpPr>
        <p:spPr>
          <a:xfrm>
            <a:off x="1276350" y="6265268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2100" dirty="0"/>
          </a:p>
        </p:txBody>
      </p:sp>
      <p:sp>
        <p:nvSpPr>
          <p:cNvPr id="65" name="Shape 62"/>
          <p:cNvSpPr/>
          <p:nvPr/>
        </p:nvSpPr>
        <p:spPr>
          <a:xfrm>
            <a:off x="2266950" y="6805018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6" name="Text 63"/>
          <p:cNvSpPr/>
          <p:nvPr/>
        </p:nvSpPr>
        <p:spPr>
          <a:xfrm>
            <a:off x="2495550" y="6265268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Expresso Guaíba</a:t>
            </a:r>
            <a:endParaRPr lang="en-US" sz="2100" dirty="0"/>
          </a:p>
        </p:txBody>
      </p:sp>
      <p:sp>
        <p:nvSpPr>
          <p:cNvPr id="67" name="Shape 64"/>
          <p:cNvSpPr/>
          <p:nvPr/>
        </p:nvSpPr>
        <p:spPr>
          <a:xfrm>
            <a:off x="7672289" y="6805018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8" name="Text 65"/>
          <p:cNvSpPr/>
          <p:nvPr/>
        </p:nvSpPr>
        <p:spPr>
          <a:xfrm>
            <a:off x="7900889" y="6265268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164</a:t>
            </a:r>
            <a:endParaRPr lang="en-US" sz="2100" dirty="0"/>
          </a:p>
        </p:txBody>
      </p:sp>
      <p:sp>
        <p:nvSpPr>
          <p:cNvPr id="69" name="Shape 66"/>
          <p:cNvSpPr/>
          <p:nvPr/>
        </p:nvSpPr>
        <p:spPr>
          <a:xfrm>
            <a:off x="9301262" y="6805018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0" name="Text 67"/>
          <p:cNvSpPr/>
          <p:nvPr/>
        </p:nvSpPr>
        <p:spPr>
          <a:xfrm>
            <a:off x="9529862" y="6265268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R$ 4,4 mi</a:t>
            </a:r>
            <a:endParaRPr lang="en-US" sz="2100" dirty="0"/>
          </a:p>
        </p:txBody>
      </p:sp>
      <p:sp>
        <p:nvSpPr>
          <p:cNvPr id="71" name="Shape 68"/>
          <p:cNvSpPr/>
          <p:nvPr/>
        </p:nvSpPr>
        <p:spPr>
          <a:xfrm>
            <a:off x="12668648" y="6805018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2" name="Shape 69"/>
          <p:cNvSpPr/>
          <p:nvPr/>
        </p:nvSpPr>
        <p:spPr>
          <a:xfrm>
            <a:off x="12897248" y="64044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73" name="Shape 70"/>
          <p:cNvSpPr/>
          <p:nvPr/>
        </p:nvSpPr>
        <p:spPr>
          <a:xfrm>
            <a:off x="12897248" y="6404471"/>
            <a:ext cx="89148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74" name="Text 71"/>
          <p:cNvSpPr/>
          <p:nvPr/>
        </p:nvSpPr>
        <p:spPr>
          <a:xfrm>
            <a:off x="14859595" y="6268442"/>
            <a:ext cx="59551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52%</a:t>
            </a:r>
            <a:endParaRPr lang="en-US" sz="2100" dirty="0"/>
          </a:p>
        </p:txBody>
      </p:sp>
      <p:sp>
        <p:nvSpPr>
          <p:cNvPr id="75" name="Shape 72"/>
          <p:cNvSpPr/>
          <p:nvPr/>
        </p:nvSpPr>
        <p:spPr>
          <a:xfrm>
            <a:off x="1047750" y="75416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6" name="Text 73"/>
          <p:cNvSpPr/>
          <p:nvPr/>
        </p:nvSpPr>
        <p:spPr>
          <a:xfrm>
            <a:off x="1276350" y="70018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06</a:t>
            </a:r>
            <a:endParaRPr lang="en-US" sz="2100" dirty="0"/>
          </a:p>
        </p:txBody>
      </p:sp>
      <p:sp>
        <p:nvSpPr>
          <p:cNvPr id="77" name="Shape 74"/>
          <p:cNvSpPr/>
          <p:nvPr/>
        </p:nvSpPr>
        <p:spPr>
          <a:xfrm>
            <a:off x="2266950" y="75416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8" name="Text 75"/>
          <p:cNvSpPr/>
          <p:nvPr/>
        </p:nvSpPr>
        <p:spPr>
          <a:xfrm>
            <a:off x="2495550" y="70018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Cooperativa Oeste</a:t>
            </a:r>
            <a:endParaRPr lang="en-US" sz="2100" dirty="0"/>
          </a:p>
        </p:txBody>
      </p:sp>
      <p:sp>
        <p:nvSpPr>
          <p:cNvPr id="79" name="Shape 76"/>
          <p:cNvSpPr/>
          <p:nvPr/>
        </p:nvSpPr>
        <p:spPr>
          <a:xfrm>
            <a:off x="7672289" y="75416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0" name="Text 77"/>
          <p:cNvSpPr/>
          <p:nvPr/>
        </p:nvSpPr>
        <p:spPr>
          <a:xfrm>
            <a:off x="7900889" y="70018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148</a:t>
            </a:r>
            <a:endParaRPr lang="en-US" sz="2100" dirty="0"/>
          </a:p>
        </p:txBody>
      </p:sp>
      <p:sp>
        <p:nvSpPr>
          <p:cNvPr id="81" name="Shape 78"/>
          <p:cNvSpPr/>
          <p:nvPr/>
        </p:nvSpPr>
        <p:spPr>
          <a:xfrm>
            <a:off x="9301262" y="75416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2" name="Text 79"/>
          <p:cNvSpPr/>
          <p:nvPr/>
        </p:nvSpPr>
        <p:spPr>
          <a:xfrm>
            <a:off x="9529862" y="70018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R$ 3,9 mi</a:t>
            </a:r>
            <a:endParaRPr lang="en-US" sz="2100" dirty="0"/>
          </a:p>
        </p:txBody>
      </p:sp>
      <p:sp>
        <p:nvSpPr>
          <p:cNvPr id="83" name="Shape 80"/>
          <p:cNvSpPr/>
          <p:nvPr/>
        </p:nvSpPr>
        <p:spPr>
          <a:xfrm>
            <a:off x="12668648" y="75416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4" name="Shape 81"/>
          <p:cNvSpPr/>
          <p:nvPr/>
        </p:nvSpPr>
        <p:spPr>
          <a:xfrm>
            <a:off x="12897248" y="71410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85" name="Shape 82"/>
          <p:cNvSpPr/>
          <p:nvPr/>
        </p:nvSpPr>
        <p:spPr>
          <a:xfrm>
            <a:off x="12897248" y="7141071"/>
            <a:ext cx="462855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86" name="Text 83"/>
          <p:cNvSpPr/>
          <p:nvPr/>
        </p:nvSpPr>
        <p:spPr>
          <a:xfrm>
            <a:off x="14859595" y="7005042"/>
            <a:ext cx="55413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27%</a:t>
            </a:r>
            <a:endParaRPr lang="en-US" sz="2100" dirty="0"/>
          </a:p>
        </p:txBody>
      </p:sp>
      <p:sp>
        <p:nvSpPr>
          <p:cNvPr id="87" name="Text 84"/>
          <p:cNvSpPr/>
          <p:nvPr/>
        </p:nvSpPr>
        <p:spPr>
          <a:xfrm>
            <a:off x="1276350" y="7738467"/>
            <a:ext cx="838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07</a:t>
            </a:r>
            <a:endParaRPr lang="en-US" sz="2100" dirty="0"/>
          </a:p>
        </p:txBody>
      </p:sp>
      <p:sp>
        <p:nvSpPr>
          <p:cNvPr id="88" name="Text 85"/>
          <p:cNvSpPr/>
          <p:nvPr/>
        </p:nvSpPr>
        <p:spPr>
          <a:xfrm>
            <a:off x="2495550" y="7738467"/>
            <a:ext cx="51102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 Litoral</a:t>
            </a:r>
            <a:endParaRPr lang="en-US" sz="2100" dirty="0"/>
          </a:p>
        </p:txBody>
      </p:sp>
      <p:sp>
        <p:nvSpPr>
          <p:cNvPr id="89" name="Text 86"/>
          <p:cNvSpPr/>
          <p:nvPr/>
        </p:nvSpPr>
        <p:spPr>
          <a:xfrm>
            <a:off x="7900889" y="7738467"/>
            <a:ext cx="12479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131</a:t>
            </a:r>
            <a:endParaRPr lang="en-US" sz="2100" dirty="0"/>
          </a:p>
        </p:txBody>
      </p:sp>
      <p:sp>
        <p:nvSpPr>
          <p:cNvPr id="90" name="Text 87"/>
          <p:cNvSpPr/>
          <p:nvPr/>
        </p:nvSpPr>
        <p:spPr>
          <a:xfrm>
            <a:off x="9529862" y="7738467"/>
            <a:ext cx="301120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R$ 3,4 mi</a:t>
            </a:r>
            <a:endParaRPr lang="en-US" sz="2100" dirty="0"/>
          </a:p>
        </p:txBody>
      </p:sp>
      <p:sp>
        <p:nvSpPr>
          <p:cNvPr id="91" name="Shape 88"/>
          <p:cNvSpPr/>
          <p:nvPr/>
        </p:nvSpPr>
        <p:spPr>
          <a:xfrm>
            <a:off x="12897248" y="78776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92" name="Shape 89"/>
          <p:cNvSpPr/>
          <p:nvPr/>
        </p:nvSpPr>
        <p:spPr>
          <a:xfrm>
            <a:off x="12897248" y="7877671"/>
            <a:ext cx="274241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93" name="Text 90"/>
          <p:cNvSpPr/>
          <p:nvPr/>
        </p:nvSpPr>
        <p:spPr>
          <a:xfrm>
            <a:off x="14859595" y="7741643"/>
            <a:ext cx="5232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16%</a:t>
            </a:r>
            <a:endParaRPr lang="en-US" sz="2100" dirty="0"/>
          </a:p>
        </p:txBody>
      </p:sp>
      <p:sp>
        <p:nvSpPr>
          <p:cNvPr id="94" name="Shape 91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5" name="Text 92"/>
          <p:cNvSpPr/>
          <p:nvPr/>
        </p:nvSpPr>
        <p:spPr>
          <a:xfrm>
            <a:off x="1047750" y="9264650"/>
            <a:ext cx="77566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 marca penetração abaixo de 25% · dados de exemplo</a:t>
            </a:r>
            <a:endParaRPr lang="en-US" sz="1800" dirty="0"/>
          </a:p>
        </p:txBody>
      </p:sp>
      <p:sp>
        <p:nvSpPr>
          <p:cNvPr id="96" name="Text 93"/>
          <p:cNvSpPr/>
          <p:nvPr/>
        </p:nvSpPr>
        <p:spPr>
          <a:xfrm>
            <a:off x="13650516" y="9264650"/>
            <a:ext cx="39487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Tabela de ranking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544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HISTÓRICO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Marcos da operação desde a fundação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1047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2019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10477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Shape 4"/>
          <p:cNvSpPr/>
          <p:nvPr/>
        </p:nvSpPr>
        <p:spPr>
          <a:xfrm>
            <a:off x="10477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Primeiro pátio de desmonte em Curitiba, com nove colaboradores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2862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2021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42862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 de peças e início da venda para fora do estado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524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2023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75247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5" name="Shape 12"/>
          <p:cNvSpPr/>
          <p:nvPr/>
        </p:nvSpPr>
        <p:spPr>
          <a:xfrm>
            <a:off x="75247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6" name="Text 13"/>
          <p:cNvSpPr/>
          <p:nvPr/>
        </p:nvSpPr>
        <p:spPr>
          <a:xfrm>
            <a:off x="75247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Linha de importação direta e primeira bancada de remanufatura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7632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2025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7632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632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20" name="Text 17"/>
          <p:cNvSpPr/>
          <p:nvPr/>
        </p:nvSpPr>
        <p:spPr>
          <a:xfrm>
            <a:off x="107632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Centro de distribuição em Joinville e 500 clientes ativos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4001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2026</a:t>
            </a:r>
            <a:endParaRPr lang="en-US" sz="2550" dirty="0"/>
          </a:p>
        </p:txBody>
      </p:sp>
      <p:sp>
        <p:nvSpPr>
          <p:cNvPr id="22" name="Shape 19"/>
          <p:cNvSpPr/>
          <p:nvPr/>
        </p:nvSpPr>
        <p:spPr>
          <a:xfrm>
            <a:off x="14001750" y="3404592"/>
            <a:ext cx="32385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3" name="Shape 20"/>
          <p:cNvSpPr/>
          <p:nvPr/>
        </p:nvSpPr>
        <p:spPr>
          <a:xfrm>
            <a:off x="14001750" y="3309342"/>
            <a:ext cx="228600" cy="228600"/>
          </a:xfrm>
          <a:prstGeom prst="ellipse">
            <a:avLst/>
          </a:prstGeom>
          <a:solidFill>
            <a:srgbClr val="F26800"/>
          </a:solidFill>
          <a:ln/>
        </p:spPr>
      </p:sp>
      <p:sp>
        <p:nvSpPr>
          <p:cNvPr id="24" name="Text 21"/>
          <p:cNvSpPr/>
          <p:nvPr/>
        </p:nvSpPr>
        <p:spPr>
          <a:xfrm>
            <a:off x="14001750" y="3709392"/>
            <a:ext cx="333565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Meta de três novas praças e faturamento de R$ 140 mi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742466" y="9264650"/>
            <a:ext cx="49475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Linha do tempo horizontal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6130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ROADMAP 2026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Cronograma de expansão por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010892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Text 3"/>
          <p:cNvSpPr/>
          <p:nvPr/>
        </p:nvSpPr>
        <p:spPr>
          <a:xfrm>
            <a:off x="44386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1T26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6771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2T26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156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3T26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1541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4T26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4045942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3344267"/>
            <a:ext cx="356235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Nova praça · Goiás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4514850" y="33029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3" name="Shape 10"/>
          <p:cNvSpPr/>
          <p:nvPr/>
        </p:nvSpPr>
        <p:spPr>
          <a:xfrm>
            <a:off x="10877550" y="3302992"/>
            <a:ext cx="5318721" cy="4572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14" name="Text 11"/>
          <p:cNvSpPr/>
          <p:nvPr/>
        </p:nvSpPr>
        <p:spPr>
          <a:xfrm>
            <a:off x="11106150" y="3302992"/>
            <a:ext cx="52496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Estruturação e abertura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047750" y="5373092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1047750" y="4338042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Capacidade de remanufatura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4514850" y="44840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8" name="Shape 15"/>
          <p:cNvSpPr/>
          <p:nvPr/>
        </p:nvSpPr>
        <p:spPr>
          <a:xfrm>
            <a:off x="7696200" y="4484092"/>
            <a:ext cx="7227491" cy="4572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19" name="Text 16"/>
          <p:cNvSpPr/>
          <p:nvPr/>
        </p:nvSpPr>
        <p:spPr>
          <a:xfrm>
            <a:off x="7924800" y="4484092"/>
            <a:ext cx="721571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Segunda bancada em operação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47750" y="6700243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047750" y="5665193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e e-commerce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4514850" y="581124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3" name="Shape 20"/>
          <p:cNvSpPr/>
          <p:nvPr/>
        </p:nvSpPr>
        <p:spPr>
          <a:xfrm>
            <a:off x="4514850" y="5811242"/>
            <a:ext cx="5955010" cy="45720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24" name="Text 21"/>
          <p:cNvSpPr/>
          <p:nvPr/>
        </p:nvSpPr>
        <p:spPr>
          <a:xfrm>
            <a:off x="4743450" y="5811242"/>
            <a:ext cx="59050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Reformulação da busca de peças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47750" y="6992342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Time comercial regional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4514850" y="71383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7" name="Shape 24"/>
          <p:cNvSpPr/>
          <p:nvPr/>
        </p:nvSpPr>
        <p:spPr>
          <a:xfrm>
            <a:off x="12262842" y="7138392"/>
            <a:ext cx="4977408" cy="457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8" name="Text 25"/>
          <p:cNvSpPr/>
          <p:nvPr/>
        </p:nvSpPr>
        <p:spPr>
          <a:xfrm>
            <a:off x="12491442" y="7138392"/>
            <a:ext cx="48981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Contratação de 12 vendedores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496430" y="9264650"/>
            <a:ext cx="411820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Roadmap por fases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968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PROCESSO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 pedido do cliente à entrega da peça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642592"/>
            <a:ext cx="2598341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333500" y="2966442"/>
            <a:ext cx="22295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33500" y="3442692"/>
            <a:ext cx="21030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Pedido recebido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33500" y="4357092"/>
            <a:ext cx="210304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Portal, telefone ou vendedor em campo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83659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444619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473194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73194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Identificação da peça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3194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Chassi e catálogo cruzados no sistema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235130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5" name="Shape 12"/>
          <p:cNvSpPr/>
          <p:nvPr/>
        </p:nvSpPr>
        <p:spPr>
          <a:xfrm>
            <a:off x="7844730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8130480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8130480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Cotação e aprovação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130480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Proposta com prazo e condição de pagamento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63367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0" name="Shape 17"/>
          <p:cNvSpPr/>
          <p:nvPr/>
        </p:nvSpPr>
        <p:spPr>
          <a:xfrm>
            <a:off x="1124327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152902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152902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152902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Teste de bancada e registro fotográfico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403221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5" name="Shape 22"/>
          <p:cNvSpPr/>
          <p:nvPr/>
        </p:nvSpPr>
        <p:spPr>
          <a:xfrm>
            <a:off x="1464181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012D2B"/>
          </a:solidFill>
          <a:ln/>
        </p:spPr>
      </p:sp>
      <p:sp>
        <p:nvSpPr>
          <p:cNvPr id="26" name="Text 23"/>
          <p:cNvSpPr/>
          <p:nvPr/>
        </p:nvSpPr>
        <p:spPr>
          <a:xfrm>
            <a:off x="1492756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4927561" y="3442692"/>
            <a:ext cx="22296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Expedição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4927561" y="3976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Coleta programada e rastreio até a oficina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47750" y="6475214"/>
            <a:ext cx="389370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Tempo total médio: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 dias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5120878" y="6475214"/>
            <a:ext cx="62018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Etapa mais lenta: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2932966" y="9264650"/>
            <a:ext cx="47380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Fluxograma de processo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9592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ESTRUTURA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o time está organizado hoje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6648450" y="2566392"/>
            <a:ext cx="4991100" cy="1289050"/>
          </a:xfrm>
          <a:prstGeom prst="roundRect">
            <a:avLst>
              <a:gd name="adj" fmla="val 5911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6943725" y="2814042"/>
            <a:ext cx="440055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 Geral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43725" y="3283942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pessoa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9129713" y="3855442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" name="Shape 6"/>
          <p:cNvSpPr/>
          <p:nvPr/>
        </p:nvSpPr>
        <p:spPr>
          <a:xfrm>
            <a:off x="2990850" y="4274542"/>
            <a:ext cx="12306300" cy="2857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Shape 7"/>
          <p:cNvSpPr/>
          <p:nvPr/>
        </p:nvSpPr>
        <p:spPr>
          <a:xfrm>
            <a:off x="2990850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8"/>
          <p:cNvSpPr/>
          <p:nvPr/>
        </p:nvSpPr>
        <p:spPr>
          <a:xfrm>
            <a:off x="7083425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2" name="Shape 9"/>
          <p:cNvSpPr/>
          <p:nvPr/>
        </p:nvSpPr>
        <p:spPr>
          <a:xfrm>
            <a:off x="11176000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3" name="Shape 10"/>
          <p:cNvSpPr/>
          <p:nvPr/>
        </p:nvSpPr>
        <p:spPr>
          <a:xfrm>
            <a:off x="15268575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7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47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1347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18 pessoas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51625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495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Operações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52495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34 pessoas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92773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643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Suprimentos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93643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pessoas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33921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479146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Administrativo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13479146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11 pessoas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0477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27" name="Text 24"/>
          <p:cNvSpPr/>
          <p:nvPr/>
        </p:nvSpPr>
        <p:spPr>
          <a:xfrm>
            <a:off x="12573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Vendas internas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0477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29" name="Text 26"/>
          <p:cNvSpPr/>
          <p:nvPr/>
        </p:nvSpPr>
        <p:spPr>
          <a:xfrm>
            <a:off x="12573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Campo e representantes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51625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1" name="Text 28"/>
          <p:cNvSpPr/>
          <p:nvPr/>
        </p:nvSpPr>
        <p:spPr>
          <a:xfrm>
            <a:off x="53721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51625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3" name="Text 30"/>
          <p:cNvSpPr/>
          <p:nvPr/>
        </p:nvSpPr>
        <p:spPr>
          <a:xfrm>
            <a:off x="53721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Remanufatura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5162550" y="78718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5" name="Text 32"/>
          <p:cNvSpPr/>
          <p:nvPr/>
        </p:nvSpPr>
        <p:spPr>
          <a:xfrm>
            <a:off x="5372100" y="80432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92773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7" name="Text 34"/>
          <p:cNvSpPr/>
          <p:nvPr/>
        </p:nvSpPr>
        <p:spPr>
          <a:xfrm>
            <a:off x="94869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92773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9" name="Text 36"/>
          <p:cNvSpPr/>
          <p:nvPr/>
        </p:nvSpPr>
        <p:spPr>
          <a:xfrm>
            <a:off x="94869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Compras de frota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133921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41" name="Text 38"/>
          <p:cNvSpPr/>
          <p:nvPr/>
        </p:nvSpPr>
        <p:spPr>
          <a:xfrm>
            <a:off x="136017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Financeiro</a:t>
            </a:r>
            <a:endParaRPr lang="en-US" sz="1950" dirty="0"/>
          </a:p>
        </p:txBody>
      </p:sp>
      <p:sp>
        <p:nvSpPr>
          <p:cNvPr id="42" name="Shape 39"/>
          <p:cNvSpPr/>
          <p:nvPr/>
        </p:nvSpPr>
        <p:spPr>
          <a:xfrm>
            <a:off x="133921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43" name="Text 40"/>
          <p:cNvSpPr/>
          <p:nvPr/>
        </p:nvSpPr>
        <p:spPr>
          <a:xfrm>
            <a:off x="136017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Pessoas</a:t>
            </a:r>
            <a:endParaRPr lang="en-US" sz="1950" dirty="0"/>
          </a:p>
        </p:txBody>
      </p:sp>
      <p:sp>
        <p:nvSpPr>
          <p:cNvPr id="44" name="Shape 41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Text 42"/>
          <p:cNvSpPr/>
          <p:nvPr/>
        </p:nvSpPr>
        <p:spPr>
          <a:xfrm>
            <a:off x="1047750" y="9264650"/>
            <a:ext cx="5243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72 pessoas no total · estrutura de exemplo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4095115" y="9264650"/>
            <a:ext cx="345964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Organograma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277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PRIORIZAÇÃO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Iniciativas por esforço e impacto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 rot="10800000">
            <a:off x="1009650" y="2413992"/>
            <a:ext cx="609600" cy="594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Impacto →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771650" y="2413992"/>
            <a:ext cx="15468600" cy="5910858"/>
          </a:xfrm>
          <a:prstGeom prst="rect">
            <a:avLst/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78000" y="2420342"/>
            <a:ext cx="7727950" cy="2949079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8" name="Shape 5"/>
          <p:cNvSpPr/>
          <p:nvPr/>
        </p:nvSpPr>
        <p:spPr>
          <a:xfrm>
            <a:off x="1778000" y="5363071"/>
            <a:ext cx="77279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" name="Shape 6"/>
          <p:cNvSpPr/>
          <p:nvPr/>
        </p:nvSpPr>
        <p:spPr>
          <a:xfrm>
            <a:off x="9499600" y="2420342"/>
            <a:ext cx="9525" cy="2949079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2082800" y="2725142"/>
            <a:ext cx="7823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GANHOS RÁPIDOS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2082800" y="3220442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Reprecificar peças de baixo giro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082800" y="3763367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Ativar carteira inativa por telefone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505950" y="5363071"/>
            <a:ext cx="77279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9810750" y="2725142"/>
            <a:ext cx="78301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GRANDES APOSTAS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810750" y="3220442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Abrir praça em Goiás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810750" y="3763367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Segunda linha de remanufatura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9499600" y="5369421"/>
            <a:ext cx="9525" cy="2949079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2082800" y="5674221"/>
            <a:ext cx="7823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PREENCHIMENTO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082800" y="6169521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Padronizar embalagem de envio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810750" y="5674221"/>
            <a:ext cx="78301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REAVALIAR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810750" y="6169521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Marketplace próprio de peças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539621" y="8515350"/>
            <a:ext cx="159326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Esforço →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528304" y="9264650"/>
            <a:ext cx="29831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Matriz 2x2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1429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FUNIL COMERCIAL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 da prospecção ao pedido fechado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628650" y="3512046"/>
            <a:ext cx="12420600" cy="819150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724771"/>
            <a:ext cx="295356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Contas mapeadas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835805" y="3724771"/>
            <a:ext cx="87054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4.820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671042" y="4426446"/>
            <a:ext cx="10335717" cy="8191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9" name="Text 6"/>
          <p:cNvSpPr/>
          <p:nvPr/>
        </p:nvSpPr>
        <p:spPr>
          <a:xfrm>
            <a:off x="2090142" y="4639171"/>
            <a:ext cx="288207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realizado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859393" y="4639171"/>
            <a:ext cx="80446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2.140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13434" y="5340846"/>
            <a:ext cx="8250932" cy="819150"/>
          </a:xfrm>
          <a:prstGeom prst="rect">
            <a:avLst/>
          </a:prstGeom>
          <a:solidFill>
            <a:srgbClr val="3A8C7F"/>
          </a:solidFill>
          <a:ln/>
        </p:spPr>
      </p:sp>
      <p:sp>
        <p:nvSpPr>
          <p:cNvPr id="12" name="Text 9"/>
          <p:cNvSpPr/>
          <p:nvPr/>
        </p:nvSpPr>
        <p:spPr>
          <a:xfrm>
            <a:off x="3132534" y="5553571"/>
            <a:ext cx="277719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Cotação enviada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81915" y="5553571"/>
            <a:ext cx="53955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910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794026" y="6255246"/>
            <a:ext cx="6089849" cy="81915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15" name="Text 12"/>
          <p:cNvSpPr/>
          <p:nvPr/>
        </p:nvSpPr>
        <p:spPr>
          <a:xfrm>
            <a:off x="4175026" y="6467971"/>
            <a:ext cx="189435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Negociação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976122" y="6467971"/>
            <a:ext cx="60295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385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777780" y="7169646"/>
            <a:ext cx="4122341" cy="8191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8" name="Text 15"/>
          <p:cNvSpPr/>
          <p:nvPr/>
        </p:nvSpPr>
        <p:spPr>
          <a:xfrm>
            <a:off x="5101630" y="7382371"/>
            <a:ext cx="105102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Pedido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133656" y="7382371"/>
            <a:ext cx="51881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168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3239750" y="4881067"/>
            <a:ext cx="4000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1" name="Text 18"/>
          <p:cNvSpPr/>
          <p:nvPr/>
        </p:nvSpPr>
        <p:spPr>
          <a:xfrm>
            <a:off x="13239750" y="3780036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 total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3239750" y="4103886"/>
            <a:ext cx="44005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71"/>
              </a:lnSpc>
              <a:buNone/>
            </a:pPr>
            <a:r>
              <a:rPr lang="en-US" sz="42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3,5%</a:t>
            </a:r>
            <a:endParaRPr lang="en-US" sz="4200" dirty="0"/>
          </a:p>
        </p:txBody>
      </p:sp>
      <p:sp>
        <p:nvSpPr>
          <p:cNvPr id="23" name="Shape 20"/>
          <p:cNvSpPr/>
          <p:nvPr/>
        </p:nvSpPr>
        <p:spPr>
          <a:xfrm>
            <a:off x="13239750" y="6537127"/>
            <a:ext cx="4000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3239750" y="515411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Maior perda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3239750" y="5554167"/>
            <a:ext cx="4400550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→ cotação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3239750" y="602277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queda de 57%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3239750" y="681017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Ticket médio do pedido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13239750" y="7134027"/>
            <a:ext cx="44005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71"/>
              </a:lnSpc>
              <a:buNone/>
            </a:pPr>
            <a:r>
              <a:rPr lang="en-US" sz="42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R$ 4.180</a:t>
            </a:r>
            <a:endParaRPr lang="en-US" sz="420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451700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de 90 dias · dados de exemplo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5178485" y="9264650"/>
            <a:ext cx="226794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Funil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0080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TRANSFORMAÇÃO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atendimento antes e depois da nova malha logística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7905750" cy="6520458"/>
          </a:xfrm>
          <a:prstGeom prst="roundRect">
            <a:avLst>
              <a:gd name="adj" fmla="val 1169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2947392"/>
            <a:ext cx="78581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ANTES · 2024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428750" y="414625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5"/>
          <p:cNvSpPr/>
          <p:nvPr/>
        </p:nvSpPr>
        <p:spPr>
          <a:xfrm>
            <a:off x="1428750" y="354429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Entrega em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9,4 dias </a:t>
            </a:r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média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428750" y="494506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1428750" y="434310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concentrado em um único pátio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428750" y="574387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2" name="Text 9"/>
          <p:cNvSpPr/>
          <p:nvPr/>
        </p:nvSpPr>
        <p:spPr>
          <a:xfrm>
            <a:off x="1428750" y="5141913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Sem rastreio para o cliente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428750" y="5940723"/>
            <a:ext cx="7858125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Taxa de recompra de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41%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334500" y="2528292"/>
            <a:ext cx="7905750" cy="6520458"/>
          </a:xfrm>
          <a:prstGeom prst="roundRect">
            <a:avLst>
              <a:gd name="adj" fmla="val 1169"/>
            </a:avLst>
          </a:prstGeom>
          <a:solidFill>
            <a:srgbClr val="012D2B"/>
          </a:solidFill>
          <a:ln/>
        </p:spPr>
      </p:sp>
      <p:sp>
        <p:nvSpPr>
          <p:cNvPr id="15" name="Text 12"/>
          <p:cNvSpPr/>
          <p:nvPr/>
        </p:nvSpPr>
        <p:spPr>
          <a:xfrm>
            <a:off x="9715500" y="2947392"/>
            <a:ext cx="78581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DEPOIS · 2026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715500" y="414625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0" y="354429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Entrega em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 dias </a:t>
            </a:r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média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715500" y="494506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715500" y="434310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Dois centros de distribuição integrados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9715500" y="574387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715500" y="5141913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Rastreio por pedido no portal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715500" y="5940723"/>
            <a:ext cx="7858125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Taxa de recompra de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63%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052352" y="9264650"/>
            <a:ext cx="350668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Antes e depois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3909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ANÁLISE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Terceirizar a frota de entrega: prós e contras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137892"/>
            <a:ext cx="7829550" cy="254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528292"/>
            <a:ext cx="7822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3468092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21209" y="3468092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Reduz capital imobilizado em veículos e manutenção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" y="455771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21209" y="455771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Cobertura imediata em praças onde não temos base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47750" y="564733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21209" y="564733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Custo variável acompanha a sazonalidade do volume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410700" y="3137892"/>
            <a:ext cx="7829550" cy="254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4" name="Text 11"/>
          <p:cNvSpPr/>
          <p:nvPr/>
        </p:nvSpPr>
        <p:spPr>
          <a:xfrm>
            <a:off x="9410700" y="2528292"/>
            <a:ext cx="14020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Contras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410700" y="3468092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784160" y="3468092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Menos controle sobre prazo e qualidade do último trecho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410700" y="455771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784160" y="455771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 pesada exige veículo específico e nem todo parceiro tem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410700" y="564733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784160" y="564733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Custo por entrega 12% maior no cenário de volume alto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47750" y="7547769"/>
            <a:ext cx="16192500" cy="1500981"/>
          </a:xfrm>
          <a:prstGeom prst="roundRect">
            <a:avLst>
              <a:gd name="adj" fmla="val 5077"/>
            </a:avLst>
          </a:prstGeom>
          <a:solidFill>
            <a:srgbClr val="EAF0EC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7871619"/>
            <a:ext cx="1591627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Recomendação: </a:t>
            </a:r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highlight>
                  <a:srgbClr val="EAF0EC"/>
                </a:highlight>
                <a:latin typeface="Elms Sans" pitchFamily="34" charset="0"/>
                <a:ea typeface="Elms Sans" pitchFamily="34" charset="-122"/>
                <a:cs typeface="Elms Sans" pitchFamily="34" charset="-120"/>
              </a:rPr>
              <a:t>modelo híbrido — frota própria nas duas praças maduras, parceiro nas novas praças durante os primeiros 12 meses.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034295" y="9264650"/>
            <a:ext cx="35265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Prós e contras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3626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DIAGNÓSTICO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Posição competitiva em quatro quadrantes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375892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352550" y="2642592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FORÇAS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52550" y="3125192"/>
            <a:ext cx="760333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próprio de peças usadas com rastreabilidade por chassi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352550" y="3927078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de entrega abaixo da média das independentes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352550" y="43946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fiel no Paraná, com 92% de penetração</a:t>
            </a:r>
            <a:endParaRPr lang="en-US" sz="2025" dirty="0"/>
          </a:p>
        </p:txBody>
      </p:sp>
      <p:sp>
        <p:nvSpPr>
          <p:cNvPr id="10" name="Shape 7"/>
          <p:cNvSpPr/>
          <p:nvPr/>
        </p:nvSpPr>
        <p:spPr>
          <a:xfrm>
            <a:off x="9248775" y="2375892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9553575" y="2642592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FRAQUEZAS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553575" y="312519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Capacidade de remanufatura limitada a uma bancada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9553575" y="3592810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Marca pouco conhecida fora da região Sul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9553575" y="4060428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Dependência de dois fornecedores de importação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1047750" y="5817096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1352550" y="6083796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OPORTUNIDADES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352550" y="65663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61 mil veículos saindo da garantia nos próximos três anos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1352550" y="7034014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Centro-Oeste com penetração abaixo de 30%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1352550" y="750163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Frotistas buscando reduzir custo de manutenção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9248775" y="5817096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21" name="Shape 18"/>
          <p:cNvSpPr/>
          <p:nvPr/>
        </p:nvSpPr>
        <p:spPr>
          <a:xfrm>
            <a:off x="9248775" y="5817096"/>
            <a:ext cx="7991475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2" name="Text 19"/>
          <p:cNvSpPr/>
          <p:nvPr/>
        </p:nvSpPr>
        <p:spPr>
          <a:xfrm>
            <a:off x="9553575" y="6121896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AMEAÇAS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553575" y="66044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Rede autorizada avançando em pacotes de pós-garantia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9553575" y="7072114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 pressionando o custo da peça importada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9553575" y="753973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Novos entrantes digitais na venda de peças usadas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000883" y="9264650"/>
            <a:ext cx="24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SWOT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091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CENÁRIOS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Três ritmos possíveis de expansão em 2026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5194300" cy="6558558"/>
          </a:xfrm>
          <a:prstGeom prst="roundRect">
            <a:avLst>
              <a:gd name="adj" fmla="val 1467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7000" y="2877542"/>
            <a:ext cx="49453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CONSERVADOR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97000" y="3455392"/>
            <a:ext cx="494538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R$ 112 mi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97000" y="4324052"/>
            <a:ext cx="4945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397000" y="4876502"/>
            <a:ext cx="44958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1397000" y="5111453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Uma praça nova, sem ampliar bancada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397000" y="5983784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R$ 1,2 mi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97000" y="6496149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Perde janela do Centro-Oeste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546850" y="2490192"/>
            <a:ext cx="5194300" cy="6558558"/>
          </a:xfrm>
          <a:prstGeom prst="roundRect">
            <a:avLst>
              <a:gd name="adj" fmla="val 1467"/>
            </a:avLst>
          </a:prstGeom>
          <a:solidFill>
            <a:srgbClr val="012D2B"/>
          </a:solidFill>
          <a:ln/>
        </p:spPr>
      </p:sp>
      <p:sp>
        <p:nvSpPr>
          <p:cNvPr id="14" name="Text 11"/>
          <p:cNvSpPr/>
          <p:nvPr/>
        </p:nvSpPr>
        <p:spPr>
          <a:xfrm>
            <a:off x="6889750" y="2871192"/>
            <a:ext cx="4959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BASE · RECOMENDADO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889750" y="3449042"/>
            <a:ext cx="495935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R$ 140 mi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6889750" y="4317702"/>
            <a:ext cx="4959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6889750" y="4870152"/>
            <a:ext cx="450850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889750" y="5105102"/>
            <a:ext cx="4643755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Duas praças novas e segunda bancada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889750" y="5977434"/>
            <a:ext cx="495935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R$ 3,1 mi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889750" y="6489799"/>
            <a:ext cx="4643755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Exige 12 contratações no comercial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2045951" y="2490192"/>
            <a:ext cx="5194300" cy="6558558"/>
          </a:xfrm>
          <a:prstGeom prst="roundRect">
            <a:avLst>
              <a:gd name="adj" fmla="val 1467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395200" y="2877542"/>
            <a:ext cx="49453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AGRESSIVO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2395200" y="3455392"/>
            <a:ext cx="494538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R$ 178 mi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12395200" y="4324052"/>
            <a:ext cx="4945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2395200" y="4876502"/>
            <a:ext cx="44958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2395200" y="5111453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Quatro praças e centro de distribuição próprio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2395200" y="5983784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R$ 7,4 mi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2395200" y="6496149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execução e caixa apertado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639913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Projeções de exemplo para demonstração de layout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828687" y="9264650"/>
            <a:ext cx="48527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Comparação de cenários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4956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PESSOAS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Quem conduz o plano de expansão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7664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Marina Andrade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Diretora Financeira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47750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Orçamento das praças e estrutura de capital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5191125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41039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191125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Paulo Duarte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5191125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Comercial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191125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ativa e time de campo regional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9334500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84414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334500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Rafael Lima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334500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Head de Suprimentos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334500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Importação, compra de frota e remanufatura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3477875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427789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3477875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Juliana Prado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3477875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de Operações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3477875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Desmonte, logística e prazo de entrega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945718" y="9264650"/>
            <a:ext cx="25239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Equipe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8709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CASE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Transportes Vale Norte · 312 veículos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8334970" cy="6558558"/>
          </a:xfrm>
          <a:prstGeom prst="roundRect">
            <a:avLst>
              <a:gd name="adj" fmla="val 1162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2947392"/>
            <a:ext cx="82464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82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“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466850" y="3785592"/>
            <a:ext cx="7721673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Trocamos o motor de sete caminhões em quatro meses sem tirar nenhum de rota por mais de dois dias.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466850" y="7893050"/>
            <a:ext cx="698500" cy="698500"/>
          </a:xfrm>
          <a:prstGeom prst="ellipse">
            <a:avLst/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35100" y="7899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55850" y="7893050"/>
            <a:ext cx="244420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Carlos Menezes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2355850" y="8267700"/>
            <a:ext cx="24442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de frota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9992320" y="2490192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012D2B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3320" y="2833092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Redução no custo de manutenção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373320" y="3252192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−31%</a:t>
            </a:r>
            <a:endParaRPr lang="en-US" sz="5400" dirty="0"/>
          </a:p>
        </p:txBody>
      </p:sp>
      <p:sp>
        <p:nvSpPr>
          <p:cNvPr id="15" name="Shape 12"/>
          <p:cNvSpPr/>
          <p:nvPr/>
        </p:nvSpPr>
        <p:spPr>
          <a:xfrm>
            <a:off x="9992320" y="4543723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373320" y="4886623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Disponibilidade de frota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373320" y="5305723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94%</a:t>
            </a:r>
            <a:endParaRPr lang="en-US" sz="5400" dirty="0"/>
          </a:p>
        </p:txBody>
      </p:sp>
      <p:sp>
        <p:nvSpPr>
          <p:cNvPr id="18" name="Shape 15"/>
          <p:cNvSpPr/>
          <p:nvPr/>
        </p:nvSpPr>
        <p:spPr>
          <a:xfrm>
            <a:off x="9992320" y="6597253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10373320" y="6940153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gerada em 12 meses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0373320" y="7359253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R$ 1,9 mi</a:t>
            </a:r>
            <a:endParaRPr lang="en-US" sz="5400" dirty="0"/>
          </a:p>
        </p:txBody>
      </p:sp>
      <p:sp>
        <p:nvSpPr>
          <p:cNvPr id="21" name="Shape 1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1047750" y="9264650"/>
            <a:ext cx="521943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Case fictício para demonstração de layout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560623" y="9264650"/>
            <a:ext cx="40475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Case / depoimento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06755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87618" y="9201150"/>
            <a:ext cx="37218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Ponto de decisão (duas opções)</a:t>
            </a:r>
            <a:endParaRPr lang="en-US" sz="1950" dirty="0"/>
          </a:p>
        </p:txBody>
      </p:sp>
      <p:sp>
        <p:nvSpPr>
          <p:cNvPr id="9" name="Rounded Rectangle 8"/>
          <p:cNvSpPr/>
          <p:nvPr/>
        </p:nvSpPr>
        <p:spPr>
          <a:xfrm>
            <a:off x="1048817" y="8732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8817" y="873252"/>
            <a:ext cx="3291840" cy="5303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PONTO DE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817" y="1600200"/>
            <a:ext cx="14173200" cy="960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Pergunta que precisa de decisão da diretoria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8817" y="2697480"/>
            <a:ext cx="1600200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3CCAB"/>
                </a:solidFill>
                <a:latin typeface="Elms Sans"/>
                <a:ea typeface="Elms Sans"/>
                <a:cs typeface="Elms Sans"/>
              </a:rPr>
              <a:t>Contexto objetivo do que está em jogo — por que essa decisão é necessária agora e o que muda dependendo do caminho escolhido.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817" y="3977640"/>
            <a:ext cx="8092440" cy="3383280"/>
          </a:xfrm>
          <a:prstGeom prst="roundRect">
            <a:avLst>
              <a:gd name="adj" fmla="val 3000"/>
            </a:avLst>
          </a:prstGeom>
          <a:solidFill>
            <a:srgbClr val="0A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8817" y="3977640"/>
            <a:ext cx="8092440" cy="64008"/>
          </a:xfrm>
          <a:prstGeom prst="rect">
            <a:avLst/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6017" y="4434840"/>
            <a:ext cx="717804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Opção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6017" y="5257800"/>
            <a:ext cx="71780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AF0EC"/>
                </a:solidFill>
                <a:latin typeface="Elms Sans"/>
                <a:ea typeface="Elms Sans"/>
                <a:cs typeface="Elms Sans"/>
              </a:rPr>
              <a:t>Descrição objetiva do primeiro caminho possível e o que ele exige.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6017" y="6492240"/>
            <a:ext cx="71780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F26800"/>
                </a:solidFill>
                <a:latin typeface="Elms Sans"/>
                <a:ea typeface="Elms Sans"/>
                <a:cs typeface="Elms Sans"/>
              </a:rPr>
              <a:t>↳ Principal vantagem desta opção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8457" y="3977640"/>
            <a:ext cx="8092440" cy="3383280"/>
          </a:xfrm>
          <a:prstGeom prst="roundRect">
            <a:avLst>
              <a:gd name="adj" fmla="val 3000"/>
            </a:avLst>
          </a:prstGeom>
          <a:solidFill>
            <a:srgbClr val="0A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98457" y="3977640"/>
            <a:ext cx="8092440" cy="64008"/>
          </a:xfrm>
          <a:prstGeom prst="rect">
            <a:avLst/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5657" y="4434840"/>
            <a:ext cx="717804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Opção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5657" y="5257800"/>
            <a:ext cx="71780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AF0EC"/>
                </a:solidFill>
                <a:latin typeface="Elms Sans"/>
                <a:ea typeface="Elms Sans"/>
                <a:cs typeface="Elms Sans"/>
              </a:rPr>
              <a:t>Descrição objetiva do segundo caminho possível e o que ele exige.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5657" y="6492240"/>
            <a:ext cx="71780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F26800"/>
                </a:solidFill>
                <a:latin typeface="Elms Sans"/>
                <a:ea typeface="Elms Sans"/>
                <a:cs typeface="Elms Sans"/>
              </a:rPr>
              <a:t>↳ Principal vantagem desta opção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8817" y="8138160"/>
            <a:ext cx="160020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0" i="1">
                <a:solidFill>
                  <a:srgbClr val="A3CCAB"/>
                </a:solidFill>
                <a:latin typeface="Elms Sans"/>
                <a:ea typeface="Elms Sans"/>
                <a:cs typeface="Elms Sans"/>
              </a:rPr>
              <a:t>Recomendação: levar como ponto de discussão à diretoria — não como definição já fechada.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06755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87618" y="9201150"/>
            <a:ext cx="37218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Ponto de decisão (lista consolidada)</a:t>
            </a:r>
            <a:endParaRPr lang="en-US" sz="1950" dirty="0"/>
          </a:p>
        </p:txBody>
      </p:sp>
      <p:sp>
        <p:nvSpPr>
          <p:cNvPr id="9" name="Rounded Rectangle 8"/>
          <p:cNvSpPr/>
          <p:nvPr/>
        </p:nvSpPr>
        <p:spPr>
          <a:xfrm>
            <a:off x="1048817" y="8732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8817" y="873252"/>
            <a:ext cx="3291840" cy="5303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PONTO DE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817" y="1600200"/>
            <a:ext cx="14173200" cy="960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Pontos de decisão para a diretoria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8817" y="2606040"/>
            <a:ext cx="16184880" cy="1371600"/>
          </a:xfrm>
          <a:prstGeom prst="roundRect">
            <a:avLst>
              <a:gd name="adj" fmla="val 6000"/>
            </a:avLst>
          </a:prstGeom>
          <a:solidFill>
            <a:srgbClr val="0A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4577" y="2889504"/>
            <a:ext cx="804672" cy="804672"/>
          </a:xfrm>
          <a:prstGeom prst="ellipse">
            <a:avLst/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i_desmon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231" y="3002158"/>
            <a:ext cx="579364" cy="5793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11857" y="2752344"/>
            <a:ext cx="310896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Área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2257" y="2752344"/>
            <a:ext cx="1115568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EAF0EC"/>
                </a:solidFill>
                <a:latin typeface="Elms Sans"/>
                <a:ea typeface="Elms Sans"/>
                <a:cs typeface="Elms Sans"/>
              </a:rPr>
              <a:t>Do que se trata essa decisão, em uma frase objetiva.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8817" y="4160520"/>
            <a:ext cx="16184880" cy="1371600"/>
          </a:xfrm>
          <a:prstGeom prst="roundRect">
            <a:avLst>
              <a:gd name="adj" fmla="val 6000"/>
            </a:avLst>
          </a:prstGeom>
          <a:solidFill>
            <a:srgbClr val="0A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4577" y="4443984"/>
            <a:ext cx="804672" cy="804672"/>
          </a:xfrm>
          <a:prstGeom prst="ellipse">
            <a:avLst/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i_docume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231" y="4556638"/>
            <a:ext cx="579364" cy="5793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11857" y="4306824"/>
            <a:ext cx="310896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Área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2257" y="4306824"/>
            <a:ext cx="1115568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EAF0EC"/>
                </a:solidFill>
                <a:latin typeface="Elms Sans"/>
                <a:ea typeface="Elms Sans"/>
                <a:cs typeface="Elms Sans"/>
              </a:rPr>
              <a:t>Do que se trata essa decisão, em uma frase objetiva.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8817" y="5715000"/>
            <a:ext cx="16184880" cy="1371600"/>
          </a:xfrm>
          <a:prstGeom prst="roundRect">
            <a:avLst>
              <a:gd name="adj" fmla="val 6000"/>
            </a:avLst>
          </a:prstGeom>
          <a:solidFill>
            <a:srgbClr val="0A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4577" y="5998464"/>
            <a:ext cx="804672" cy="804672"/>
          </a:xfrm>
          <a:prstGeom prst="ellipse">
            <a:avLst/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i_armazenament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231" y="6111118"/>
            <a:ext cx="579364" cy="5793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11857" y="5861304"/>
            <a:ext cx="310896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Área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2257" y="5861304"/>
            <a:ext cx="1115568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EAF0EC"/>
                </a:solidFill>
                <a:latin typeface="Elms Sans"/>
                <a:ea typeface="Elms Sans"/>
                <a:cs typeface="Elms Sans"/>
              </a:rPr>
              <a:t>Do que se trata essa decisão, em uma frase objetiva.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8817" y="7269480"/>
            <a:ext cx="16184880" cy="1371600"/>
          </a:xfrm>
          <a:prstGeom prst="roundRect">
            <a:avLst>
              <a:gd name="adj" fmla="val 6000"/>
            </a:avLst>
          </a:prstGeom>
          <a:solidFill>
            <a:srgbClr val="0A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14577" y="7552944"/>
            <a:ext cx="804672" cy="804672"/>
          </a:xfrm>
          <a:prstGeom prst="ellipse">
            <a:avLst/>
          </a:prstGeom>
          <a:solidFill>
            <a:srgbClr val="F2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i_motor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231" y="7665598"/>
            <a:ext cx="579364" cy="5793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511857" y="7415784"/>
            <a:ext cx="310896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Área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2257" y="7415784"/>
            <a:ext cx="11155680" cy="10789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EAF0EC"/>
                </a:solidFill>
                <a:latin typeface="Elms Sans"/>
                <a:ea typeface="Elms Sans"/>
                <a:cs typeface="Elms Sans"/>
              </a:rPr>
              <a:t>Do que se trata essa decisão, em uma frase objetiva.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2932966" y="9264650"/>
            <a:ext cx="47380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Fluxograma com bifurcação e convergência</a:t>
            </a:r>
            <a:endParaRPr lang="en-US" sz="1800" dirty="0"/>
          </a:p>
        </p:txBody>
      </p:sp>
      <p:sp>
        <p:nvSpPr>
          <p:cNvPr id="34" name="TextBox 33"/>
          <p:cNvSpPr txBox="1"/>
          <p:nvPr/>
        </p:nvSpPr>
        <p:spPr>
          <a:xfrm>
            <a:off x="1048817" y="873252"/>
            <a:ext cx="5486400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950" b="1" i="0">
                <a:solidFill>
                  <a:srgbClr val="0C6D61"/>
                </a:solidFill>
                <a:latin typeface="Elms Sans"/>
                <a:ea typeface="Elms Sans"/>
                <a:cs typeface="Elms Sans"/>
              </a:rPr>
              <a:t>PROCESSO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817" y="1371600"/>
            <a:ext cx="14173200" cy="960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 i="0">
                <a:solidFill>
                  <a:srgbClr val="012D2B"/>
                </a:solidFill>
                <a:latin typeface="Elms Sans"/>
                <a:ea typeface="Elms Sans"/>
                <a:cs typeface="Elms Sans"/>
              </a:rPr>
              <a:t>Como o processo se ramifica e converge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07608" y="2606040"/>
            <a:ext cx="8001000" cy="960120"/>
          </a:xfrm>
          <a:prstGeom prst="roundRect">
            <a:avLst>
              <a:gd name="adj" fmla="val 10000"/>
            </a:avLst>
          </a:prstGeom>
          <a:solidFill>
            <a:srgbClr val="01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724912"/>
            <a:ext cx="7315200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1. Etapa inicial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108960"/>
            <a:ext cx="7315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A3CCAB"/>
                </a:solidFill>
                <a:latin typeface="Elms Sans"/>
                <a:ea typeface="Elms Sans"/>
                <a:cs typeface="Elms Sans"/>
              </a:rPr>
              <a:t>Descrição breve do primeiro passo do processo.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12680" y="3566160"/>
            <a:ext cx="0" cy="320040"/>
          </a:xfrm>
          <a:prstGeom prst="line">
            <a:avLst/>
          </a:prstGeom>
          <a:ln w="28575">
            <a:solidFill>
              <a:srgbClr val="0C6D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37637" y="3886200"/>
            <a:ext cx="12893040" cy="0"/>
          </a:xfrm>
          <a:prstGeom prst="line">
            <a:avLst/>
          </a:prstGeom>
          <a:ln w="28575">
            <a:solidFill>
              <a:srgbClr val="A3C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37637" y="3886200"/>
            <a:ext cx="0" cy="27432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35317" y="3886200"/>
            <a:ext cx="0" cy="27432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632997" y="3886200"/>
            <a:ext cx="0" cy="27432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5930677" y="3886200"/>
            <a:ext cx="0" cy="27432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48817" y="4160520"/>
            <a:ext cx="3977640" cy="1965960"/>
          </a:xfrm>
          <a:prstGeom prst="roundRect">
            <a:avLst>
              <a:gd name="adj" fmla="val 5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04849" y="4416552"/>
            <a:ext cx="3465576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50" b="1" i="0">
                <a:solidFill>
                  <a:srgbClr val="012D2B"/>
                </a:solidFill>
                <a:latin typeface="Elms Sans"/>
                <a:ea typeface="Elms Sans"/>
                <a:cs typeface="Elms Sans"/>
              </a:rPr>
              <a:t>Fluxo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4849" y="4846320"/>
            <a:ext cx="3465576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6369"/>
                </a:solidFill>
                <a:latin typeface="Elms Sans"/>
                <a:ea typeface="Elms Sans"/>
                <a:cs typeface="Elms Sans"/>
              </a:rPr>
              <a:t>O que acontece nesta etapa em paralelo.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46497" y="4160520"/>
            <a:ext cx="3977640" cy="1965960"/>
          </a:xfrm>
          <a:prstGeom prst="roundRect">
            <a:avLst>
              <a:gd name="adj" fmla="val 5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02529" y="4416552"/>
            <a:ext cx="3465576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50" b="1" i="0">
                <a:solidFill>
                  <a:srgbClr val="012D2B"/>
                </a:solidFill>
                <a:latin typeface="Elms Sans"/>
                <a:ea typeface="Elms Sans"/>
                <a:cs typeface="Elms Sans"/>
              </a:rPr>
              <a:t>Fluxo 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02529" y="4846320"/>
            <a:ext cx="3465576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6369"/>
                </a:solidFill>
                <a:latin typeface="Elms Sans"/>
                <a:ea typeface="Elms Sans"/>
                <a:cs typeface="Elms Sans"/>
              </a:rPr>
              <a:t>O que acontece nesta etapa em paralelo.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4177" y="4160520"/>
            <a:ext cx="3977640" cy="1965960"/>
          </a:xfrm>
          <a:prstGeom prst="roundRect">
            <a:avLst>
              <a:gd name="adj" fmla="val 5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00209" y="4416552"/>
            <a:ext cx="3465576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50" b="1" i="0">
                <a:solidFill>
                  <a:srgbClr val="012D2B"/>
                </a:solidFill>
                <a:latin typeface="Elms Sans"/>
                <a:ea typeface="Elms Sans"/>
                <a:cs typeface="Elms Sans"/>
              </a:rPr>
              <a:t>Fluxo 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0209" y="4846320"/>
            <a:ext cx="3465576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6369"/>
                </a:solidFill>
                <a:latin typeface="Elms Sans"/>
                <a:ea typeface="Elms Sans"/>
                <a:cs typeface="Elms Sans"/>
              </a:rPr>
              <a:t>O que acontece nesta etapa em paralelo.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941857" y="4160520"/>
            <a:ext cx="3977640" cy="1965960"/>
          </a:xfrm>
          <a:prstGeom prst="roundRect">
            <a:avLst>
              <a:gd name="adj" fmla="val 5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197889" y="4416552"/>
            <a:ext cx="3465576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50" b="1" i="0">
                <a:solidFill>
                  <a:srgbClr val="012D2B"/>
                </a:solidFill>
                <a:latin typeface="Elms Sans"/>
                <a:ea typeface="Elms Sans"/>
                <a:cs typeface="Elms Sans"/>
              </a:rPr>
              <a:t>Fluxo 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97889" y="4846320"/>
            <a:ext cx="3465576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6369"/>
                </a:solidFill>
                <a:latin typeface="Elms Sans"/>
                <a:ea typeface="Elms Sans"/>
                <a:cs typeface="Elms Sans"/>
              </a:rPr>
              <a:t>O que acontece nesta etapa em paralelo.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037637" y="6126480"/>
            <a:ext cx="0" cy="32004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335317" y="6126480"/>
            <a:ext cx="0" cy="32004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632997" y="6126480"/>
            <a:ext cx="0" cy="32004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930677" y="6126480"/>
            <a:ext cx="0" cy="320040"/>
          </a:xfrm>
          <a:prstGeom prst="line">
            <a:avLst/>
          </a:prstGeom>
          <a:ln w="28575">
            <a:solidFill>
              <a:srgbClr val="A3C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37637" y="6446520"/>
            <a:ext cx="12893040" cy="0"/>
          </a:xfrm>
          <a:prstGeom prst="line">
            <a:avLst/>
          </a:prstGeom>
          <a:ln w="28575">
            <a:solidFill>
              <a:srgbClr val="A3C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12680" y="6446520"/>
            <a:ext cx="0" cy="320040"/>
          </a:xfrm>
          <a:prstGeom prst="line">
            <a:avLst/>
          </a:prstGeom>
          <a:ln w="28575">
            <a:solidFill>
              <a:srgbClr val="0C6D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029200" y="6766560"/>
            <a:ext cx="10058400" cy="868680"/>
          </a:xfrm>
          <a:prstGeom prst="roundRect">
            <a:avLst>
              <a:gd name="adj" fmla="val 10000"/>
            </a:avLst>
          </a:prstGeom>
          <a:solidFill>
            <a:srgbClr val="0C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0" y="6766560"/>
            <a:ext cx="93268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Elms Sans"/>
                <a:ea typeface="Elms Sans"/>
                <a:cs typeface="Elms Sans"/>
              </a:rPr>
              <a:t>Etapa final consolidada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8817" y="7909560"/>
            <a:ext cx="161848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50" b="1" i="1">
                <a:solidFill>
                  <a:srgbClr val="0C6D61"/>
                </a:solidFill>
                <a:latin typeface="Elms Sans"/>
                <a:ea typeface="Elms Sans"/>
                <a:cs typeface="Elms Sans"/>
              </a:rPr>
              <a:t>Use quando um processo se divide em execuções paralelas que depois retornam a um ponto único — não apenas para fluxos lineares.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Operação: pátio, peças e entrega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300" y="2559546"/>
            <a:ext cx="990600" cy="99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3745" y="3702546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Desmontagem de veículos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559546"/>
            <a:ext cx="990600" cy="990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61364" y="3702546"/>
            <a:ext cx="21357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peças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8700" y="2559546"/>
            <a:ext cx="990600" cy="990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77068" y="3702546"/>
            <a:ext cx="23338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de peças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2559546"/>
            <a:ext cx="990600" cy="990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47845" y="3702546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</a:t>
            </a:r>
            <a:endParaRPr lang="en-US" sz="19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78100" y="2559546"/>
            <a:ext cx="990600" cy="990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197087" y="3702546"/>
            <a:ext cx="315252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 e transmissões</a:t>
            </a:r>
            <a:endParaRPr lang="en-US" sz="1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19300" y="5159871"/>
            <a:ext cx="990600" cy="990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367314" y="6302871"/>
            <a:ext cx="2294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Oficina e serviços</a:t>
            </a:r>
            <a:endParaRPr lang="en-US" sz="19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4000" y="5159871"/>
            <a:ext cx="990600" cy="990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425533" y="6302871"/>
            <a:ext cx="28075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Inspeção e qualidade</a:t>
            </a:r>
            <a:endParaRPr lang="en-US" sz="19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8700" y="5159871"/>
            <a:ext cx="990600" cy="990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081953" y="6302871"/>
            <a:ext cx="21240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Armazenamento</a:t>
            </a:r>
            <a:endParaRPr lang="en-US" sz="19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63400" y="5159871"/>
            <a:ext cx="990600" cy="9906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191032" y="6302871"/>
            <a:ext cx="25353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 e entrega</a:t>
            </a:r>
            <a:endParaRPr lang="en-US" sz="19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8100" y="5159871"/>
            <a:ext cx="990600" cy="9906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776400" y="6302871"/>
            <a:ext cx="19939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Rastreabilidade</a:t>
            </a:r>
            <a:endParaRPr lang="en-US" sz="1950" dirty="0"/>
          </a:p>
        </p:txBody>
      </p:sp>
      <p:sp>
        <p:nvSpPr>
          <p:cNvPr id="2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26" name="Text 13"/>
          <p:cNvSpPr/>
          <p:nvPr/>
        </p:nvSpPr>
        <p:spPr>
          <a:xfrm>
            <a:off x="1047750" y="9264650"/>
            <a:ext cx="104102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Traço monolinear de 2,2 px em grade de 48 px · use sempre em uma cor por ícone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12193191" y="9264650"/>
            <a:ext cx="555176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verde)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Comercial, veículos e economia circular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300" y="2559546"/>
            <a:ext cx="990600" cy="99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66659" y="3702546"/>
            <a:ext cx="14958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559546"/>
            <a:ext cx="990600" cy="990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20382" y="3702546"/>
            <a:ext cx="26177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 de veículos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8700" y="2559546"/>
            <a:ext cx="990600" cy="990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61248" y="3702546"/>
            <a:ext cx="23654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veículos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2559546"/>
            <a:ext cx="990600" cy="990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420883" y="3702546"/>
            <a:ext cx="20756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 do cliente</a:t>
            </a:r>
            <a:endParaRPr lang="en-US" sz="19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78100" y="2559546"/>
            <a:ext cx="990600" cy="990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738857" y="3702546"/>
            <a:ext cx="206908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</a:t>
            </a:r>
            <a:endParaRPr lang="en-US" sz="1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19300" y="4850309"/>
            <a:ext cx="990600" cy="990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949946" y="5993309"/>
            <a:ext cx="112920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</a:t>
            </a:r>
            <a:endParaRPr lang="en-US" sz="19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4000" y="4850309"/>
            <a:ext cx="990600" cy="990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49708" y="5993309"/>
            <a:ext cx="23591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circular</a:t>
            </a:r>
            <a:endParaRPr lang="en-US" sz="19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8700" y="4850309"/>
            <a:ext cx="990600" cy="990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7633145" y="5993309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Selos e ativos ambientais</a:t>
            </a:r>
            <a:endParaRPr lang="en-US" sz="19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63400" y="4850309"/>
            <a:ext cx="990600" cy="9906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094006" y="5993309"/>
            <a:ext cx="27293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Reciclagem de metal</a:t>
            </a:r>
            <a:endParaRPr lang="en-US" sz="19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8100" y="4850309"/>
            <a:ext cx="990600" cy="9906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524613" y="5993309"/>
            <a:ext cx="249757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de custo</a:t>
            </a:r>
            <a:endParaRPr lang="en-US" sz="1950" dirty="0"/>
          </a:p>
        </p:txBody>
      </p:sp>
      <p:sp>
        <p:nvSpPr>
          <p:cNvPr id="2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26" name="Text 13"/>
          <p:cNvSpPr/>
          <p:nvPr/>
        </p:nvSpPr>
        <p:spPr>
          <a:xfrm>
            <a:off x="1047750" y="9264650"/>
            <a:ext cx="88066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 reservado aos temas ambientais · nunca mais de três por slide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10083900" y="9264650"/>
            <a:ext cx="78719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verde · menta e laranja)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Conjunto completo para fundos claros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0750" y="2407146"/>
            <a:ext cx="647700" cy="647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9378" y="3207246"/>
            <a:ext cx="31503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Desmontagem de veículos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5450" y="2407146"/>
            <a:ext cx="647700" cy="647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43542" y="3207246"/>
            <a:ext cx="19715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peças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0150" y="2407146"/>
            <a:ext cx="647700" cy="6477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66787" y="3207246"/>
            <a:ext cx="21543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de peças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34850" y="2407146"/>
            <a:ext cx="647700" cy="6477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882279" y="3207246"/>
            <a:ext cx="3152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449550" y="2407146"/>
            <a:ext cx="647700" cy="6477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318337" y="3207246"/>
            <a:ext cx="2910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 e transmissões</a:t>
            </a:r>
            <a:endParaRPr lang="en-US" sz="18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90750" y="3873996"/>
            <a:ext cx="647700" cy="6477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55504" y="4674096"/>
            <a:ext cx="21180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Oficina e serviços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5450" y="3873996"/>
            <a:ext cx="647700" cy="6477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533474" y="4674096"/>
            <a:ext cx="25916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Inspeção e qualidade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20150" y="3873996"/>
            <a:ext cx="647700" cy="6477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163595" y="4674096"/>
            <a:ext cx="1960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Armazenamento</a:t>
            </a:r>
            <a:endParaRPr lang="en-US" sz="18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134850" y="3873996"/>
            <a:ext cx="647700" cy="6477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288499" y="4674096"/>
            <a:ext cx="23403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 e entrega</a:t>
            </a:r>
            <a:endParaRPr lang="en-US" sz="18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449550" y="3873996"/>
            <a:ext cx="647700" cy="6477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853022" y="4674096"/>
            <a:ext cx="18406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Rastreabilidade</a:t>
            </a:r>
            <a:endParaRPr lang="en-US" sz="1800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90750" y="5340846"/>
            <a:ext cx="647700" cy="64770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824176" y="6140946"/>
            <a:ext cx="13808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800" dirty="0"/>
          </a:p>
        </p:txBody>
      </p:sp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05450" y="5340846"/>
            <a:ext cx="647700" cy="64770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4621113" y="6140946"/>
            <a:ext cx="2416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 de veículos</a:t>
            </a:r>
            <a:endParaRPr lang="en-US" sz="1800" dirty="0"/>
          </a:p>
        </p:txBody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20150" y="5340846"/>
            <a:ext cx="647700" cy="64770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8052267" y="6140946"/>
            <a:ext cx="21834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veículos</a:t>
            </a:r>
            <a:endParaRPr lang="en-US" sz="1800" dirty="0"/>
          </a:p>
        </p:txBody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2134850" y="5340846"/>
            <a:ext cx="647700" cy="6477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11500669" y="6140946"/>
            <a:ext cx="19159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 do cliente</a:t>
            </a:r>
            <a:endParaRPr lang="en-US" sz="1800" dirty="0"/>
          </a:p>
        </p:txBody>
      </p:sp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449550" y="5340846"/>
            <a:ext cx="647700" cy="64770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4818425" y="6140946"/>
            <a:ext cx="19098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</a:t>
            </a:r>
            <a:endParaRPr lang="en-US" sz="1800" dirty="0"/>
          </a:p>
        </p:txBody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90750" y="6807696"/>
            <a:ext cx="647700" cy="647700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1990427" y="7607796"/>
            <a:ext cx="1048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</a:t>
            </a:r>
            <a:endParaRPr lang="en-US" sz="1800" dirty="0"/>
          </a:p>
        </p:txBody>
      </p:sp>
      <p:pic>
        <p:nvPicPr>
          <p:cNvPr id="37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505450" y="6807696"/>
            <a:ext cx="647700" cy="647700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4740409" y="7607796"/>
            <a:ext cx="2177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circular</a:t>
            </a:r>
            <a:endParaRPr lang="en-US" sz="1800" dirty="0"/>
          </a:p>
        </p:txBody>
      </p:sp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20150" y="6807696"/>
            <a:ext cx="647700" cy="647700"/>
          </a:xfrm>
          <a:prstGeom prst="rect">
            <a:avLst/>
          </a:prstGeom>
        </p:spPr>
      </p:pic>
      <p:sp>
        <p:nvSpPr>
          <p:cNvPr id="40" name="Text 19"/>
          <p:cNvSpPr/>
          <p:nvPr/>
        </p:nvSpPr>
        <p:spPr>
          <a:xfrm>
            <a:off x="7632626" y="7607796"/>
            <a:ext cx="3022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Selos e ativos ambientais</a:t>
            </a:r>
            <a:endParaRPr lang="en-US" sz="1800" dirty="0"/>
          </a:p>
        </p:txBody>
      </p:sp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134850" y="6807696"/>
            <a:ext cx="647700" cy="647700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11198999" y="7607796"/>
            <a:ext cx="25194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Reciclagem de metal</a:t>
            </a:r>
            <a:endParaRPr lang="en-US" sz="1800" dirty="0"/>
          </a:p>
        </p:txBody>
      </p:sp>
      <p:pic>
        <p:nvPicPr>
          <p:cNvPr id="43" name="Image 20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5449550" y="6807696"/>
            <a:ext cx="647700" cy="647700"/>
          </a:xfrm>
          <a:prstGeom prst="rect">
            <a:avLst/>
          </a:prstGeom>
        </p:spPr>
      </p:pic>
      <p:sp>
        <p:nvSpPr>
          <p:cNvPr id="44" name="Text 21"/>
          <p:cNvSpPr/>
          <p:nvPr/>
        </p:nvSpPr>
        <p:spPr>
          <a:xfrm>
            <a:off x="14620657" y="7607796"/>
            <a:ext cx="23054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de custo</a:t>
            </a:r>
            <a:endParaRPr lang="en-US" sz="1800" dirty="0"/>
          </a:p>
        </p:txBody>
      </p:sp>
      <p:sp>
        <p:nvSpPr>
          <p:cNvPr id="4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6" name="Text 23"/>
          <p:cNvSpPr/>
          <p:nvPr/>
        </p:nvSpPr>
        <p:spPr>
          <a:xfrm>
            <a:off x="1047750" y="9264650"/>
            <a:ext cx="114455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fundo claro o ícone é sempre verde escuro · laranja só em número ou selo em destaque</a:t>
            </a:r>
            <a:endParaRPr lang="en-US" sz="1800" dirty="0"/>
          </a:p>
        </p:txBody>
      </p:sp>
      <p:sp>
        <p:nvSpPr>
          <p:cNvPr id="47" name="Text 24"/>
          <p:cNvSpPr/>
          <p:nvPr/>
        </p:nvSpPr>
        <p:spPr>
          <a:xfrm>
            <a:off x="12023329" y="9264650"/>
            <a:ext cx="57386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branco)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1745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Versões do logo e onde usar cada uma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47750" y="2407146"/>
            <a:ext cx="7943850" cy="3168353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2925465"/>
            <a:ext cx="4000500" cy="8933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4100" y="4330898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4"/>
          <p:cNvSpPr/>
          <p:nvPr/>
        </p:nvSpPr>
        <p:spPr>
          <a:xfrm>
            <a:off x="1358900" y="4565849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Completo · fundo claro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358900" y="5016698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Capa, documento impresso e material institucional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9296400" y="2407146"/>
            <a:ext cx="7943850" cy="3168353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302750" y="2413496"/>
            <a:ext cx="7931150" cy="1917402"/>
          </a:xfrm>
          <a:custGeom>
            <a:avLst/>
            <a:gdLst/>
            <a:ahLst/>
            <a:cxnLst/>
            <a:rect l="l" t="t" r="r" b="b"/>
            <a:pathLst>
              <a:path w="7931150" h="1917402">
                <a:moveTo>
                  <a:pt x="66675" y="0"/>
                </a:moveTo>
                <a:lnTo>
                  <a:pt x="7864475" y="0"/>
                </a:lnTo>
                <a:arcTo hR="66675" wR="66675" stAng="16200000" swAng="5400000"/>
                <a:lnTo>
                  <a:pt x="7931150" y="1917402"/>
                </a:lnTo>
                <a:lnTo>
                  <a:pt x="0" y="1917402"/>
                </a:lnTo>
                <a:lnTo>
                  <a:pt x="0" y="66675"/>
                </a:lnTo>
                <a:arcTo hR="66675" wR="66675" stAng="10800000" swAng="5400000"/>
                <a:close/>
              </a:path>
            </a:pathLst>
          </a:custGeom>
          <a:solidFill>
            <a:srgbClr val="012D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075" y="2925465"/>
            <a:ext cx="4000500" cy="89336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02750" y="4330898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9"/>
          <p:cNvSpPr/>
          <p:nvPr/>
        </p:nvSpPr>
        <p:spPr>
          <a:xfrm>
            <a:off x="9607550" y="4565849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Completo · fundo verde</a:t>
            </a:r>
            <a:endParaRPr lang="en-US" sz="2250" dirty="0"/>
          </a:p>
        </p:txBody>
      </p:sp>
      <p:sp>
        <p:nvSpPr>
          <p:cNvPr id="15" name="Text 10"/>
          <p:cNvSpPr/>
          <p:nvPr/>
        </p:nvSpPr>
        <p:spPr>
          <a:xfrm>
            <a:off x="9607550" y="5016698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 escura, divisor de seção e encerramento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>
            <a:off x="1047750" y="5880299"/>
            <a:ext cx="7943850" cy="3168452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6616800"/>
            <a:ext cx="28575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54100" y="7804150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9" name="Text 13"/>
          <p:cNvSpPr/>
          <p:nvPr/>
        </p:nvSpPr>
        <p:spPr>
          <a:xfrm>
            <a:off x="1358900" y="8039100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Simplificado · fundo claro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1358900" y="8489950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dos slides internos, altura de 30 px</a:t>
            </a:r>
            <a:endParaRPr lang="en-US" sz="1950" dirty="0"/>
          </a:p>
        </p:txBody>
      </p:sp>
      <p:sp>
        <p:nvSpPr>
          <p:cNvPr id="21" name="Shape 15"/>
          <p:cNvSpPr/>
          <p:nvPr/>
        </p:nvSpPr>
        <p:spPr>
          <a:xfrm>
            <a:off x="9296400" y="5880299"/>
            <a:ext cx="7943850" cy="3168452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02750" y="5886649"/>
            <a:ext cx="7931150" cy="1917502"/>
          </a:xfrm>
          <a:custGeom>
            <a:avLst/>
            <a:gdLst/>
            <a:ahLst/>
            <a:cxnLst/>
            <a:rect l="l" t="t" r="r" b="b"/>
            <a:pathLst>
              <a:path w="7931150" h="1917502">
                <a:moveTo>
                  <a:pt x="66675" y="0"/>
                </a:moveTo>
                <a:lnTo>
                  <a:pt x="7864475" y="0"/>
                </a:lnTo>
                <a:arcTo hR="66675" wR="66675" stAng="16200000" swAng="5400000"/>
                <a:lnTo>
                  <a:pt x="7931150" y="1917502"/>
                </a:lnTo>
                <a:lnTo>
                  <a:pt x="0" y="1917502"/>
                </a:lnTo>
                <a:lnTo>
                  <a:pt x="0" y="66675"/>
                </a:lnTo>
                <a:arcTo hR="66675" wR="66675" stAng="10800000" swAng="5400000"/>
                <a:close/>
              </a:path>
            </a:pathLst>
          </a:custGeom>
          <a:solidFill>
            <a:srgbClr val="012D2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9575" y="6616800"/>
            <a:ext cx="2857500" cy="4572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302750" y="7804150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5" name="Text 18"/>
          <p:cNvSpPr/>
          <p:nvPr/>
        </p:nvSpPr>
        <p:spPr>
          <a:xfrm>
            <a:off x="9607550" y="8039100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Simplificado · fundo verde</a:t>
            </a:r>
            <a:endParaRPr lang="en-US" sz="2250" dirty="0"/>
          </a:p>
        </p:txBody>
      </p:sp>
      <p:sp>
        <p:nvSpPr>
          <p:cNvPr id="26" name="Text 19"/>
          <p:cNvSpPr/>
          <p:nvPr/>
        </p:nvSpPr>
        <p:spPr>
          <a:xfrm>
            <a:off x="9607550" y="8489950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dos slides escuros, altura de 30 px</a:t>
            </a:r>
            <a:endParaRPr lang="en-US" sz="1950" dirty="0"/>
          </a:p>
        </p:txBody>
      </p:sp>
      <p:sp>
        <p:nvSpPr>
          <p:cNvPr id="27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8" name="Text 21"/>
          <p:cNvSpPr/>
          <p:nvPr/>
        </p:nvSpPr>
        <p:spPr>
          <a:xfrm>
            <a:off x="1047750" y="9264650"/>
            <a:ext cx="119558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Respiro mínimo em volta do logo: a altura da letra E · nunca aplicar sobre foto sem fundo sólido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3957995" y="9264650"/>
            <a:ext cx="361048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Grade de logos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0725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REFERÊNCIA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Paleta, tipografia e elementos do deck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47750" y="2369046"/>
            <a:ext cx="3055541" cy="1143000"/>
          </a:xfrm>
          <a:prstGeom prst="roundRect">
            <a:avLst>
              <a:gd name="adj" fmla="val 5000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645396"/>
            <a:ext cx="33610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Verde escuro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750" y="3994646"/>
            <a:ext cx="336109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#012D2B · fundos e texto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1891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0C6D61"/>
          </a:solidFill>
          <a:ln/>
        </p:spPr>
      </p:sp>
      <p:sp>
        <p:nvSpPr>
          <p:cNvPr id="9" name="Text 6"/>
          <p:cNvSpPr/>
          <p:nvPr/>
        </p:nvSpPr>
        <p:spPr>
          <a:xfrm>
            <a:off x="4331891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Teal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331891" y="3994646"/>
            <a:ext cx="33612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#0C6D61 · dados e rótulos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16130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A3CCAB"/>
          </a:solidFill>
          <a:ln/>
        </p:spPr>
      </p:sp>
      <p:sp>
        <p:nvSpPr>
          <p:cNvPr id="12" name="Text 9"/>
          <p:cNvSpPr/>
          <p:nvPr/>
        </p:nvSpPr>
        <p:spPr>
          <a:xfrm>
            <a:off x="7616130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Verde menta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616130" y="39946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#A3CCAB · apoio no escuro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900371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F26800"/>
          </a:solidFill>
          <a:ln/>
        </p:spPr>
      </p:sp>
      <p:sp>
        <p:nvSpPr>
          <p:cNvPr id="15" name="Text 12"/>
          <p:cNvSpPr/>
          <p:nvPr/>
        </p:nvSpPr>
        <p:spPr>
          <a:xfrm>
            <a:off x="10900371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900371" y="39946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#F26800 · um destaque por slide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4184611" y="2369046"/>
            <a:ext cx="3055640" cy="1155700"/>
          </a:xfrm>
          <a:prstGeom prst="roundRect">
            <a:avLst>
              <a:gd name="adj" fmla="val 494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184611" y="36580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Claro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4184611" y="40073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#EAF0EC · blocos e citações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47750" y="5023346"/>
            <a:ext cx="93953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TIPOGRAFIA · ELMS SANS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47750" y="5537696"/>
            <a:ext cx="939537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45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de slide · 60 px</a:t>
            </a:r>
            <a:endParaRPr lang="en-US" sz="4500" dirty="0"/>
          </a:p>
        </p:txBody>
      </p:sp>
      <p:sp>
        <p:nvSpPr>
          <p:cNvPr id="22" name="Text 19"/>
          <p:cNvSpPr/>
          <p:nvPr/>
        </p:nvSpPr>
        <p:spPr>
          <a:xfrm>
            <a:off x="1047750" y="6299696"/>
            <a:ext cx="93953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Corpo de texto e bullets · 34 px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047750" y="6833096"/>
            <a:ext cx="93953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Rótulo, legenda e rodapé · 26 px · mínimo 24 px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0122396" y="5023346"/>
            <a:ext cx="78296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ELEMENTOS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122396" y="5537696"/>
            <a:ext cx="133350" cy="419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10446246" y="5572621"/>
            <a:ext cx="314750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Filete laranja da capa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122396" y="6236196"/>
            <a:ext cx="11430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22396" y="6236196"/>
            <a:ext cx="68580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29" name="Text 26"/>
          <p:cNvSpPr/>
          <p:nvPr/>
        </p:nvSpPr>
        <p:spPr>
          <a:xfrm>
            <a:off x="11455896" y="6128246"/>
            <a:ext cx="44349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Barra de proporção em tabela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0122396" y="6804521"/>
            <a:ext cx="11430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31" name="Text 28"/>
          <p:cNvSpPr/>
          <p:nvPr/>
        </p:nvSpPr>
        <p:spPr>
          <a:xfrm>
            <a:off x="11455896" y="6648946"/>
            <a:ext cx="430232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laranja no card em foco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3" name="Text 30"/>
          <p:cNvSpPr/>
          <p:nvPr/>
        </p:nvSpPr>
        <p:spPr>
          <a:xfrm>
            <a:off x="1047750" y="9264650"/>
            <a:ext cx="807444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Máximo de dois fundos por apresentação: branco e verde escuro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329543" y="9264650"/>
            <a:ext cx="43017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Referência de marca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2026-08-15T01:36:00Z</dcterms:created>
  <dcterms:modified xsi:type="dcterms:W3CDTF">2026-08-15T01:36:00Z</dcterms:modified>
</cp:coreProperties>
</file>
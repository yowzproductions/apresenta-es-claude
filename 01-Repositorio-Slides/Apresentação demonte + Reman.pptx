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33" r:id="rId2"/>
    <p:sldId id="319" r:id="rId3"/>
    <p:sldId id="334" r:id="rId4"/>
    <p:sldId id="329" r:id="rId5"/>
    <p:sldId id="328" r:id="rId6"/>
    <p:sldId id="332" r:id="rId7"/>
    <p:sldId id="320" r:id="rId8"/>
    <p:sldId id="335" r:id="rId9"/>
    <p:sldId id="336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E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A90FA-225D-465D-A40D-F099C429919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5FDF0-E9AA-4EDF-A7AE-66E3D3D92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3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A42DD059-EF55-3B02-6169-5273AFE20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1c68248a1_0_12:notes">
            <a:extLst>
              <a:ext uri="{FF2B5EF4-FFF2-40B4-BE49-F238E27FC236}">
                <a16:creationId xmlns:a16="http://schemas.microsoft.com/office/drawing/2014/main" id="{8D06951E-6754-9C8B-5CC8-EA1C7B269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81" name="Google Shape;81;g391c68248a1_0_12:notes">
            <a:extLst>
              <a:ext uri="{FF2B5EF4-FFF2-40B4-BE49-F238E27FC236}">
                <a16:creationId xmlns:a16="http://schemas.microsoft.com/office/drawing/2014/main" id="{426DA972-AD07-7C33-D6F0-D033A4B2B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47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155BB297-316B-C78B-FBAF-FF5827D6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1c68248a1_0_12:notes">
            <a:extLst>
              <a:ext uri="{FF2B5EF4-FFF2-40B4-BE49-F238E27FC236}">
                <a16:creationId xmlns:a16="http://schemas.microsoft.com/office/drawing/2014/main" id="{DAD1FCDE-207B-8939-61B6-31A6DAE5E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81" name="Google Shape;81;g391c68248a1_0_12:notes">
            <a:extLst>
              <a:ext uri="{FF2B5EF4-FFF2-40B4-BE49-F238E27FC236}">
                <a16:creationId xmlns:a16="http://schemas.microsoft.com/office/drawing/2014/main" id="{877662D5-0CD3-48D1-A3C1-9F52B4FDB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7331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8C5DD-004E-890D-8FF4-10845C01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91E684-ABBA-8287-193E-EAF3859E3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2E4994-AC0A-4EB3-01B7-7845D10E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63735C-D5C4-15F6-4478-4A32A047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DE5960-8D93-047F-F694-488D77C4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767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2DEA2-13BA-2A80-AE89-FBA5A1C1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94DDD0-F435-48E9-CD91-02EAD4F15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A15ED7-2572-B284-8308-76FBDD3A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76E482-39F4-2F2F-5424-1FC10B3F1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F9158B-C437-80F5-692E-F70E6B45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5300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F16793-AD55-FE74-B883-21FCB2DC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DB6ABB-C110-9234-38AA-65F980CD1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EF56BB-EB39-2169-0CC9-B3E0833B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E23B9F-D13D-22DC-4543-F935C1017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8C23B0-5E45-0C1C-F656-E10551A4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931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234D3-66E9-815C-3741-00787126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69883-124A-78EC-9589-94D6C163C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A1EC43-1A65-68AB-5F3A-D62F728A0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6F367F-C919-320B-2FFB-3FA41C81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CB55EC-3D62-9631-E249-BCA3DA93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F625D5-30FF-C05A-E846-3CD130FD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99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73560-BE66-C87A-A06E-6B826E5E6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DD648F-2E9C-A75D-8E26-679406D48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384AB8-2444-04D9-3AF4-17EC4152E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0CDA8C-7FCC-7B46-2B2D-85AC8D0EF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A3994D-44DF-7433-9D83-E741FA2E5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A7322B0-38EF-3741-110E-DF9AE0CD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E09C45-ACC5-7CBE-BFD9-952D5AD4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AC13C0-A071-CD81-ECD0-C675507B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24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1356F-61E4-6A4F-A733-DA7EA824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E531243-B332-FDEA-AD94-2F899347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B71AA7B-5F52-501F-6B79-3EA44BF9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64BD71-4847-297A-7275-C36D621B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91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407CC78-79D0-DC4B-8750-2B1C6B72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CAE5C7-F4AE-F707-553D-B1449240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227F93-FBB1-BE47-CC71-92D98B70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29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02282-FBDE-CDD5-7343-7CCD15E4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BE3969-EEB4-7C50-4AEF-3677EDE7F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7B2072-5777-4E4A-203C-275B382B9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F4FC8B-7449-75A7-2CD0-60310A6F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0CC797-3331-8F37-AEF1-9D5F5425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C93152-9F33-D79A-31EF-F84FB309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96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560E0-3A8D-23C9-BB0F-ADAFC01C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84D3FF0-6D5C-2B92-08C0-D4775EA3E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025494-31EB-03DE-8D4B-3EA27A23A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FA8551-AEAC-9D16-5F00-9E0FDF45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296273-96B3-19F2-CFBF-3C5668683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3DB9C4-76CC-C379-9416-105AEAC6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17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4D23C-E1E3-6C8A-74DA-BB882A1D6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E1F017-D4D0-337C-706B-7F7ABA654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5104D1-7AE1-6F10-8D0F-0C04B2C3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241284-7687-E025-2702-EB2B7E6A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FA7B8F-ED47-7508-6EEA-00B6C1E4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68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C1C6F0-9786-1A7F-EAE0-DE9142A5D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5F307E-9B6A-3BAB-CB54-FBA6CEACF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45E073-24D5-D157-DC5D-4F32DB16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BFD041-B4E3-0CF2-E03A-69EFE3B8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85824F-276E-1625-0CB9-8C2F59BB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917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1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8" lvl="0" indent="-457206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15" lvl="1" indent="-42333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23" lvl="2" indent="-42333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31" lvl="3" indent="-42333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38" lvl="4" indent="-42333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46" lvl="5" indent="-42333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53" lvl="6" indent="-42333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61" lvl="7" indent="-42333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68" lvl="8" indent="-42333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14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28893FF-8775-8D99-27BC-7112545C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C2F0EA-79AA-1B3A-E7D8-812E5D9C6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246546-BA7A-8B36-1D10-30C30C777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CBB6E-2633-4A1D-8FB4-E7CD018131E3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172A4F-E3C7-2181-B073-3030A5311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2E691B-E1A6-E83A-C3C3-3CDAF9482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219571-F9CE-4AA5-AB93-2CC22D5C1D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33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3" Type="http://schemas.openxmlformats.org/officeDocument/2006/relationships/image" Target="../media/image27.svg"/><Relationship Id="rId7" Type="http://schemas.microsoft.com/office/2007/relationships/hdphoto" Target="../media/hdphoto1.wdp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sv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4" Type="http://schemas.openxmlformats.org/officeDocument/2006/relationships/image" Target="../media/image28.sv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161C-8EB8-6F3F-CE42-E287A13D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BB6B55A-4568-F927-00FA-5D196FF1BF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pt-BR" sz="135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4C678EC-528F-765B-DA91-C627AD1B5E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8C6CD6F-F3F7-991D-7F5F-EAF5233695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90D77034-D43F-7D5F-9EA8-5420D4A126DD}"/>
              </a:ext>
            </a:extLst>
          </p:cNvPr>
          <p:cNvSpPr/>
          <p:nvPr/>
        </p:nvSpPr>
        <p:spPr>
          <a:xfrm>
            <a:off x="75782" y="0"/>
            <a:ext cx="12192000" cy="6858000"/>
          </a:xfrm>
          <a:prstGeom prst="rect">
            <a:avLst/>
          </a:prstGeom>
          <a:solidFill>
            <a:srgbClr val="0F0F0F"/>
          </a:solidFill>
        </p:spPr>
        <p:txBody>
          <a:bodyPr/>
          <a:lstStyle/>
          <a:p>
            <a:endParaRPr lang="pt-BR" sz="1350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EBB9AC9-34BC-EFA6-DF38-69C832C79D60}"/>
              </a:ext>
            </a:extLst>
          </p:cNvPr>
          <p:cNvSpPr txBox="1"/>
          <p:nvPr/>
        </p:nvSpPr>
        <p:spPr>
          <a:xfrm>
            <a:off x="657225" y="2676525"/>
            <a:ext cx="10868025" cy="4476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pt-BR" sz="2800" b="1" dirty="0">
                <a:solidFill>
                  <a:srgbClr val="AACFB0"/>
                </a:solidFill>
                <a:latin typeface="Poppins"/>
              </a:rPr>
              <a:t>CDV – Lavras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4D1171-6303-31F8-E6C4-1AE3D3567366}"/>
              </a:ext>
            </a:extLst>
          </p:cNvPr>
          <p:cNvSpPr txBox="1"/>
          <p:nvPr/>
        </p:nvSpPr>
        <p:spPr>
          <a:xfrm>
            <a:off x="657225" y="3343275"/>
            <a:ext cx="10868025" cy="3333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pt-BR" sz="2100" b="1" dirty="0" err="1">
                <a:solidFill>
                  <a:srgbClr val="AACFB0"/>
                </a:solidFill>
                <a:latin typeface="Poppins"/>
              </a:rPr>
              <a:t>Implantatação</a:t>
            </a:r>
            <a:endParaRPr lang="pt-BR" sz="900" dirty="0">
              <a:solidFill>
                <a:srgbClr val="AACFB0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823CDFB-6574-3C07-F5E2-8F6A365AE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380" y="0"/>
            <a:ext cx="5735183" cy="6858000"/>
          </a:xfrm>
          <a:prstGeom prst="rect">
            <a:avLst/>
          </a:prstGeom>
        </p:spPr>
      </p:pic>
      <p:pic>
        <p:nvPicPr>
          <p:cNvPr id="6" name="Google Shape;85;p15" title="ekotruck-logo-somos-wlm.png">
            <a:extLst>
              <a:ext uri="{FF2B5EF4-FFF2-40B4-BE49-F238E27FC236}">
                <a16:creationId xmlns:a16="http://schemas.microsoft.com/office/drawing/2014/main" id="{E47E1520-DC56-2DB0-B99E-D11A41BAA1B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632" y="6242992"/>
            <a:ext cx="2270114" cy="483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904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AE4BC7BF-6E65-C1F4-0E37-85B83856C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02C64F9-967D-7F5D-CE2B-6FAA13C9F9F7}"/>
              </a:ext>
            </a:extLst>
          </p:cNvPr>
          <p:cNvSpPr/>
          <p:nvPr/>
        </p:nvSpPr>
        <p:spPr>
          <a:xfrm>
            <a:off x="-4763" y="0"/>
            <a:ext cx="12192000" cy="6858000"/>
          </a:xfrm>
          <a:prstGeom prst="rect">
            <a:avLst/>
          </a:prstGeom>
          <a:solidFill>
            <a:srgbClr val="012E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20000"/>
              </a:lnSpc>
              <a:defRPr/>
            </a:pPr>
            <a:r>
              <a:rPr lang="pt-BR" sz="1350" b="1" dirty="0">
                <a:solidFill>
                  <a:srgbClr val="FFFFFF"/>
                </a:solidFill>
                <a:latin typeface="Poppins"/>
              </a:rPr>
              <a:t>				</a:t>
            </a:r>
            <a:r>
              <a:rPr lang="pt-BR" sz="1350" dirty="0">
                <a:solidFill>
                  <a:srgbClr val="FFFFFF"/>
                </a:solidFill>
                <a:latin typeface="Poppins"/>
              </a:rPr>
              <a:t>	</a:t>
            </a:r>
            <a:endParaRPr lang="pt-BR" sz="1350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B98E0097-6D76-B241-E628-9EC09D679440}"/>
              </a:ext>
            </a:extLst>
          </p:cNvPr>
          <p:cNvSpPr/>
          <p:nvPr/>
        </p:nvSpPr>
        <p:spPr>
          <a:xfrm>
            <a:off x="266700" y="1303020"/>
            <a:ext cx="11925300" cy="1200150"/>
          </a:xfrm>
          <a:prstGeom prst="rightArrow">
            <a:avLst/>
          </a:prstGeom>
          <a:solidFill>
            <a:srgbClr val="AACFB0"/>
          </a:solidFill>
          <a:ln w="8037" cap="flat">
            <a:solidFill>
              <a:srgbClr val="AACFB0"/>
            </a:solidFill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6F3E0F08-6250-0E57-65A6-51184BF62F2D}"/>
              </a:ext>
            </a:extLst>
          </p:cNvPr>
          <p:cNvSpPr txBox="1"/>
          <p:nvPr/>
        </p:nvSpPr>
        <p:spPr>
          <a:xfrm>
            <a:off x="540490" y="113687"/>
            <a:ext cx="664997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pt-BR" sz="3467" dirty="0">
                <a:solidFill>
                  <a:schemeClr val="bg1"/>
                </a:solidFill>
                <a:latin typeface="Elms Sans Black"/>
                <a:ea typeface="Elms Sans Black"/>
                <a:cs typeface="Elms Sans Black"/>
                <a:sym typeface="Elms Sans Black"/>
              </a:rPr>
              <a:t>Mapa de processo desmonte</a:t>
            </a:r>
            <a:endParaRPr sz="3467" dirty="0">
              <a:solidFill>
                <a:schemeClr val="bg1"/>
              </a:solidFill>
              <a:latin typeface="Elms Sans Black"/>
              <a:ea typeface="Elms Sans Black"/>
              <a:cs typeface="Elms Sans Black"/>
              <a:sym typeface="Elms Sans Black"/>
            </a:endParaRPr>
          </a:p>
        </p:txBody>
      </p:sp>
      <p:pic>
        <p:nvPicPr>
          <p:cNvPr id="6" name="Gráfico 5" descr="Caminhão de lixo estrutura de tópicos">
            <a:extLst>
              <a:ext uri="{FF2B5EF4-FFF2-40B4-BE49-F238E27FC236}">
                <a16:creationId xmlns:a16="http://schemas.microsoft.com/office/drawing/2014/main" id="{5C90D88F-CC08-133E-50A6-D96C590DB8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1451327"/>
            <a:ext cx="914400" cy="9144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DBC28CD-3EEA-7C68-1F38-BCD16458ABD6}"/>
              </a:ext>
            </a:extLst>
          </p:cNvPr>
          <p:cNvSpPr/>
          <p:nvPr/>
        </p:nvSpPr>
        <p:spPr>
          <a:xfrm>
            <a:off x="323850" y="2367801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Processo de baixa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06F8B8B-627D-637B-EBF1-10ACD9E9CBA0}"/>
              </a:ext>
            </a:extLst>
          </p:cNvPr>
          <p:cNvSpPr/>
          <p:nvPr/>
        </p:nvSpPr>
        <p:spPr>
          <a:xfrm>
            <a:off x="266700" y="3973966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Lavagem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86D2700-E264-F28B-FEED-B5235C27176C}"/>
              </a:ext>
            </a:extLst>
          </p:cNvPr>
          <p:cNvSpPr/>
          <p:nvPr/>
        </p:nvSpPr>
        <p:spPr>
          <a:xfrm>
            <a:off x="266700" y="5233284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Avaliação de mercado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5DFEF6D8-0635-E07B-5292-AB808545415A}"/>
              </a:ext>
            </a:extLst>
          </p:cNvPr>
          <p:cNvSpPr txBox="1"/>
          <p:nvPr/>
        </p:nvSpPr>
        <p:spPr>
          <a:xfrm>
            <a:off x="472746" y="1113144"/>
            <a:ext cx="1359559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>
              <a:defRPr lang="en-US"/>
            </a:defPPr>
            <a:lvl1pPr>
              <a:defRPr sz="4622">
                <a:solidFill>
                  <a:srgbClr val="0E6E62"/>
                </a:solidFill>
                <a:latin typeface="Elms Sans Black"/>
                <a:ea typeface="Elms Sans Black"/>
                <a:cs typeface="Elms Sans Black"/>
              </a:defRPr>
            </a:lvl1pPr>
          </a:lstStyle>
          <a:p>
            <a:pPr algn="ctr"/>
            <a:r>
              <a:rPr lang="pt-BR" sz="1500" b="1" dirty="0">
                <a:solidFill>
                  <a:schemeClr val="bg1"/>
                </a:solidFill>
              </a:rPr>
              <a:t>Regularização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9C80253-27F2-009F-F0A2-64EBC7DE7821}"/>
              </a:ext>
            </a:extLst>
          </p:cNvPr>
          <p:cNvSpPr/>
          <p:nvPr/>
        </p:nvSpPr>
        <p:spPr>
          <a:xfrm>
            <a:off x="2324100" y="3824537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Desmontagem e catalogação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200F303-4B20-CF91-228D-8ED396BB2D4E}"/>
              </a:ext>
            </a:extLst>
          </p:cNvPr>
          <p:cNvSpPr/>
          <p:nvPr/>
        </p:nvSpPr>
        <p:spPr>
          <a:xfrm>
            <a:off x="4213401" y="3824537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Limpeza fina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7EE6857-6CCE-A399-06BA-F09DD96A4E49}"/>
              </a:ext>
            </a:extLst>
          </p:cNvPr>
          <p:cNvSpPr/>
          <p:nvPr/>
        </p:nvSpPr>
        <p:spPr>
          <a:xfrm>
            <a:off x="3263474" y="2349761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Impressão das etiquetas (DETRAN)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AD8727B-7FED-A671-9F4D-44FA242CE302}"/>
              </a:ext>
            </a:extLst>
          </p:cNvPr>
          <p:cNvSpPr/>
          <p:nvPr/>
        </p:nvSpPr>
        <p:spPr>
          <a:xfrm>
            <a:off x="2286254" y="5442189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Armazenamento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54E4A49-254A-007E-E370-C987DBCF58BD}"/>
              </a:ext>
            </a:extLst>
          </p:cNvPr>
          <p:cNvSpPr/>
          <p:nvPr/>
        </p:nvSpPr>
        <p:spPr>
          <a:xfrm>
            <a:off x="4207847" y="5442189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Avaliação e Classificação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7D17E998-8493-D7E9-6885-55905F22C649}"/>
              </a:ext>
            </a:extLst>
          </p:cNvPr>
          <p:cNvGrpSpPr/>
          <p:nvPr/>
        </p:nvGrpSpPr>
        <p:grpSpPr>
          <a:xfrm>
            <a:off x="2972466" y="1565627"/>
            <a:ext cx="2249920" cy="716841"/>
            <a:chOff x="4394200" y="2331343"/>
            <a:chExt cx="2999893" cy="955788"/>
          </a:xfrm>
          <a:solidFill>
            <a:srgbClr val="0E6E62"/>
          </a:solidFill>
        </p:grpSpPr>
        <p:pic>
          <p:nvPicPr>
            <p:cNvPr id="41" name="Gráfico 40" descr="Engrenagens com preenchimento sólido">
              <a:extLst>
                <a:ext uri="{FF2B5EF4-FFF2-40B4-BE49-F238E27FC236}">
                  <a16:creationId xmlns:a16="http://schemas.microsoft.com/office/drawing/2014/main" id="{07D5C23B-32DA-7627-99E8-F635FF1542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84293" y="2351669"/>
              <a:ext cx="772531" cy="772531"/>
            </a:xfrm>
            <a:prstGeom prst="rect">
              <a:avLst/>
            </a:prstGeom>
          </p:spPr>
        </p:pic>
        <p:pic>
          <p:nvPicPr>
            <p:cNvPr id="43" name="Gráfico 42" descr="Engrenagem única com preenchimento sólido">
              <a:extLst>
                <a:ext uri="{FF2B5EF4-FFF2-40B4-BE49-F238E27FC236}">
                  <a16:creationId xmlns:a16="http://schemas.microsoft.com/office/drawing/2014/main" id="{E5512093-DA71-B2E0-36BE-5137D888C7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65293" y="2514600"/>
              <a:ext cx="772531" cy="772531"/>
            </a:xfrm>
            <a:prstGeom prst="rect">
              <a:avLst/>
            </a:prstGeom>
          </p:spPr>
        </p:pic>
        <p:pic>
          <p:nvPicPr>
            <p:cNvPr id="45" name="Gráfico 44" descr="Área de Transferência Marcada com preenchimento sólido">
              <a:extLst>
                <a:ext uri="{FF2B5EF4-FFF2-40B4-BE49-F238E27FC236}">
                  <a16:creationId xmlns:a16="http://schemas.microsoft.com/office/drawing/2014/main" id="{25FD34F4-9C6C-92BE-F47C-A637A11D2E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94200" y="2362200"/>
              <a:ext cx="790093" cy="790093"/>
            </a:xfrm>
            <a:prstGeom prst="rect">
              <a:avLst/>
            </a:prstGeom>
          </p:spPr>
        </p:pic>
        <p:pic>
          <p:nvPicPr>
            <p:cNvPr id="47" name="Gráfico 46" descr="Lupa com preenchimento sólido">
              <a:extLst>
                <a:ext uri="{FF2B5EF4-FFF2-40B4-BE49-F238E27FC236}">
                  <a16:creationId xmlns:a16="http://schemas.microsoft.com/office/drawing/2014/main" id="{0A8D23DB-7557-0228-0EBD-2F16181FB8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79693" y="2331343"/>
              <a:ext cx="914400" cy="914400"/>
            </a:xfrm>
            <a:prstGeom prst="rect">
              <a:avLst/>
            </a:prstGeom>
          </p:spPr>
        </p:pic>
      </p:grp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54FE1ED-9864-75F8-C093-6FD57BE7DB35}"/>
              </a:ext>
            </a:extLst>
          </p:cNvPr>
          <p:cNvSpPr txBox="1"/>
          <p:nvPr/>
        </p:nvSpPr>
        <p:spPr>
          <a:xfrm>
            <a:off x="3301671" y="1146077"/>
            <a:ext cx="1359559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>
              <a:defRPr lang="en-US"/>
            </a:defPPr>
            <a:lvl1pPr>
              <a:defRPr sz="4622">
                <a:solidFill>
                  <a:srgbClr val="0E6E62"/>
                </a:solidFill>
                <a:latin typeface="Elms Sans Black"/>
                <a:ea typeface="Elms Sans Black"/>
                <a:cs typeface="Elms Sans Black"/>
              </a:defRPr>
            </a:lvl1pPr>
          </a:lstStyle>
          <a:p>
            <a:pPr algn="ctr"/>
            <a:r>
              <a:rPr lang="pt-BR" sz="1500" b="1" dirty="0">
                <a:solidFill>
                  <a:schemeClr val="bg1"/>
                </a:solidFill>
              </a:rPr>
              <a:t>Desmonte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43563D5A-DB0F-B989-23DF-3E04926B59E0}"/>
              </a:ext>
            </a:extLst>
          </p:cNvPr>
          <p:cNvGrpSpPr/>
          <p:nvPr/>
        </p:nvGrpSpPr>
        <p:grpSpPr>
          <a:xfrm>
            <a:off x="6153150" y="2346753"/>
            <a:ext cx="2731017" cy="3986498"/>
            <a:chOff x="9321095" y="3372843"/>
            <a:chExt cx="3641356" cy="5315331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AB69A176-956E-D443-2810-AF99AFF0D375}"/>
                </a:ext>
              </a:extLst>
            </p:cNvPr>
            <p:cNvSpPr/>
            <p:nvPr/>
          </p:nvSpPr>
          <p:spPr>
            <a:xfrm>
              <a:off x="9332016" y="3372843"/>
              <a:ext cx="3599939" cy="790092"/>
            </a:xfrm>
            <a:prstGeom prst="roundRect">
              <a:avLst/>
            </a:prstGeom>
            <a:solidFill>
              <a:srgbClr val="AACFB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Grupo 1: Núcleo Duro</a:t>
              </a:r>
            </a:p>
            <a:p>
              <a:pPr algn="ctr"/>
              <a:r>
                <a:rPr lang="pt-BR" sz="1200" dirty="0"/>
                <a:t>(Cabina, Motor, Cambio e Diferenciais)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77433F1-EE1C-863A-814F-B0C62FD3E6D0}"/>
                </a:ext>
              </a:extLst>
            </p:cNvPr>
            <p:cNvSpPr/>
            <p:nvPr/>
          </p:nvSpPr>
          <p:spPr>
            <a:xfrm>
              <a:off x="9434727" y="4265954"/>
              <a:ext cx="3455511" cy="302035"/>
            </a:xfrm>
            <a:prstGeom prst="roundRect">
              <a:avLst/>
            </a:prstGeom>
            <a:solidFill>
              <a:srgbClr val="AACFB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Limpeza, revisão e venda 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14EC0994-E857-BD5C-0790-6FAB85B9BA9E}"/>
                </a:ext>
              </a:extLst>
            </p:cNvPr>
            <p:cNvSpPr/>
            <p:nvPr/>
          </p:nvSpPr>
          <p:spPr>
            <a:xfrm>
              <a:off x="9362512" y="4768497"/>
              <a:ext cx="3599939" cy="790092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Grupo 2: Carroceria, acabamentos e itens de valor </a:t>
              </a:r>
              <a:r>
                <a:rPr lang="pt-BR" sz="1200" u="sng" dirty="0"/>
                <a:t>sem remanufatura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1B2C12A7-E4E0-C694-8F55-B6483197D4D7}"/>
                </a:ext>
              </a:extLst>
            </p:cNvPr>
            <p:cNvSpPr/>
            <p:nvPr/>
          </p:nvSpPr>
          <p:spPr>
            <a:xfrm>
              <a:off x="9362512" y="5608079"/>
              <a:ext cx="3569443" cy="358246"/>
            </a:xfrm>
            <a:prstGeom prst="roundRect">
              <a:avLst/>
            </a:prstGeom>
            <a:solidFill>
              <a:srgbClr val="0070C0"/>
            </a:solidFill>
            <a:ln w="8037" cap="flat">
              <a:solidFill>
                <a:schemeClr val="bg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Avaliação de qualidade</a:t>
              </a: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33D4FB80-7B77-325B-9060-F18C1E5E4C1A}"/>
                </a:ext>
              </a:extLst>
            </p:cNvPr>
            <p:cNvSpPr/>
            <p:nvPr/>
          </p:nvSpPr>
          <p:spPr>
            <a:xfrm>
              <a:off x="9373208" y="5994399"/>
              <a:ext cx="1052120" cy="403672"/>
            </a:xfrm>
            <a:prstGeom prst="roundRect">
              <a:avLst/>
            </a:prstGeom>
            <a:solidFill>
              <a:srgbClr val="0E6E6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A</a:t>
              </a: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C4A0660A-74E4-D1AA-7B9A-1556A5C66A82}"/>
                </a:ext>
              </a:extLst>
            </p:cNvPr>
            <p:cNvSpPr/>
            <p:nvPr/>
          </p:nvSpPr>
          <p:spPr>
            <a:xfrm>
              <a:off x="10577728" y="5994399"/>
              <a:ext cx="1143000" cy="403672"/>
            </a:xfrm>
            <a:prstGeom prst="roundRect">
              <a:avLst/>
            </a:prstGeom>
            <a:solidFill>
              <a:srgbClr val="AACFB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B</a:t>
              </a: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7EB82A4-1AB0-E939-5D1C-EB6E8530234A}"/>
                </a:ext>
              </a:extLst>
            </p:cNvPr>
            <p:cNvSpPr/>
            <p:nvPr/>
          </p:nvSpPr>
          <p:spPr>
            <a:xfrm>
              <a:off x="11873127" y="6002420"/>
              <a:ext cx="1054467" cy="395651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C</a:t>
              </a: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5A38861D-76B5-4BDD-F117-393C811AFE4F}"/>
                </a:ext>
              </a:extLst>
            </p:cNvPr>
            <p:cNvSpPr/>
            <p:nvPr/>
          </p:nvSpPr>
          <p:spPr>
            <a:xfrm>
              <a:off x="9356934" y="6549189"/>
              <a:ext cx="3599939" cy="790092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Grupo 3: Itens de segurança e itens com remanufatura</a:t>
              </a:r>
            </a:p>
            <a:p>
              <a:pPr algn="ctr"/>
              <a:r>
                <a:rPr lang="pt-BR" sz="1200" dirty="0"/>
                <a:t>(Direção, freios, válvulas e bombas)</a:t>
              </a:r>
            </a:p>
          </p:txBody>
        </p: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DA840100-1096-2582-D975-2D6C7639770E}"/>
                </a:ext>
              </a:extLst>
            </p:cNvPr>
            <p:cNvSpPr/>
            <p:nvPr/>
          </p:nvSpPr>
          <p:spPr>
            <a:xfrm>
              <a:off x="9335776" y="7388671"/>
              <a:ext cx="1851551" cy="358246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Venda “atacado”</a:t>
              </a: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BD85F154-CFAA-1662-477C-9B084AFCC7E5}"/>
                </a:ext>
              </a:extLst>
            </p:cNvPr>
            <p:cNvSpPr/>
            <p:nvPr/>
          </p:nvSpPr>
          <p:spPr>
            <a:xfrm>
              <a:off x="11360285" y="7388671"/>
              <a:ext cx="1567310" cy="358246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Venda direta</a:t>
              </a: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4E9D3A08-398E-52BA-2997-CB0B6133A396}"/>
                </a:ext>
              </a:extLst>
            </p:cNvPr>
            <p:cNvSpPr/>
            <p:nvPr/>
          </p:nvSpPr>
          <p:spPr>
            <a:xfrm>
              <a:off x="9321095" y="7898082"/>
              <a:ext cx="3599939" cy="790092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Grupo 4: Sucata</a:t>
              </a:r>
            </a:p>
            <a:p>
              <a:pPr algn="ctr"/>
              <a:r>
                <a:rPr lang="pt-BR" sz="1200" dirty="0"/>
                <a:t>Itens diretos ou avaliados “imprestáveis”</a:t>
              </a:r>
            </a:p>
          </p:txBody>
        </p:sp>
      </p:grp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86817C9D-1FCE-4D2E-2F7D-D211D6A18234}"/>
              </a:ext>
            </a:extLst>
          </p:cNvPr>
          <p:cNvSpPr txBox="1"/>
          <p:nvPr/>
        </p:nvSpPr>
        <p:spPr>
          <a:xfrm>
            <a:off x="6896100" y="960120"/>
            <a:ext cx="135955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>
              <a:defRPr lang="en-US"/>
            </a:defPPr>
            <a:lvl1pPr>
              <a:defRPr sz="4622">
                <a:solidFill>
                  <a:srgbClr val="0E6E62"/>
                </a:solidFill>
                <a:latin typeface="Elms Sans Black"/>
                <a:ea typeface="Elms Sans Black"/>
                <a:cs typeface="Elms Sans Black"/>
              </a:defRPr>
            </a:lvl1pPr>
          </a:lstStyle>
          <a:p>
            <a:pPr algn="ctr"/>
            <a:r>
              <a:rPr lang="pt-BR" sz="1500" b="1" dirty="0">
                <a:solidFill>
                  <a:schemeClr val="bg1"/>
                </a:solidFill>
              </a:rPr>
              <a:t>Classificação e Distribuição</a:t>
            </a:r>
          </a:p>
        </p:txBody>
      </p:sp>
      <p:pic>
        <p:nvPicPr>
          <p:cNvPr id="56" name="Gráfico 55" descr="Caixa com preenchimento sólido">
            <a:extLst>
              <a:ext uri="{FF2B5EF4-FFF2-40B4-BE49-F238E27FC236}">
                <a16:creationId xmlns:a16="http://schemas.microsoft.com/office/drawing/2014/main" id="{06CDFFC7-7BB2-D8C8-DD86-0582EB5D2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5601" y="1654937"/>
            <a:ext cx="572426" cy="572426"/>
          </a:xfrm>
          <a:prstGeom prst="rect">
            <a:avLst/>
          </a:prstGeom>
        </p:spPr>
      </p:pic>
      <p:pic>
        <p:nvPicPr>
          <p:cNvPr id="58" name="Gráfico 57" descr="Inventário incorreto com preenchimento sólido">
            <a:extLst>
              <a:ext uri="{FF2B5EF4-FFF2-40B4-BE49-F238E27FC236}">
                <a16:creationId xmlns:a16="http://schemas.microsoft.com/office/drawing/2014/main" id="{24CBB810-65AA-0E92-8C2F-F8C0F2E60B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74995" y="1654937"/>
            <a:ext cx="572426" cy="572426"/>
          </a:xfrm>
          <a:prstGeom prst="rect">
            <a:avLst/>
          </a:prstGeom>
        </p:spPr>
      </p:pic>
      <p:pic>
        <p:nvPicPr>
          <p:cNvPr id="29" name="Gráfico 28" descr="Apresentação com gráfico de barras estrutura de tópicos">
            <a:extLst>
              <a:ext uri="{FF2B5EF4-FFF2-40B4-BE49-F238E27FC236}">
                <a16:creationId xmlns:a16="http://schemas.microsoft.com/office/drawing/2014/main" id="{E4C91220-EFE6-D78C-2A17-66B5ADBFE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7970" y="1623089"/>
            <a:ext cx="594331" cy="594331"/>
          </a:xfrm>
          <a:prstGeom prst="rect">
            <a:avLst/>
          </a:prstGeom>
        </p:spPr>
      </p:pic>
      <p:sp>
        <p:nvSpPr>
          <p:cNvPr id="59" name="CaixaDeTexto 58">
            <a:extLst>
              <a:ext uri="{FF2B5EF4-FFF2-40B4-BE49-F238E27FC236}">
                <a16:creationId xmlns:a16="http://schemas.microsoft.com/office/drawing/2014/main" id="{3F910FFB-8F8E-54BA-A572-2668D9E8E770}"/>
              </a:ext>
            </a:extLst>
          </p:cNvPr>
          <p:cNvSpPr txBox="1"/>
          <p:nvPr/>
        </p:nvSpPr>
        <p:spPr>
          <a:xfrm>
            <a:off x="9538119" y="997727"/>
            <a:ext cx="19299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>
              <a:defRPr lang="en-US"/>
            </a:defPPr>
            <a:lvl1pPr>
              <a:defRPr sz="4622">
                <a:solidFill>
                  <a:srgbClr val="0E6E62"/>
                </a:solidFill>
                <a:latin typeface="Elms Sans Black"/>
                <a:ea typeface="Elms Sans Black"/>
                <a:cs typeface="Elms Sans Black"/>
              </a:defRPr>
            </a:lvl1pPr>
          </a:lstStyle>
          <a:p>
            <a:pPr algn="ctr"/>
            <a:r>
              <a:rPr lang="pt-BR" sz="1500" b="1" dirty="0">
                <a:solidFill>
                  <a:schemeClr val="bg1"/>
                </a:solidFill>
              </a:rPr>
              <a:t>Acompanhamento de vendas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A62B2BC1-D8AE-BC00-9937-589F8D268CD5}"/>
              </a:ext>
            </a:extLst>
          </p:cNvPr>
          <p:cNvSpPr/>
          <p:nvPr/>
        </p:nvSpPr>
        <p:spPr>
          <a:xfrm>
            <a:off x="9697973" y="2346752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Venda direcionada</a:t>
            </a:r>
          </a:p>
          <a:p>
            <a:pPr algn="ctr"/>
            <a:r>
              <a:rPr lang="pt-BR" sz="1200" dirty="0">
                <a:solidFill>
                  <a:srgbClr val="0E6E62"/>
                </a:solidFill>
              </a:rPr>
              <a:t>(WLM -&gt; Cliente)</a:t>
            </a: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D4E037C7-FB65-253C-BB16-DEF25D01F314}"/>
              </a:ext>
            </a:extLst>
          </p:cNvPr>
          <p:cNvSpPr/>
          <p:nvPr/>
        </p:nvSpPr>
        <p:spPr>
          <a:xfrm>
            <a:off x="9661896" y="4070914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Venda </a:t>
            </a:r>
            <a:r>
              <a:rPr lang="pt-BR" sz="1200" dirty="0" err="1">
                <a:solidFill>
                  <a:srgbClr val="0E6E62"/>
                </a:solidFill>
              </a:rPr>
              <a:t>mkt</a:t>
            </a:r>
            <a:r>
              <a:rPr lang="pt-BR" sz="1200" dirty="0">
                <a:solidFill>
                  <a:srgbClr val="0E6E62"/>
                </a:solidFill>
              </a:rPr>
              <a:t> </a:t>
            </a:r>
            <a:r>
              <a:rPr lang="pt-BR" sz="1200" dirty="0" err="1">
                <a:solidFill>
                  <a:srgbClr val="0E6E62"/>
                </a:solidFill>
              </a:rPr>
              <a:t>Places</a:t>
            </a:r>
            <a:endParaRPr lang="pt-BR" sz="1200" dirty="0">
              <a:solidFill>
                <a:srgbClr val="0E6E62"/>
              </a:solidFill>
            </a:endParaRPr>
          </a:p>
          <a:p>
            <a:pPr algn="ctr"/>
            <a:r>
              <a:rPr lang="pt-BR" sz="1200" dirty="0">
                <a:solidFill>
                  <a:srgbClr val="0E6E62"/>
                </a:solidFill>
              </a:rPr>
              <a:t>+</a:t>
            </a:r>
          </a:p>
          <a:p>
            <a:pPr algn="ctr"/>
            <a:r>
              <a:rPr lang="pt-BR" sz="1200" dirty="0">
                <a:solidFill>
                  <a:srgbClr val="0E6E62"/>
                </a:solidFill>
              </a:rPr>
              <a:t>Catalogo interno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62E3FC37-937A-2DF0-E38B-906AFD0F1AFB}"/>
              </a:ext>
            </a:extLst>
          </p:cNvPr>
          <p:cNvSpPr/>
          <p:nvPr/>
        </p:nvSpPr>
        <p:spPr>
          <a:xfrm>
            <a:off x="9674434" y="5739651"/>
            <a:ext cx="1657350" cy="592569"/>
          </a:xfrm>
          <a:prstGeom prst="roundRect">
            <a:avLst/>
          </a:prstGeom>
          <a:solidFill>
            <a:srgbClr val="AACF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0E6E62"/>
                </a:solidFill>
              </a:rPr>
              <a:t>Destinação e aproveitamento</a:t>
            </a:r>
          </a:p>
        </p:txBody>
      </p:sp>
      <p:sp>
        <p:nvSpPr>
          <p:cNvPr id="79" name="Chave Direita 78">
            <a:extLst>
              <a:ext uri="{FF2B5EF4-FFF2-40B4-BE49-F238E27FC236}">
                <a16:creationId xmlns:a16="http://schemas.microsoft.com/office/drawing/2014/main" id="{EBDA2E95-B6EC-B29B-F6BA-9DE7BFD7E90C}"/>
              </a:ext>
            </a:extLst>
          </p:cNvPr>
          <p:cNvSpPr/>
          <p:nvPr/>
        </p:nvSpPr>
        <p:spPr>
          <a:xfrm>
            <a:off x="9010650" y="3393493"/>
            <a:ext cx="457200" cy="2233815"/>
          </a:xfrm>
          <a:prstGeom prst="rightBrace">
            <a:avLst>
              <a:gd name="adj1" fmla="val 8333"/>
              <a:gd name="adj2" fmla="val 43536"/>
            </a:avLst>
          </a:prstGeom>
          <a:ln w="28575">
            <a:solidFill>
              <a:srgbClr val="AAC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cxnSp>
        <p:nvCxnSpPr>
          <p:cNvPr id="81" name="Conector de Seta Reta 80">
            <a:extLst>
              <a:ext uri="{FF2B5EF4-FFF2-40B4-BE49-F238E27FC236}">
                <a16:creationId xmlns:a16="http://schemas.microsoft.com/office/drawing/2014/main" id="{DCC4F7B3-5AE9-64D6-32EC-E0352D8BB639}"/>
              </a:ext>
            </a:extLst>
          </p:cNvPr>
          <p:cNvCxnSpPr>
            <a:stCxn id="16" idx="3"/>
            <a:endCxn id="75" idx="1"/>
          </p:cNvCxnSpPr>
          <p:nvPr/>
        </p:nvCxnSpPr>
        <p:spPr>
          <a:xfrm>
            <a:off x="8861295" y="2643037"/>
            <a:ext cx="836678" cy="0"/>
          </a:xfrm>
          <a:prstGeom prst="straightConnector1">
            <a:avLst/>
          </a:prstGeom>
          <a:ln w="19050">
            <a:solidFill>
              <a:srgbClr val="2A56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9F532D8B-A7B4-9068-8AEA-9255533CA98F}"/>
              </a:ext>
            </a:extLst>
          </p:cNvPr>
          <p:cNvCxnSpPr>
            <a:stCxn id="34" idx="3"/>
            <a:endCxn id="78" idx="1"/>
          </p:cNvCxnSpPr>
          <p:nvPr/>
        </p:nvCxnSpPr>
        <p:spPr>
          <a:xfrm flipV="1">
            <a:off x="8853104" y="6035935"/>
            <a:ext cx="821330" cy="1031"/>
          </a:xfrm>
          <a:prstGeom prst="straightConnector1">
            <a:avLst/>
          </a:prstGeom>
          <a:ln w="28575">
            <a:solidFill>
              <a:srgbClr val="AACF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4D1E2F28-FDC2-32E6-D3E6-4A630374E345}"/>
              </a:ext>
            </a:extLst>
          </p:cNvPr>
          <p:cNvSpPr txBox="1"/>
          <p:nvPr/>
        </p:nvSpPr>
        <p:spPr>
          <a:xfrm>
            <a:off x="323850" y="2960370"/>
            <a:ext cx="16002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Transferência;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Vistoria;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Corte do chassi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Venda como sucata.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5457B98D-B690-D1B8-2ABB-2C7BD4757EF8}"/>
              </a:ext>
            </a:extLst>
          </p:cNvPr>
          <p:cNvSpPr txBox="1"/>
          <p:nvPr/>
        </p:nvSpPr>
        <p:spPr>
          <a:xfrm>
            <a:off x="323850" y="4597214"/>
            <a:ext cx="1600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Lavagem grossa dos componentes </a:t>
            </a:r>
            <a:r>
              <a:rPr lang="pt-BR" sz="1100" dirty="0" err="1">
                <a:solidFill>
                  <a:schemeClr val="bg1"/>
                </a:solidFill>
              </a:rPr>
              <a:t>pré</a:t>
            </a:r>
            <a:r>
              <a:rPr lang="pt-BR" sz="1100" dirty="0">
                <a:solidFill>
                  <a:schemeClr val="bg1"/>
                </a:solidFill>
              </a:rPr>
              <a:t> desmonte.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0A54A4E5-430D-B12A-1445-E980FEE7EE3D}"/>
              </a:ext>
            </a:extLst>
          </p:cNvPr>
          <p:cNvSpPr txBox="1"/>
          <p:nvPr/>
        </p:nvSpPr>
        <p:spPr>
          <a:xfrm>
            <a:off x="200025" y="5867207"/>
            <a:ext cx="16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Definir melhor local de desmontagem pela operação do veículo.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ED7CB77F-B6CE-9B9E-3E3C-0142A545CCCC}"/>
              </a:ext>
            </a:extLst>
          </p:cNvPr>
          <p:cNvSpPr txBox="1"/>
          <p:nvPr/>
        </p:nvSpPr>
        <p:spPr>
          <a:xfrm>
            <a:off x="3249700" y="2978099"/>
            <a:ext cx="181424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Nota de compra (CDV);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Baixa (Detran);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ART eng. responsável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FBE6E9E9-A439-E00A-737C-9C2719A1C8F4}"/>
              </a:ext>
            </a:extLst>
          </p:cNvPr>
          <p:cNvSpPr txBox="1"/>
          <p:nvPr/>
        </p:nvSpPr>
        <p:spPr>
          <a:xfrm>
            <a:off x="2207804" y="4497112"/>
            <a:ext cx="19366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Ferramental especifico;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Acesso ao </a:t>
            </a:r>
            <a:r>
              <a:rPr lang="pt-BR" sz="1100" dirty="0" err="1">
                <a:solidFill>
                  <a:schemeClr val="bg1"/>
                </a:solidFill>
              </a:rPr>
              <a:t>Multi</a:t>
            </a:r>
            <a:r>
              <a:rPr lang="pt-BR" sz="1100" dirty="0">
                <a:solidFill>
                  <a:schemeClr val="bg1"/>
                </a:solidFill>
              </a:rPr>
              <a:t>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Mão de obra qualificada. 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4EF7CE8B-8905-04F5-01EB-59A91FD49FEA}"/>
              </a:ext>
            </a:extLst>
          </p:cNvPr>
          <p:cNvSpPr txBox="1"/>
          <p:nvPr/>
        </p:nvSpPr>
        <p:spPr>
          <a:xfrm>
            <a:off x="2073142" y="6034758"/>
            <a:ext cx="1936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</a:rPr>
              <a:t>Acesso a sistema de gestão de estoque para CDV.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E6E2469C-05F0-BF08-EA46-EE55A7A432CB}"/>
              </a:ext>
            </a:extLst>
          </p:cNvPr>
          <p:cNvSpPr txBox="1"/>
          <p:nvPr/>
        </p:nvSpPr>
        <p:spPr>
          <a:xfrm>
            <a:off x="4092149" y="6016124"/>
            <a:ext cx="19366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bg1"/>
                </a:solidFill>
              </a:rPr>
              <a:t>Conhecimento técnico.</a:t>
            </a:r>
          </a:p>
        </p:txBody>
      </p:sp>
    </p:spTree>
    <p:extLst>
      <p:ext uri="{BB962C8B-B14F-4D97-AF65-F5344CB8AC3E}">
        <p14:creationId xmlns:p14="http://schemas.microsoft.com/office/powerpoint/2010/main" val="319882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5B78C8-56BB-A622-15E1-7F9BFDAC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030874A3-DE7B-01A9-1359-E605C644D9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2E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32569B9-6D6E-45DE-B900-14F329B34601}"/>
              </a:ext>
            </a:extLst>
          </p:cNvPr>
          <p:cNvSpPr txBox="1"/>
          <p:nvPr/>
        </p:nvSpPr>
        <p:spPr>
          <a:xfrm>
            <a:off x="266700" y="200025"/>
            <a:ext cx="7829550" cy="4476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pt-BR" sz="2400" b="1" dirty="0">
                <a:solidFill>
                  <a:schemeClr val="bg1"/>
                </a:solidFill>
                <a:latin typeface="Poppins"/>
              </a:rPr>
              <a:t>CDV Lavras - Implantação</a:t>
            </a:r>
            <a:endParaRPr lang="pt-BR" sz="825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D4A28A-974E-249B-9C11-93CDD94839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308"/>
          <a:stretch>
            <a:fillRect/>
          </a:stretch>
        </p:blipFill>
        <p:spPr>
          <a:xfrm>
            <a:off x="381000" y="4286250"/>
            <a:ext cx="3939886" cy="200025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4A56A5F0-20D3-DA3D-4DD8-03EA44AA90CC}"/>
              </a:ext>
            </a:extLst>
          </p:cNvPr>
          <p:cNvSpPr/>
          <p:nvPr/>
        </p:nvSpPr>
        <p:spPr>
          <a:xfrm>
            <a:off x="1352550" y="5200210"/>
            <a:ext cx="114300" cy="17189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3122D32-F209-D19F-876B-C449B42355B8}"/>
              </a:ext>
            </a:extLst>
          </p:cNvPr>
          <p:cNvSpPr txBox="1"/>
          <p:nvPr/>
        </p:nvSpPr>
        <p:spPr>
          <a:xfrm>
            <a:off x="295275" y="951146"/>
            <a:ext cx="360045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50" dirty="0">
                <a:solidFill>
                  <a:schemeClr val="bg1"/>
                </a:solidFill>
              </a:rPr>
              <a:t>Iniciamos estudo de viabilidade para o Galpão 1 do condomínio que conta com 5 imóveis. 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A1D3200-8101-56EA-096D-EAE57C664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08836"/>
            <a:ext cx="1885950" cy="1414463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FF7426D-B697-27E7-D33A-0DCA4341C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715815"/>
            <a:ext cx="1876644" cy="1407483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9DC11474-D1B5-286C-8B2D-C85714A1314E}"/>
              </a:ext>
            </a:extLst>
          </p:cNvPr>
          <p:cNvSpPr txBox="1"/>
          <p:nvPr/>
        </p:nvSpPr>
        <p:spPr>
          <a:xfrm>
            <a:off x="295275" y="1435894"/>
            <a:ext cx="360045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1"/>
                </a:solidFill>
              </a:rPr>
              <a:t>Area útil: 820m²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1"/>
                </a:solidFill>
              </a:rPr>
              <a:t>Pé direito: 15m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1"/>
                </a:solidFill>
              </a:rPr>
              <a:t>2 Banheiros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1"/>
                </a:solidFill>
              </a:rPr>
              <a:t>AVCB J4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1"/>
                </a:solidFill>
              </a:rPr>
              <a:t>Entrada de energia independente 150KVA</a:t>
            </a:r>
          </a:p>
        </p:txBody>
      </p:sp>
      <p:sp>
        <p:nvSpPr>
          <p:cNvPr id="29" name="Chave Direita 28">
            <a:extLst>
              <a:ext uri="{FF2B5EF4-FFF2-40B4-BE49-F238E27FC236}">
                <a16:creationId xmlns:a16="http://schemas.microsoft.com/office/drawing/2014/main" id="{F24D97C9-7F72-E5AA-8172-6EA1BA2D10ED}"/>
              </a:ext>
            </a:extLst>
          </p:cNvPr>
          <p:cNvSpPr/>
          <p:nvPr/>
        </p:nvSpPr>
        <p:spPr>
          <a:xfrm>
            <a:off x="4701885" y="1085850"/>
            <a:ext cx="422566" cy="5257800"/>
          </a:xfrm>
          <a:prstGeom prst="rightBrace">
            <a:avLst>
              <a:gd name="adj1" fmla="val 8333"/>
              <a:gd name="adj2" fmla="val 4891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0260AA7-6B56-8078-E976-3C43AA1BB8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271"/>
          <a:stretch>
            <a:fillRect/>
          </a:stretch>
        </p:blipFill>
        <p:spPr>
          <a:xfrm>
            <a:off x="5385816" y="777738"/>
            <a:ext cx="1561127" cy="530252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097DECF-7080-2916-AB41-1A592088B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008" y="580640"/>
            <a:ext cx="3046067" cy="1248841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85F125D6-6159-A6E4-EF44-32C70CB924BB}"/>
              </a:ext>
            </a:extLst>
          </p:cNvPr>
          <p:cNvSpPr/>
          <p:nvPr/>
        </p:nvSpPr>
        <p:spPr>
          <a:xfrm>
            <a:off x="5385816" y="777738"/>
            <a:ext cx="1681735" cy="889137"/>
          </a:xfrm>
          <a:prstGeom prst="ellips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DAE5E81-C2AF-A073-7DEF-3869D1DC6234}"/>
              </a:ext>
            </a:extLst>
          </p:cNvPr>
          <p:cNvCxnSpPr>
            <a:stCxn id="8" idx="0"/>
          </p:cNvCxnSpPr>
          <p:nvPr/>
        </p:nvCxnSpPr>
        <p:spPr>
          <a:xfrm flipV="1">
            <a:off x="6226684" y="542925"/>
            <a:ext cx="2031491" cy="234813"/>
          </a:xfrm>
          <a:prstGeom prst="line">
            <a:avLst/>
          </a:prstGeom>
          <a:ln w="2857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75E02A0-D7F0-D69A-760C-8B2E235B5A65}"/>
              </a:ext>
            </a:extLst>
          </p:cNvPr>
          <p:cNvCxnSpPr>
            <a:stCxn id="8" idx="4"/>
          </p:cNvCxnSpPr>
          <p:nvPr/>
        </p:nvCxnSpPr>
        <p:spPr>
          <a:xfrm>
            <a:off x="6226684" y="1666875"/>
            <a:ext cx="1995324" cy="162606"/>
          </a:xfrm>
          <a:prstGeom prst="line">
            <a:avLst/>
          </a:prstGeom>
          <a:ln w="2857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4" name="Imagem 13">
            <a:extLst>
              <a:ext uri="{FF2B5EF4-FFF2-40B4-BE49-F238E27FC236}">
                <a16:creationId xmlns:a16="http://schemas.microsoft.com/office/drawing/2014/main" id="{6AE9507E-B55F-FD64-2EB8-6EE1F350E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1869" y="2190750"/>
            <a:ext cx="1730332" cy="2120886"/>
          </a:xfrm>
          <a:prstGeom prst="rect">
            <a:avLst/>
          </a:prstGeom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808126F9-A48B-C8B6-3068-62BCD9DCE942}"/>
              </a:ext>
            </a:extLst>
          </p:cNvPr>
          <p:cNvSpPr/>
          <p:nvPr/>
        </p:nvSpPr>
        <p:spPr>
          <a:xfrm>
            <a:off x="5340137" y="3841681"/>
            <a:ext cx="1512529" cy="2368618"/>
          </a:xfrm>
          <a:prstGeom prst="ellips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3D8AEF6-B948-B087-E964-4294CA425A1B}"/>
              </a:ext>
            </a:extLst>
          </p:cNvPr>
          <p:cNvCxnSpPr>
            <a:stCxn id="15" idx="0"/>
          </p:cNvCxnSpPr>
          <p:nvPr/>
        </p:nvCxnSpPr>
        <p:spPr>
          <a:xfrm flipV="1">
            <a:off x="6096402" y="2190749"/>
            <a:ext cx="2155466" cy="1650932"/>
          </a:xfrm>
          <a:prstGeom prst="line">
            <a:avLst/>
          </a:prstGeom>
          <a:ln w="2857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E5D90D64-A371-F527-02B6-6F0D337BF947}"/>
              </a:ext>
            </a:extLst>
          </p:cNvPr>
          <p:cNvCxnSpPr>
            <a:cxnSpLocks/>
            <a:stCxn id="15" idx="4"/>
          </p:cNvCxnSpPr>
          <p:nvPr/>
        </p:nvCxnSpPr>
        <p:spPr>
          <a:xfrm flipV="1">
            <a:off x="6096402" y="4311636"/>
            <a:ext cx="2155466" cy="1898663"/>
          </a:xfrm>
          <a:prstGeom prst="line">
            <a:avLst/>
          </a:prstGeom>
          <a:ln w="28575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5C4B532-CE63-396F-5AAF-3DC22FC9D467}"/>
              </a:ext>
            </a:extLst>
          </p:cNvPr>
          <p:cNvSpPr txBox="1"/>
          <p:nvPr/>
        </p:nvSpPr>
        <p:spPr>
          <a:xfrm>
            <a:off x="7818416" y="5322749"/>
            <a:ext cx="4229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bg1"/>
                </a:solidFill>
              </a:rPr>
              <a:t>✅Estudo de viabilidade com a prefeitura de Lavras (Aprovado);</a:t>
            </a:r>
          </a:p>
          <a:p>
            <a:r>
              <a:rPr lang="pt-BR" sz="1000" dirty="0">
                <a:solidFill>
                  <a:schemeClr val="bg1"/>
                </a:solidFill>
              </a:rPr>
              <a:t>✅ Atualização do contrato social – Abertura da filial de Lavras;</a:t>
            </a:r>
          </a:p>
          <a:p>
            <a:r>
              <a:rPr lang="pt-BR" sz="1000" dirty="0">
                <a:solidFill>
                  <a:schemeClr val="bg1"/>
                </a:solidFill>
              </a:rPr>
              <a:t>✅ Abertura formal da filial de Lavras;</a:t>
            </a:r>
          </a:p>
          <a:p>
            <a:r>
              <a:rPr lang="pt-BR" sz="1000" dirty="0">
                <a:solidFill>
                  <a:schemeClr val="bg1"/>
                </a:solidFill>
              </a:rPr>
              <a:t>✅ Adição do CNAE de comercialização de veículos na </a:t>
            </a:r>
            <a:r>
              <a:rPr lang="pt-BR" sz="1000" dirty="0" err="1">
                <a:solidFill>
                  <a:schemeClr val="bg1"/>
                </a:solidFill>
              </a:rPr>
              <a:t>Ekotruck</a:t>
            </a:r>
            <a:r>
              <a:rPr lang="pt-BR" sz="1000" dirty="0">
                <a:solidFill>
                  <a:schemeClr val="bg1"/>
                </a:solidFill>
              </a:rPr>
              <a:t>;</a:t>
            </a:r>
          </a:p>
          <a:p>
            <a:r>
              <a:rPr lang="pt-BR" sz="1000" dirty="0">
                <a:solidFill>
                  <a:schemeClr val="bg1"/>
                </a:solidFill>
              </a:rPr>
              <a:t>⏳Locação do Galpão para instalação da filial de Lavras;</a:t>
            </a:r>
          </a:p>
          <a:p>
            <a:r>
              <a:rPr lang="pt-BR" sz="1000" dirty="0">
                <a:solidFill>
                  <a:schemeClr val="bg1"/>
                </a:solidFill>
              </a:rPr>
              <a:t>⏳ Adaptações necessárias no prédio para certificação no DETRAN-MG;</a:t>
            </a:r>
          </a:p>
          <a:p>
            <a:r>
              <a:rPr lang="pt-BR" sz="1000" dirty="0">
                <a:solidFill>
                  <a:schemeClr val="bg1"/>
                </a:solidFill>
              </a:rPr>
              <a:t>⏭️Certificação no DETRAN-MG (30 – 45 dias);</a:t>
            </a:r>
          </a:p>
          <a:p>
            <a:r>
              <a:rPr lang="pt-BR" sz="1000" dirty="0">
                <a:solidFill>
                  <a:schemeClr val="bg1"/>
                </a:solidFill>
              </a:rPr>
              <a:t>🏆Inicio das operações (01/05).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C6C7857-0145-D765-44EC-02AD8EA43F75}"/>
              </a:ext>
            </a:extLst>
          </p:cNvPr>
          <p:cNvSpPr txBox="1"/>
          <p:nvPr/>
        </p:nvSpPr>
        <p:spPr>
          <a:xfrm>
            <a:off x="8855233" y="4892433"/>
            <a:ext cx="2155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u="sng" dirty="0">
                <a:solidFill>
                  <a:schemeClr val="bg1"/>
                </a:solidFill>
              </a:rPr>
              <a:t>Etapas CDV Lavras</a:t>
            </a:r>
          </a:p>
        </p:txBody>
      </p:sp>
    </p:spTree>
    <p:extLst>
      <p:ext uri="{BB962C8B-B14F-4D97-AF65-F5344CB8AC3E}">
        <p14:creationId xmlns:p14="http://schemas.microsoft.com/office/powerpoint/2010/main" val="304052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098A9-8551-13FE-383B-329DA96EF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93512818-9BCF-A7CF-F116-3B4D61BFD1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2E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ECF8203-98C2-373A-211D-CCB69A7B0DDB}"/>
              </a:ext>
            </a:extLst>
          </p:cNvPr>
          <p:cNvSpPr txBox="1"/>
          <p:nvPr/>
        </p:nvSpPr>
        <p:spPr>
          <a:xfrm>
            <a:off x="266700" y="200025"/>
            <a:ext cx="7829550" cy="4476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pt-BR" sz="2400" b="1" dirty="0">
                <a:solidFill>
                  <a:schemeClr val="bg1"/>
                </a:solidFill>
                <a:latin typeface="Poppins"/>
              </a:rPr>
              <a:t>CDV Lavras – Fluxo financeiro e previsão vendas</a:t>
            </a:r>
            <a:endParaRPr lang="pt-BR" sz="825" dirty="0">
              <a:solidFill>
                <a:schemeClr val="bg1"/>
              </a:solidFill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F9DEE31-2649-86D7-9262-3EC636E3950D}"/>
              </a:ext>
            </a:extLst>
          </p:cNvPr>
          <p:cNvGrpSpPr/>
          <p:nvPr/>
        </p:nvGrpSpPr>
        <p:grpSpPr>
          <a:xfrm>
            <a:off x="6065901" y="1160717"/>
            <a:ext cx="4581525" cy="2525136"/>
            <a:chOff x="6694364" y="1491104"/>
            <a:chExt cx="4581525" cy="2525136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5EB9F1CF-103E-902B-B03B-3BDC886138CD}"/>
                </a:ext>
              </a:extLst>
            </p:cNvPr>
            <p:cNvSpPr txBox="1"/>
            <p:nvPr/>
          </p:nvSpPr>
          <p:spPr>
            <a:xfrm>
              <a:off x="6694364" y="1491104"/>
              <a:ext cx="4581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Itens em estoque              ~R$ 600.000</a:t>
              </a:r>
              <a:endParaRPr lang="pt-BR" sz="1800" dirty="0">
                <a:solidFill>
                  <a:schemeClr val="bg1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3832D8A-C8B8-F465-5131-A605371A5371}"/>
                </a:ext>
              </a:extLst>
            </p:cNvPr>
            <p:cNvSpPr txBox="1"/>
            <p:nvPr/>
          </p:nvSpPr>
          <p:spPr>
            <a:xfrm>
              <a:off x="6694364" y="1984915"/>
              <a:ext cx="2714625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⚪ Motor DC13 – 500cv 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⚪Cabina P480 – PGR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⚪Caixa de câmbio GRS 905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⚪Diferencial RP835 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⚪Diferencial RBP835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⚪Diferencial RP900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⚪Diferencial RBP900</a:t>
              </a:r>
            </a:p>
            <a:p>
              <a:endParaRPr lang="pt-BR" sz="1400" dirty="0">
                <a:solidFill>
                  <a:schemeClr val="bg1"/>
                </a:solidFill>
              </a:endParaRPr>
            </a:p>
            <a:p>
              <a:r>
                <a:rPr lang="pt-BR" sz="1400" dirty="0">
                  <a:solidFill>
                    <a:schemeClr val="bg1"/>
                  </a:solidFill>
                </a:rPr>
                <a:t>⚪Outros 156 itens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F7AE26E-901B-8C4E-1685-BD2846EAE3BA}"/>
                </a:ext>
              </a:extLst>
            </p:cNvPr>
            <p:cNvSpPr txBox="1"/>
            <p:nvPr/>
          </p:nvSpPr>
          <p:spPr>
            <a:xfrm>
              <a:off x="9269925" y="1984915"/>
              <a:ext cx="109022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bg1"/>
                  </a:solidFill>
                </a:rPr>
                <a:t>R$ 149.000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R$ 98.00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R$ 72.000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R$ 45.000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R$ 45.000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R$ 60.000</a:t>
              </a:r>
            </a:p>
            <a:p>
              <a:r>
                <a:rPr lang="pt-BR" sz="1400" dirty="0">
                  <a:solidFill>
                    <a:schemeClr val="bg1"/>
                  </a:solidFill>
                </a:rPr>
                <a:t>R$ 60.000</a:t>
              </a:r>
            </a:p>
            <a:p>
              <a:endParaRPr lang="pt-BR" sz="1400" dirty="0">
                <a:solidFill>
                  <a:schemeClr val="bg1"/>
                </a:solidFill>
              </a:endParaRPr>
            </a:p>
            <a:p>
              <a:r>
                <a:rPr lang="pt-BR" sz="1400" dirty="0">
                  <a:solidFill>
                    <a:schemeClr val="bg1"/>
                  </a:solidFill>
                </a:rPr>
                <a:t>~R$ 70.000 </a:t>
              </a:r>
            </a:p>
          </p:txBody>
        </p:sp>
      </p:grp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A611E383-F8F2-40A4-32EA-B76160EB6B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567839"/>
              </p:ext>
            </p:extLst>
          </p:nvPr>
        </p:nvGraphicFramePr>
        <p:xfrm>
          <a:off x="501650" y="1160463"/>
          <a:ext cx="4019550" cy="481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9727" imgH="4813165" progId="Excel.Sheet.12">
                  <p:embed/>
                </p:oleObj>
              </mc:Choice>
              <mc:Fallback>
                <p:oleObj name="Worksheet" r:id="rId2" imgW="4019727" imgH="4813165" progId="Excel.Sheet.12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6CB2AE79-BB7A-1032-9BA3-19F0F20216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1650" y="1160463"/>
                        <a:ext cx="4019550" cy="481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774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FD321-EC84-CF78-6122-553541D4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C78C2184-74B1-7D8A-0B94-4B9696581A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2E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57C0BD5-C094-13BF-A122-A0654B85804B}"/>
              </a:ext>
            </a:extLst>
          </p:cNvPr>
          <p:cNvSpPr txBox="1"/>
          <p:nvPr/>
        </p:nvSpPr>
        <p:spPr>
          <a:xfrm>
            <a:off x="266700" y="200025"/>
            <a:ext cx="7829550" cy="4476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pt-BR" sz="2400" b="1" dirty="0">
                <a:solidFill>
                  <a:schemeClr val="bg1"/>
                </a:solidFill>
                <a:latin typeface="Poppins"/>
              </a:rPr>
              <a:t>CDV Lavras – Foco nas vendas</a:t>
            </a:r>
            <a:endParaRPr lang="pt-BR" sz="825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7B2293-85BB-CC9E-B221-4E66EDAC6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05" y="1547622"/>
            <a:ext cx="2468880" cy="24688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EC234A0-0094-8E11-54E0-96B380A09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290" y="1552194"/>
            <a:ext cx="2365640" cy="421995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61A938-7A4D-03CF-0470-A483A5E5B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05" y="4189095"/>
            <a:ext cx="2468880" cy="246888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8FE001-487D-D201-C467-9301C912464E}"/>
              </a:ext>
            </a:extLst>
          </p:cNvPr>
          <p:cNvSpPr txBox="1"/>
          <p:nvPr/>
        </p:nvSpPr>
        <p:spPr>
          <a:xfrm>
            <a:off x="786102" y="772210"/>
            <a:ext cx="349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Anuncio único para componentes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52758E9-9743-84FC-A408-3E5CDC549C59}"/>
              </a:ext>
            </a:extLst>
          </p:cNvPr>
          <p:cNvSpPr txBox="1"/>
          <p:nvPr/>
        </p:nvSpPr>
        <p:spPr>
          <a:xfrm>
            <a:off x="7494750" y="901291"/>
            <a:ext cx="349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Catalogo interativo para </a:t>
            </a:r>
          </a:p>
          <a:p>
            <a:pPr algn="ctr"/>
            <a:r>
              <a:rPr lang="pt-BR" dirty="0">
                <a:solidFill>
                  <a:schemeClr val="bg1"/>
                </a:solidFill>
              </a:rPr>
              <a:t>itens menores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FB8E2C6-82E2-1A52-5F66-B565CE303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350" y="1921574"/>
            <a:ext cx="2006548" cy="4471416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58576C0B-0D95-FD0D-27EB-5685501AE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1131" y="1921574"/>
            <a:ext cx="2054057" cy="447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9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7D09-4C89-9D20-600B-ECF5DC5D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7EB368E8-411B-3A79-DD6B-551089A2DF2B}"/>
              </a:ext>
            </a:extLst>
          </p:cNvPr>
          <p:cNvSpPr/>
          <p:nvPr/>
        </p:nvSpPr>
        <p:spPr>
          <a:xfrm>
            <a:off x="9144" y="0"/>
            <a:ext cx="12192000" cy="6858000"/>
          </a:xfrm>
          <a:prstGeom prst="rect">
            <a:avLst/>
          </a:prstGeom>
          <a:solidFill>
            <a:srgbClr val="012E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3366608-9B95-1E14-1E62-DD4F0928C6E2}"/>
              </a:ext>
            </a:extLst>
          </p:cNvPr>
          <p:cNvSpPr txBox="1"/>
          <p:nvPr/>
        </p:nvSpPr>
        <p:spPr>
          <a:xfrm>
            <a:off x="266700" y="200025"/>
            <a:ext cx="7829550" cy="4476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pt-BR" sz="2400" b="1" dirty="0">
                <a:solidFill>
                  <a:schemeClr val="bg1"/>
                </a:solidFill>
                <a:latin typeface="Poppins"/>
              </a:rPr>
              <a:t>Desafio para Junho -&gt; </a:t>
            </a:r>
            <a:r>
              <a:rPr lang="pt-BR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DOBRAR A META</a:t>
            </a:r>
            <a:endParaRPr lang="pt-BR" sz="825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9A77CA0-2FF8-DE2D-A7EF-6C76CABBA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240" y="1772412"/>
            <a:ext cx="4355592" cy="326669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2435E70-8E9E-409E-4292-6FB2251AF7C8}"/>
              </a:ext>
            </a:extLst>
          </p:cNvPr>
          <p:cNvSpPr txBox="1"/>
          <p:nvPr/>
        </p:nvSpPr>
        <p:spPr>
          <a:xfrm>
            <a:off x="6233160" y="1124712"/>
            <a:ext cx="5812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Um caminhão por semana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4ED3B9-A959-D0FA-EE2F-A2A6A3555BD6}"/>
              </a:ext>
            </a:extLst>
          </p:cNvPr>
          <p:cNvSpPr txBox="1"/>
          <p:nvPr/>
        </p:nvSpPr>
        <p:spPr>
          <a:xfrm>
            <a:off x="126492" y="1668018"/>
            <a:ext cx="57241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Vendas em Abril e Maio </a:t>
            </a:r>
            <a:r>
              <a:rPr lang="pt-BR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R$ 480.000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⚪Dois caminhões;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⚪Fluxo de vendas lento;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⚪Sem meta e campanha comercial.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1728BDE-1FFE-A698-6173-34F63FB4D5E0}"/>
              </a:ext>
            </a:extLst>
          </p:cNvPr>
          <p:cNvSpPr txBox="1"/>
          <p:nvPr/>
        </p:nvSpPr>
        <p:spPr>
          <a:xfrm>
            <a:off x="126492" y="4627887"/>
            <a:ext cx="64754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Meta para Junho </a:t>
            </a:r>
            <a:r>
              <a:rPr lang="pt-BR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R$ 1.000.000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⚪Quatro caminhões – G500;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⚪Atendimento comercial time vendas Spot + venda interna;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⚪Margem média de 20% para a casa;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Poppins"/>
              </a:rPr>
              <a:t>⚪10% de desconto a vista ou 3x sem juros.</a:t>
            </a:r>
            <a:endParaRPr lang="pt-BR" sz="1600" dirty="0">
              <a:solidFill>
                <a:schemeClr val="bg1"/>
              </a:solidFill>
            </a:endParaRPr>
          </a:p>
        </p:txBody>
      </p:sp>
      <p:pic>
        <p:nvPicPr>
          <p:cNvPr id="1028" name="Picture 4" descr="O alvo verde ilustração stock. Ilustração de conceito - 50498679">
            <a:extLst>
              <a:ext uri="{FF2B5EF4-FFF2-40B4-BE49-F238E27FC236}">
                <a16:creationId xmlns:a16="http://schemas.microsoft.com/office/drawing/2014/main" id="{E779CD00-568F-0857-F13F-E0D6F81B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717035" y="1941540"/>
            <a:ext cx="3183637" cy="318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37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73D6FFC0-6550-256F-1E7D-8F0D244E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E5DD24E-966A-049D-C4B2-60C9969B9526}"/>
              </a:ext>
            </a:extLst>
          </p:cNvPr>
          <p:cNvSpPr/>
          <p:nvPr/>
        </p:nvSpPr>
        <p:spPr>
          <a:xfrm>
            <a:off x="12574" y="0"/>
            <a:ext cx="12192000" cy="6858000"/>
          </a:xfrm>
          <a:prstGeom prst="rect">
            <a:avLst/>
          </a:prstGeom>
          <a:solidFill>
            <a:srgbClr val="012E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20000"/>
              </a:lnSpc>
              <a:defRPr/>
            </a:pPr>
            <a:r>
              <a:rPr lang="pt-BR" sz="1350" b="1" dirty="0">
                <a:solidFill>
                  <a:srgbClr val="FFFFFF"/>
                </a:solidFill>
                <a:latin typeface="Poppins"/>
              </a:rPr>
              <a:t>				</a:t>
            </a:r>
            <a:r>
              <a:rPr lang="pt-BR" sz="1350" dirty="0">
                <a:solidFill>
                  <a:srgbClr val="FFFFFF"/>
                </a:solidFill>
                <a:latin typeface="Poppins"/>
              </a:rPr>
              <a:t>	</a:t>
            </a:r>
            <a:endParaRPr lang="pt-BR" sz="1350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8F81E06C-D8DA-1F8F-A38A-03E1DF43F142}"/>
              </a:ext>
            </a:extLst>
          </p:cNvPr>
          <p:cNvSpPr txBox="1"/>
          <p:nvPr/>
        </p:nvSpPr>
        <p:spPr>
          <a:xfrm>
            <a:off x="540490" y="113687"/>
            <a:ext cx="664997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pt-BR" sz="3467" dirty="0">
                <a:solidFill>
                  <a:schemeClr val="bg1"/>
                </a:solidFill>
                <a:latin typeface="Elms Sans Black"/>
                <a:ea typeface="Elms Sans Black"/>
                <a:cs typeface="Elms Sans Black"/>
                <a:sym typeface="Elms Sans Black"/>
              </a:rPr>
              <a:t>Sistema de gestão de desmontes</a:t>
            </a:r>
            <a:endParaRPr sz="3467" dirty="0">
              <a:solidFill>
                <a:schemeClr val="bg1"/>
              </a:solidFill>
              <a:latin typeface="Elms Sans Black"/>
              <a:ea typeface="Elms Sans Black"/>
              <a:cs typeface="Elms Sans Black"/>
              <a:sym typeface="Elms Sans Black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9423317D-E950-7ECE-18E9-DF12EB98602D}"/>
              </a:ext>
            </a:extLst>
          </p:cNvPr>
          <p:cNvCxnSpPr>
            <a:cxnSpLocks/>
          </p:cNvCxnSpPr>
          <p:nvPr/>
        </p:nvCxnSpPr>
        <p:spPr>
          <a:xfrm>
            <a:off x="4404166" y="2449746"/>
            <a:ext cx="0" cy="3971925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AA8254B-3312-6A31-1370-64D5462CF5B8}"/>
              </a:ext>
            </a:extLst>
          </p:cNvPr>
          <p:cNvSpPr txBox="1"/>
          <p:nvPr/>
        </p:nvSpPr>
        <p:spPr>
          <a:xfrm>
            <a:off x="1744812" y="3191022"/>
            <a:ext cx="2004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Elms Sans Black"/>
              </a:rPr>
              <a:t>Gestão de estoque </a:t>
            </a:r>
          </a:p>
          <a:p>
            <a:pPr algn="ctr"/>
            <a:r>
              <a:rPr lang="pt-BR" dirty="0">
                <a:solidFill>
                  <a:schemeClr val="bg1"/>
                </a:solidFill>
                <a:latin typeface="Elms Sans Black"/>
              </a:rPr>
              <a:t>informatizado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60A784-C718-385F-A873-38B02588B9D7}"/>
              </a:ext>
            </a:extLst>
          </p:cNvPr>
          <p:cNvSpPr txBox="1"/>
          <p:nvPr/>
        </p:nvSpPr>
        <p:spPr>
          <a:xfrm>
            <a:off x="1835638" y="5995780"/>
            <a:ext cx="1822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Elms Sans Black"/>
              </a:rPr>
              <a:t>Gestão financeira</a:t>
            </a:r>
          </a:p>
          <a:p>
            <a:pPr algn="ctr"/>
            <a:r>
              <a:rPr lang="pt-BR" dirty="0">
                <a:solidFill>
                  <a:schemeClr val="bg1"/>
                </a:solidFill>
                <a:latin typeface="Elms Sans Black"/>
              </a:rPr>
              <a:t>Por ativo</a:t>
            </a:r>
          </a:p>
        </p:txBody>
      </p:sp>
      <p:pic>
        <p:nvPicPr>
          <p:cNvPr id="17" name="Gráfico 16" descr="Gráfico de pizza estrutura de tópicos">
            <a:extLst>
              <a:ext uri="{FF2B5EF4-FFF2-40B4-BE49-F238E27FC236}">
                <a16:creationId xmlns:a16="http://schemas.microsoft.com/office/drawing/2014/main" id="{2DB3DA1A-0A38-AAC3-E6BE-368500DE7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3949" y="5305659"/>
            <a:ext cx="685800" cy="6858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F440B2DF-28D3-B865-569F-06819EBD086A}"/>
              </a:ext>
            </a:extLst>
          </p:cNvPr>
          <p:cNvSpPr txBox="1"/>
          <p:nvPr/>
        </p:nvSpPr>
        <p:spPr>
          <a:xfrm>
            <a:off x="1736284" y="4807239"/>
            <a:ext cx="2021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Elms Sans Black"/>
              </a:rPr>
              <a:t>Gestão de anúncios</a:t>
            </a:r>
          </a:p>
        </p:txBody>
      </p:sp>
      <p:pic>
        <p:nvPicPr>
          <p:cNvPr id="3" name="Gráfico 2" descr="Inventário correto estrutura de tópicos">
            <a:extLst>
              <a:ext uri="{FF2B5EF4-FFF2-40B4-BE49-F238E27FC236}">
                <a16:creationId xmlns:a16="http://schemas.microsoft.com/office/drawing/2014/main" id="{0DB5540A-3E77-C6A9-CE13-DBBA1D502F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2480" y="2366808"/>
            <a:ext cx="768739" cy="768739"/>
          </a:xfrm>
          <a:prstGeom prst="rect">
            <a:avLst/>
          </a:prstGeom>
        </p:spPr>
      </p:pic>
      <p:pic>
        <p:nvPicPr>
          <p:cNvPr id="5" name="Gráfico 4" descr="Loja estrutura de tópicos">
            <a:extLst>
              <a:ext uri="{FF2B5EF4-FFF2-40B4-BE49-F238E27FC236}">
                <a16:creationId xmlns:a16="http://schemas.microsoft.com/office/drawing/2014/main" id="{32585211-FBD7-6748-21FC-E8D1ACAE3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3214" y="4095697"/>
            <a:ext cx="727270" cy="727270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F0F2817-5D9B-85B7-B6DF-B97A16B8B7D4}"/>
              </a:ext>
            </a:extLst>
          </p:cNvPr>
          <p:cNvGrpSpPr/>
          <p:nvPr/>
        </p:nvGrpSpPr>
        <p:grpSpPr>
          <a:xfrm>
            <a:off x="5815900" y="1262573"/>
            <a:ext cx="1274240" cy="779644"/>
            <a:chOff x="7699638" y="1573067"/>
            <a:chExt cx="1698987" cy="1039525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C2B28456-D4CB-0C39-180D-55B84426364B}"/>
                </a:ext>
              </a:extLst>
            </p:cNvPr>
            <p:cNvSpPr/>
            <p:nvPr/>
          </p:nvSpPr>
          <p:spPr>
            <a:xfrm>
              <a:off x="7699638" y="1573067"/>
              <a:ext cx="1543265" cy="1039525"/>
            </a:xfrm>
            <a:prstGeom prst="round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solidFill>
                  <a:schemeClr val="tx1"/>
                </a:solidFill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AC646C61-C20A-EAE2-37F5-D87806612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24" b="89286" l="7407" r="89506">
                          <a14:foregroundMark x1="33333" y1="16667" x2="33333" y2="16667"/>
                          <a14:foregroundMark x1="32716" y1="39286" x2="32716" y2="39286"/>
                          <a14:foregroundMark x1="44444" y1="38095" x2="44444" y2="38095"/>
                          <a14:foregroundMark x1="78395" y1="33333" x2="78395" y2="33333"/>
                          <a14:foregroundMark x1="44444" y1="76190" x2="44444" y2="76190"/>
                          <a14:foregroundMark x1="15432" y1="39286" x2="15432" y2="39286"/>
                          <a14:foregroundMark x1="7407" y1="34524" x2="7407" y2="34524"/>
                          <a14:foregroundMark x1="58642" y1="39286" x2="58642" y2="39286"/>
                          <a14:backgroundMark x1="39506" y1="27381" x2="39506" y2="2738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855360" y="1692723"/>
              <a:ext cx="1543265" cy="800212"/>
            </a:xfrm>
            <a:prstGeom prst="rect">
              <a:avLst/>
            </a:prstGeom>
          </p:spPr>
        </p:pic>
      </p:grp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B4DC165-62E6-A1B7-CD25-D7925B0D4483}"/>
              </a:ext>
            </a:extLst>
          </p:cNvPr>
          <p:cNvSpPr/>
          <p:nvPr/>
        </p:nvSpPr>
        <p:spPr>
          <a:xfrm>
            <a:off x="5127126" y="2449747"/>
            <a:ext cx="3893048" cy="1988904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>
              <a:solidFill>
                <a:schemeClr val="tx1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1F54664-9A89-32BE-ECA2-BD8767048F9D}"/>
              </a:ext>
            </a:extLst>
          </p:cNvPr>
          <p:cNvSpPr txBox="1"/>
          <p:nvPr/>
        </p:nvSpPr>
        <p:spPr>
          <a:xfrm>
            <a:off x="5381625" y="2751177"/>
            <a:ext cx="3305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Mensalidade </a:t>
            </a:r>
          </a:p>
          <a:p>
            <a:pPr lvl="1"/>
            <a:r>
              <a:rPr lang="pt-BR" dirty="0"/>
              <a:t>R$ 1.060,00</a:t>
            </a:r>
          </a:p>
          <a:p>
            <a:pPr lvl="1"/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Instalação  + treinamento</a:t>
            </a:r>
          </a:p>
          <a:p>
            <a:pPr lvl="1"/>
            <a:r>
              <a:rPr lang="pt-BR" dirty="0"/>
              <a:t>R$ 9.600,00 </a:t>
            </a:r>
          </a:p>
        </p:txBody>
      </p:sp>
      <p:pic>
        <p:nvPicPr>
          <p:cNvPr id="23" name="Picture 2" descr="Mercado Livre mais que dobra suas tarifas de frete nos ...">
            <a:extLst>
              <a:ext uri="{FF2B5EF4-FFF2-40B4-BE49-F238E27FC236}">
                <a16:creationId xmlns:a16="http://schemas.microsoft.com/office/drawing/2014/main" id="{AFF5B499-0956-BD5F-92A6-59CCC95EF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2" t="33784" r="13637" b="33784"/>
          <a:stretch>
            <a:fillRect/>
          </a:stretch>
        </p:blipFill>
        <p:spPr bwMode="auto">
          <a:xfrm>
            <a:off x="7124265" y="5259075"/>
            <a:ext cx="867156" cy="27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A9F34D62-607E-2E1E-9F93-6C0F348FB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945" y="5239107"/>
            <a:ext cx="572426" cy="31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F0FA28C7-9F7B-1963-9DAF-FA575B42A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265" y="5634140"/>
            <a:ext cx="423404" cy="423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>
            <a:extLst>
              <a:ext uri="{FF2B5EF4-FFF2-40B4-BE49-F238E27FC236}">
                <a16:creationId xmlns:a16="http://schemas.microsoft.com/office/drawing/2014/main" id="{7B4B6BB3-1BD2-F7E7-65E8-0626B6538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364" y="5676680"/>
            <a:ext cx="1083007" cy="34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7B96D4C3-10DC-DB34-235A-B901ABBAD844}"/>
              </a:ext>
            </a:extLst>
          </p:cNvPr>
          <p:cNvGrpSpPr/>
          <p:nvPr/>
        </p:nvGrpSpPr>
        <p:grpSpPr>
          <a:xfrm>
            <a:off x="9394241" y="5305659"/>
            <a:ext cx="1625717" cy="774358"/>
            <a:chOff x="8980451" y="3504164"/>
            <a:chExt cx="2167623" cy="1032477"/>
          </a:xfrm>
        </p:grpSpPr>
        <p:pic>
          <p:nvPicPr>
            <p:cNvPr id="28" name="Gráfico 27" descr="Entrega estrutura de tópicos">
              <a:extLst>
                <a:ext uri="{FF2B5EF4-FFF2-40B4-BE49-F238E27FC236}">
                  <a16:creationId xmlns:a16="http://schemas.microsoft.com/office/drawing/2014/main" id="{8AE0DE7A-9068-3402-1E77-A063BABE6A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25458" y="3514025"/>
              <a:ext cx="1022616" cy="1022616"/>
            </a:xfrm>
            <a:prstGeom prst="rect">
              <a:avLst/>
            </a:prstGeom>
          </p:spPr>
        </p:pic>
        <p:pic>
          <p:nvPicPr>
            <p:cNvPr id="29" name="Gráfico 28" descr="Carrinho estrutura de tópicos">
              <a:extLst>
                <a:ext uri="{FF2B5EF4-FFF2-40B4-BE49-F238E27FC236}">
                  <a16:creationId xmlns:a16="http://schemas.microsoft.com/office/drawing/2014/main" id="{9C5211ED-29E1-C728-A2C7-60C07B584A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80451" y="3504164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4DB747B7-5A37-650C-D232-535B4DCA3CA7}"/>
              </a:ext>
            </a:extLst>
          </p:cNvPr>
          <p:cNvGrpSpPr/>
          <p:nvPr/>
        </p:nvGrpSpPr>
        <p:grpSpPr>
          <a:xfrm>
            <a:off x="5323286" y="5249931"/>
            <a:ext cx="1345194" cy="972476"/>
            <a:chOff x="1076608" y="4662247"/>
            <a:chExt cx="1793592" cy="1296635"/>
          </a:xfrm>
        </p:grpSpPr>
        <p:pic>
          <p:nvPicPr>
            <p:cNvPr id="31" name="Gráfico 30" descr="Caixa com preenchimento sólido">
              <a:extLst>
                <a:ext uri="{FF2B5EF4-FFF2-40B4-BE49-F238E27FC236}">
                  <a16:creationId xmlns:a16="http://schemas.microsoft.com/office/drawing/2014/main" id="{A455A21A-B299-5F86-5B29-BF14D928A7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6608" y="4662247"/>
              <a:ext cx="763235" cy="763235"/>
            </a:xfrm>
            <a:prstGeom prst="rect">
              <a:avLst/>
            </a:prstGeom>
          </p:spPr>
        </p:pic>
        <p:pic>
          <p:nvPicPr>
            <p:cNvPr id="32" name="Gráfico 31" descr="Inventário incorreto com preenchimento sólido">
              <a:extLst>
                <a:ext uri="{FF2B5EF4-FFF2-40B4-BE49-F238E27FC236}">
                  <a16:creationId xmlns:a16="http://schemas.microsoft.com/office/drawing/2014/main" id="{18B796FC-AE8D-EB18-5F3D-3411EE7BEF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06965" y="4662247"/>
              <a:ext cx="763235" cy="763235"/>
            </a:xfrm>
            <a:prstGeom prst="rect">
              <a:avLst/>
            </a:prstGeom>
          </p:spPr>
        </p:pic>
        <p:pic>
          <p:nvPicPr>
            <p:cNvPr id="33" name="Gráfico 32" descr="Câmera com preenchimento sólido">
              <a:extLst>
                <a:ext uri="{FF2B5EF4-FFF2-40B4-BE49-F238E27FC236}">
                  <a16:creationId xmlns:a16="http://schemas.microsoft.com/office/drawing/2014/main" id="{3888735A-CC3E-8C15-6532-F746DE0C1C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574800" y="5195647"/>
              <a:ext cx="763235" cy="7632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937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3B87-F7B5-453B-5EC0-E1591603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4BA53ACC-6D46-353E-009B-1DE4C3EAE8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2E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94E4868-5881-1E54-AE4F-9A51DD4C2C7E}"/>
              </a:ext>
            </a:extLst>
          </p:cNvPr>
          <p:cNvSpPr txBox="1"/>
          <p:nvPr/>
        </p:nvSpPr>
        <p:spPr>
          <a:xfrm>
            <a:off x="266700" y="200025"/>
            <a:ext cx="7829550" cy="4476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pt-BR" sz="2400" b="1" dirty="0">
                <a:solidFill>
                  <a:schemeClr val="bg1"/>
                </a:solidFill>
                <a:latin typeface="Poppins"/>
              </a:rPr>
              <a:t>Processo de garantia – Mapa de atividades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47ABF4-C2C3-F13C-B086-D80D2671EE51}"/>
              </a:ext>
            </a:extLst>
          </p:cNvPr>
          <p:cNvSpPr txBox="1"/>
          <p:nvPr/>
        </p:nvSpPr>
        <p:spPr>
          <a:xfrm>
            <a:off x="1344168" y="777240"/>
            <a:ext cx="175564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Consultor</a:t>
            </a:r>
          </a:p>
          <a:p>
            <a:pPr algn="ctr"/>
            <a:r>
              <a:rPr lang="pt-BR" sz="1100" i="1" dirty="0">
                <a:solidFill>
                  <a:schemeClr val="bg1"/>
                </a:solidFill>
              </a:rPr>
              <a:t>Ítalo e Euler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37B42D-DBB2-B002-3210-695E6B3C9FB1}"/>
              </a:ext>
            </a:extLst>
          </p:cNvPr>
          <p:cNvSpPr txBox="1"/>
          <p:nvPr/>
        </p:nvSpPr>
        <p:spPr>
          <a:xfrm>
            <a:off x="5166360" y="777240"/>
            <a:ext cx="175564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Garantista</a:t>
            </a:r>
          </a:p>
          <a:p>
            <a:pPr algn="ctr"/>
            <a:r>
              <a:rPr lang="pt-BR" sz="1100" i="1" dirty="0">
                <a:solidFill>
                  <a:schemeClr val="bg1"/>
                </a:solidFill>
              </a:rPr>
              <a:t>Sidney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A945F0-61D1-D174-5849-D05EAAFE2D98}"/>
              </a:ext>
            </a:extLst>
          </p:cNvPr>
          <p:cNvSpPr txBox="1"/>
          <p:nvPr/>
        </p:nvSpPr>
        <p:spPr>
          <a:xfrm>
            <a:off x="8988552" y="777240"/>
            <a:ext cx="1755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Time Local</a:t>
            </a:r>
          </a:p>
          <a:p>
            <a:pPr algn="ctr"/>
            <a:r>
              <a:rPr lang="pt-BR" sz="1100" i="1" dirty="0">
                <a:solidFill>
                  <a:schemeClr val="bg1"/>
                </a:solidFill>
              </a:rPr>
              <a:t>Renato, Jeferson </a:t>
            </a:r>
          </a:p>
          <a:p>
            <a:pPr algn="ctr"/>
            <a:r>
              <a:rPr lang="pt-BR" sz="1100" i="1" dirty="0">
                <a:solidFill>
                  <a:schemeClr val="bg1"/>
                </a:solidFill>
              </a:rPr>
              <a:t>e Mateus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A09E5AC-B80F-1396-1465-37ACF3F5EDFD}"/>
              </a:ext>
            </a:extLst>
          </p:cNvPr>
          <p:cNvCxnSpPr>
            <a:cxnSpLocks/>
          </p:cNvCxnSpPr>
          <p:nvPr/>
        </p:nvCxnSpPr>
        <p:spPr>
          <a:xfrm>
            <a:off x="4133088" y="1152144"/>
            <a:ext cx="0" cy="49834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C97B3E8-5CAD-AC33-9625-5FEC6A17F044}"/>
              </a:ext>
            </a:extLst>
          </p:cNvPr>
          <p:cNvCxnSpPr>
            <a:cxnSpLocks/>
          </p:cNvCxnSpPr>
          <p:nvPr/>
        </p:nvCxnSpPr>
        <p:spPr>
          <a:xfrm>
            <a:off x="7955280" y="1152144"/>
            <a:ext cx="0" cy="498348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A5551C-C1F0-D5B5-061D-C2B03D4EE2E5}"/>
              </a:ext>
            </a:extLst>
          </p:cNvPr>
          <p:cNvSpPr txBox="1"/>
          <p:nvPr/>
        </p:nvSpPr>
        <p:spPr>
          <a:xfrm>
            <a:off x="8343902" y="1657957"/>
            <a:ext cx="28254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Abertura do processo de  garantia;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Coleta de informações;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Atendimento de duvidas das pontas.</a:t>
            </a:r>
          </a:p>
        </p:txBody>
      </p:sp>
      <p:pic>
        <p:nvPicPr>
          <p:cNvPr id="18" name="Gráfico 17" descr="Gráfico de decisão estrutura de tópicos">
            <a:extLst>
              <a:ext uri="{FF2B5EF4-FFF2-40B4-BE49-F238E27FC236}">
                <a16:creationId xmlns:a16="http://schemas.microsoft.com/office/drawing/2014/main" id="{12E4ECA6-D7EF-5991-33C6-639FBE4C6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0185" y="4456527"/>
            <a:ext cx="457199" cy="457199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E21F84F9-7B4E-DD1C-8E81-804AA70F7878}"/>
              </a:ext>
            </a:extLst>
          </p:cNvPr>
          <p:cNvSpPr txBox="1"/>
          <p:nvPr/>
        </p:nvSpPr>
        <p:spPr>
          <a:xfrm>
            <a:off x="9001125" y="4515849"/>
            <a:ext cx="2686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Seguir os </a:t>
            </a:r>
            <a:r>
              <a:rPr lang="pt-BR" sz="1600" dirty="0" err="1">
                <a:solidFill>
                  <a:schemeClr val="bg1"/>
                </a:solidFill>
              </a:rPr>
              <a:t>POPs</a:t>
            </a:r>
            <a:endParaRPr lang="pt-BR" sz="1600" dirty="0">
              <a:solidFill>
                <a:schemeClr val="bg1"/>
              </a:solidFill>
            </a:endParaRPr>
          </a:p>
        </p:txBody>
      </p:sp>
      <p:pic>
        <p:nvPicPr>
          <p:cNvPr id="22" name="Gráfico 21" descr="Perguntas com preenchimento sólido">
            <a:extLst>
              <a:ext uri="{FF2B5EF4-FFF2-40B4-BE49-F238E27FC236}">
                <a16:creationId xmlns:a16="http://schemas.microsoft.com/office/drawing/2014/main" id="{48663A2C-7D20-8863-420A-11DDCB64CD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6177" y="5184529"/>
            <a:ext cx="631758" cy="631758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FE9645AD-021F-BA90-6F7E-9675BBCAFE39}"/>
              </a:ext>
            </a:extLst>
          </p:cNvPr>
          <p:cNvSpPr txBox="1"/>
          <p:nvPr/>
        </p:nvSpPr>
        <p:spPr>
          <a:xfrm>
            <a:off x="8996171" y="5208021"/>
            <a:ext cx="2686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Em casos não cobertos concede a garantia.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FA36371-6DFB-0A83-A954-DBA69C08FDB9}"/>
              </a:ext>
            </a:extLst>
          </p:cNvPr>
          <p:cNvSpPr txBox="1"/>
          <p:nvPr/>
        </p:nvSpPr>
        <p:spPr>
          <a:xfrm>
            <a:off x="4285492" y="1657957"/>
            <a:ext cx="357834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Desenvolver os controles da área: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Processos em aberto;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Garantias concedidas;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Garantias negadas;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Localização e transito de peças.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Acompanhamento com os fornecedores: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Solicitação de garantias;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Reunião de acompanhamento técnico.</a:t>
            </a:r>
          </a:p>
        </p:txBody>
      </p:sp>
      <p:pic>
        <p:nvPicPr>
          <p:cNvPr id="30" name="Gráfico 29" descr="Tendência ascendente com preenchimento sólido">
            <a:extLst>
              <a:ext uri="{FF2B5EF4-FFF2-40B4-BE49-F238E27FC236}">
                <a16:creationId xmlns:a16="http://schemas.microsoft.com/office/drawing/2014/main" id="{64DDD213-715F-43B9-8B31-475676471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8640" y="4432554"/>
            <a:ext cx="505144" cy="505144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4B85704A-0D26-4F99-38C3-D9C6BAD14529}"/>
              </a:ext>
            </a:extLst>
          </p:cNvPr>
          <p:cNvSpPr txBox="1"/>
          <p:nvPr/>
        </p:nvSpPr>
        <p:spPr>
          <a:xfrm>
            <a:off x="4936931" y="4515849"/>
            <a:ext cx="2686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Status </a:t>
            </a:r>
            <a:r>
              <a:rPr lang="pt-BR" sz="1600" dirty="0" err="1">
                <a:solidFill>
                  <a:schemeClr val="bg1"/>
                </a:solidFill>
              </a:rPr>
              <a:t>report</a:t>
            </a:r>
            <a:r>
              <a:rPr lang="pt-BR" sz="1600" dirty="0">
                <a:solidFill>
                  <a:schemeClr val="bg1"/>
                </a:solidFill>
              </a:rPr>
              <a:t> diário</a:t>
            </a:r>
          </a:p>
        </p:txBody>
      </p:sp>
      <p:pic>
        <p:nvPicPr>
          <p:cNvPr id="35" name="Gráfico 34" descr="Lâmpada com preenchimento sólido">
            <a:extLst>
              <a:ext uri="{FF2B5EF4-FFF2-40B4-BE49-F238E27FC236}">
                <a16:creationId xmlns:a16="http://schemas.microsoft.com/office/drawing/2014/main" id="{EE3CC11E-950B-F56C-56F9-B6DDC0FDE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8640" y="5247839"/>
            <a:ext cx="505139" cy="50513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9FABB03-8601-30ED-E31A-3CDBA69C43E1}"/>
              </a:ext>
            </a:extLst>
          </p:cNvPr>
          <p:cNvSpPr txBox="1"/>
          <p:nvPr/>
        </p:nvSpPr>
        <p:spPr>
          <a:xfrm>
            <a:off x="4936931" y="5331131"/>
            <a:ext cx="29451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Insights para estudos técnicos 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363AA53-2055-C407-B4F2-881BAC3DC49B}"/>
              </a:ext>
            </a:extLst>
          </p:cNvPr>
          <p:cNvSpPr txBox="1"/>
          <p:nvPr/>
        </p:nvSpPr>
        <p:spPr>
          <a:xfrm>
            <a:off x="432819" y="1824037"/>
            <a:ext cx="35783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Estudos de peças em garantia: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Fazer analise técnica de garantias concedidas;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Desenvolve e excuta reparos.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Desenvolvimento técnico: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Cria Boletins técnicos;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/>
                </a:solidFill>
              </a:rPr>
              <a:t>Desenvolve procedimentos operacionais para as pontas.</a:t>
            </a:r>
          </a:p>
        </p:txBody>
      </p:sp>
      <p:pic>
        <p:nvPicPr>
          <p:cNvPr id="41" name="Gráfico 40" descr="Régua com preenchimento sólido">
            <a:extLst>
              <a:ext uri="{FF2B5EF4-FFF2-40B4-BE49-F238E27FC236}">
                <a16:creationId xmlns:a16="http://schemas.microsoft.com/office/drawing/2014/main" id="{649A044B-0D69-5574-29EE-4CE5C2EA4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643" y="4436573"/>
            <a:ext cx="497106" cy="497106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0C0C3143-7FD1-3C6B-01D0-AC7D4A6BB92E}"/>
              </a:ext>
            </a:extLst>
          </p:cNvPr>
          <p:cNvSpPr txBox="1"/>
          <p:nvPr/>
        </p:nvSpPr>
        <p:spPr>
          <a:xfrm>
            <a:off x="1367723" y="4515849"/>
            <a:ext cx="2686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Teste de peças novas</a:t>
            </a:r>
          </a:p>
        </p:txBody>
      </p:sp>
      <p:pic>
        <p:nvPicPr>
          <p:cNvPr id="45" name="Gráfico 44" descr="Chave inglesa com preenchimento sólido">
            <a:extLst>
              <a:ext uri="{FF2B5EF4-FFF2-40B4-BE49-F238E27FC236}">
                <a16:creationId xmlns:a16="http://schemas.microsoft.com/office/drawing/2014/main" id="{4D966861-11BF-8E5C-59F1-83F0BDBB7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626" y="5246347"/>
            <a:ext cx="508123" cy="508123"/>
          </a:xfrm>
          <a:prstGeom prst="rect">
            <a:avLst/>
          </a:prstGeom>
        </p:spPr>
      </p:pic>
      <p:sp>
        <p:nvSpPr>
          <p:cNvPr id="47" name="CaixaDeTexto 46">
            <a:extLst>
              <a:ext uri="{FF2B5EF4-FFF2-40B4-BE49-F238E27FC236}">
                <a16:creationId xmlns:a16="http://schemas.microsoft.com/office/drawing/2014/main" id="{5143743E-130C-C1F1-522C-281E58030E11}"/>
              </a:ext>
            </a:extLst>
          </p:cNvPr>
          <p:cNvSpPr txBox="1"/>
          <p:nvPr/>
        </p:nvSpPr>
        <p:spPr>
          <a:xfrm>
            <a:off x="1407380" y="5331131"/>
            <a:ext cx="2686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Regulação de orçamentos </a:t>
            </a:r>
          </a:p>
        </p:txBody>
      </p:sp>
    </p:spTree>
    <p:extLst>
      <p:ext uri="{BB962C8B-B14F-4D97-AF65-F5344CB8AC3E}">
        <p14:creationId xmlns:p14="http://schemas.microsoft.com/office/powerpoint/2010/main" val="546322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317E-0474-E16C-1F94-51D69C4D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27DA710A-B0B7-CC8F-90AA-F21934D2E8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2E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7A86216-BE38-72EA-48B4-BF3F8E5BF284}"/>
              </a:ext>
            </a:extLst>
          </p:cNvPr>
          <p:cNvSpPr txBox="1"/>
          <p:nvPr/>
        </p:nvSpPr>
        <p:spPr>
          <a:xfrm>
            <a:off x="266700" y="200025"/>
            <a:ext cx="7829550" cy="4476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pt-BR" sz="2400" b="1" dirty="0">
                <a:solidFill>
                  <a:schemeClr val="bg1"/>
                </a:solidFill>
                <a:latin typeface="Poppins"/>
              </a:rPr>
              <a:t>Processo de garantia – Time Local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888DB9CF-F8C0-607B-CA58-8CF534635B07}"/>
              </a:ext>
            </a:extLst>
          </p:cNvPr>
          <p:cNvCxnSpPr/>
          <p:nvPr/>
        </p:nvCxnSpPr>
        <p:spPr>
          <a:xfrm>
            <a:off x="8439912" y="804672"/>
            <a:ext cx="0" cy="506577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" name="Gráfico 14" descr="Área de Transferência Marcada com preenchimento sólido">
            <a:extLst>
              <a:ext uri="{FF2B5EF4-FFF2-40B4-BE49-F238E27FC236}">
                <a16:creationId xmlns:a16="http://schemas.microsoft.com/office/drawing/2014/main" id="{4FC7543D-10A9-7598-02E0-334080628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56320" y="1728216"/>
            <a:ext cx="740664" cy="74066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AAEF7C7-A0C2-B442-EB6C-8AFE1FD4404D}"/>
              </a:ext>
            </a:extLst>
          </p:cNvPr>
          <p:cNvSpPr txBox="1"/>
          <p:nvPr/>
        </p:nvSpPr>
        <p:spPr>
          <a:xfrm>
            <a:off x="9424419" y="1938415"/>
            <a:ext cx="2593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Seguimento de </a:t>
            </a:r>
            <a:r>
              <a:rPr lang="pt-BR" sz="1600" dirty="0" err="1">
                <a:solidFill>
                  <a:schemeClr val="bg1"/>
                </a:solidFill>
              </a:rPr>
              <a:t>POPs</a:t>
            </a:r>
            <a:endParaRPr lang="pt-BR" sz="1600" dirty="0">
              <a:solidFill>
                <a:schemeClr val="bg1"/>
              </a:solidFill>
            </a:endParaRPr>
          </a:p>
        </p:txBody>
      </p:sp>
      <p:pic>
        <p:nvPicPr>
          <p:cNvPr id="21" name="Gráfico 20" descr="Cronômetro 25% com preenchimento sólido">
            <a:extLst>
              <a:ext uri="{FF2B5EF4-FFF2-40B4-BE49-F238E27FC236}">
                <a16:creationId xmlns:a16="http://schemas.microsoft.com/office/drawing/2014/main" id="{022D852C-FCD3-6FAE-DC70-F271C6FD2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6320" y="2743200"/>
            <a:ext cx="740664" cy="740664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B2A6C780-3738-7224-0CE8-A841A0AECB7E}"/>
              </a:ext>
            </a:extLst>
          </p:cNvPr>
          <p:cNvSpPr txBox="1"/>
          <p:nvPr/>
        </p:nvSpPr>
        <p:spPr>
          <a:xfrm>
            <a:off x="9467091" y="2953399"/>
            <a:ext cx="2593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Resposta rápida ao cliente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23953D6B-AA70-D838-0E91-E6860C11A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12" y="1746617"/>
            <a:ext cx="6486525" cy="3057525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234BD2DD-17D1-B7F7-F377-B6D24514920A}"/>
              </a:ext>
            </a:extLst>
          </p:cNvPr>
          <p:cNvSpPr txBox="1"/>
          <p:nvPr/>
        </p:nvSpPr>
        <p:spPr>
          <a:xfrm>
            <a:off x="9439656" y="3735098"/>
            <a:ext cx="2593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Em caso de duvida cliente em primeiro lugar</a:t>
            </a:r>
          </a:p>
        </p:txBody>
      </p:sp>
      <p:pic>
        <p:nvPicPr>
          <p:cNvPr id="38" name="Gráfico 37" descr="Perguntas com preenchimento sólido">
            <a:extLst>
              <a:ext uri="{FF2B5EF4-FFF2-40B4-BE49-F238E27FC236}">
                <a16:creationId xmlns:a16="http://schemas.microsoft.com/office/drawing/2014/main" id="{FF7BD8C8-E410-D52D-BB95-BFED8A138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0773" y="3634216"/>
            <a:ext cx="631758" cy="63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791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7979</TotalTime>
  <Words>668</Words>
  <Application>Microsoft Office PowerPoint</Application>
  <PresentationFormat>Widescreen</PresentationFormat>
  <Paragraphs>152</Paragraphs>
  <Slides>9</Slides>
  <Notes>2</Notes>
  <HiddenSlides>1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Elms Sans Black</vt:lpstr>
      <vt:lpstr>Poppins</vt:lpstr>
      <vt:lpstr>Tema do Office</vt:lpstr>
      <vt:lpstr>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Pavan Eiras</dc:creator>
  <cp:lastModifiedBy>Andre Pavan Eiras</cp:lastModifiedBy>
  <cp:revision>9</cp:revision>
  <dcterms:created xsi:type="dcterms:W3CDTF">2026-03-20T11:14:03Z</dcterms:created>
  <dcterms:modified xsi:type="dcterms:W3CDTF">2026-06-29T11:41:22Z</dcterms:modified>
</cp:coreProperties>
</file>
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66" r:id="rId12"/>
    <p:sldId id="267" r:id="rId13"/>
    <p:sldId id="274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07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contextualizar o objetivo do treinamento — dar ao time comercial as ferramentas para vender mais peças usadas com segurança e argumento.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rapidamente pelos 6 blocos do treinamento para o time saber o que esperar.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de onde vêm as peças: compra de caminhão completo, desmonte em Lavras, cada peça é avaliada e revisada. Usar o exemplo real dos dois primeiros caminhões.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diferenciais concretos (garantia, preço, revisão) e o conceito de economia circular que sustenta o produto — dois temas, um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Unificar economia circular, respaldo institucional e a parceria com a UFLA como um único argumento de venda para clientes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três tipos de material de divulgação antes de entrar em detalhe em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a ler uma ficha comercial: aplicação, condições comerciais, base de troca, garantia e prazo. Exemplo real: Long Block DC13 XPI.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um mesmo item pode ter níveis diferentes de completude — exemplo real da cabine Scania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Anunciar a mudança de estratégia: cabines deixam de ser vendidas só como peça única e passam a ser desmontadas, com componentes vendidos separadamente. Destacar o chassi disponível desde já no WIO e a alimentação gradual do app conforme o desmonte avança.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Ação 1: painel de controle de produção do desmonte. Explicar os dois eixos de status — produção (aguardando desmonte / revisando) e comercial (disponível / reservado / vendido) — e o prazo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Ação 2: mostruário físico de peças usadas enviado às revendas parceiras. Explicar o objetivo — o cliente ver e tocar a peça antes de negociar — e como pedir o mostruário para sua região.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e passo a passo da base de troca em um único slide: vendemos pelo valor cheio, avaliamos depois, e o processo operacional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promovemos itens parados via Instagram/WhatsApp — contar a história real do eixo traseiro que vendeu depois de encontrarmos o cliente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o app resolve e as telas principais, lado a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panorama atual real do funil de vendas — total em negociação e alguns exemplos de clientes/itens.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final sobre a importância de manter o funil atualizado e o contato ativo com o cliente — reforçar que cada linha do funil é uma pessoa esperando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recapitulando os três pilares e conclamar o time a repassar o conteúdo para os 280 vendedores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COMERCIAL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142184"/>
            <a:ext cx="1571625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6000" b="1" kern="0" spc="-6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usadas Ekotruck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5300365"/>
            <a:ext cx="117729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661"/>
              </a:lnSpc>
              <a:buNone/>
            </a:pPr>
            <a:r>
              <a:rPr lang="en-US" sz="255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Cartilhas, base de troca, destaque do mês e o app — as ferramentas que sustentam o argumento de venda de quem está na rua.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9194800"/>
            <a:ext cx="141511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EkoTruck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986717" y="9245600"/>
            <a:ext cx="56741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5 representantes comerciais · Grupo WLM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52095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812330" y="2616200"/>
            <a:ext cx="46966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as peças: o desmonte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45440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812330" y="3549650"/>
            <a:ext cx="4631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nosso processo é diferente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38785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812330" y="4483100"/>
            <a:ext cx="23315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circular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32130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812330" y="5416550"/>
            <a:ext cx="723767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 divulgação: cartilhas, base de troca e destaque do mês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448800" y="252095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118130" y="2616200"/>
            <a:ext cx="6980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Novidade: cabines desmontadas e vendidas por peça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448800" y="345440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0118130" y="3549650"/>
            <a:ext cx="29078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EkoTruck Usados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448800" y="438785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118130" y="4483100"/>
            <a:ext cx="57402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ações: painel de controle e mostruário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48800" y="5321300"/>
            <a:ext cx="478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118130" y="5416550"/>
            <a:ext cx="43220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vendas: dados e contato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AS PEÇAS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362075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desmonte em Lavras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406650"/>
            <a:ext cx="79270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Compramos caminhões usados completos e os desmontamos em nosso Centro de Desmonte, em Lavras (MG).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3397250"/>
            <a:ext cx="792708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passa por avaliação, teste e revisão antes de virar uma peça à venda — é esse processo que sustenta as cartilhas, a base de troca e a garantia que oferecemos.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48800" y="2406650"/>
            <a:ext cx="3752850" cy="1193800"/>
          </a:xfrm>
          <a:prstGeom prst="roundRect">
            <a:avLst>
              <a:gd name="adj" fmla="val 957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15500" y="2635250"/>
            <a:ext cx="3541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Caminhões desmontados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15500" y="2978150"/>
            <a:ext cx="35413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(3x G500 e 1 G480)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3392150" y="2406650"/>
            <a:ext cx="3752850" cy="1193800"/>
          </a:xfrm>
          <a:prstGeom prst="roundRect">
            <a:avLst>
              <a:gd name="adj" fmla="val 957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658850" y="2635250"/>
            <a:ext cx="3541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gerada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658850" y="2978150"/>
            <a:ext cx="354139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R$ 674.060,15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448800" y="3790950"/>
            <a:ext cx="3752850" cy="1193800"/>
          </a:xfrm>
          <a:prstGeom prst="roundRect">
            <a:avLst>
              <a:gd name="adj" fmla="val 957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15500" y="4019550"/>
            <a:ext cx="3541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faturamento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15500" y="4362450"/>
            <a:ext cx="354139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R$ 282.700,00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3392150" y="3790950"/>
            <a:ext cx="3752850" cy="1193800"/>
          </a:xfrm>
          <a:prstGeom prst="roundRect">
            <a:avLst>
              <a:gd name="adj" fmla="val 9574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658850" y="4019550"/>
            <a:ext cx="3541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estoque, pronto pra vender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58850" y="4362450"/>
            <a:ext cx="354139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R$ 1,5 Mi</a:t>
            </a:r>
            <a:endParaRPr lang="en-US" sz="27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t="15432" b="15432"/>
          <a:stretch/>
        </p:blipFill>
        <p:spPr>
          <a:xfrm>
            <a:off x="1143000" y="5289550"/>
            <a:ext cx="3857625" cy="200025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15432" b="15432"/>
          <a:stretch/>
        </p:blipFill>
        <p:spPr>
          <a:xfrm>
            <a:off x="5191125" y="5289550"/>
            <a:ext cx="3857625" cy="200025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30556" b="30556"/>
          <a:stretch/>
        </p:blipFill>
        <p:spPr>
          <a:xfrm>
            <a:off x="9239250" y="5289550"/>
            <a:ext cx="3857625" cy="2000250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15432" b="15432"/>
          <a:stretch/>
        </p:blipFill>
        <p:spPr>
          <a:xfrm>
            <a:off x="13287375" y="5289550"/>
            <a:ext cx="3857625" cy="20002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2900" y="74231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Desmonte Veicular — Lavras (MG)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SOMOS DIFERENTES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67640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de processo e economia circular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2406650"/>
            <a:ext cx="82091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ARGUMENTOS DE NEGOCIAÇÃO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2921000"/>
            <a:ext cx="495300" cy="495300"/>
          </a:xfrm>
          <a:prstGeom prst="ellipse">
            <a:avLst/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6825" y="3044825"/>
            <a:ext cx="247650" cy="247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921000"/>
            <a:ext cx="721277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real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828800" y="3238500"/>
            <a:ext cx="72127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 meses a 1 ano — acima do padrão do mercado de usados.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3000" y="3806130"/>
            <a:ext cx="495300" cy="495300"/>
          </a:xfrm>
          <a:prstGeom prst="ellipse">
            <a:avLst/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6825" y="3929955"/>
            <a:ext cx="247650" cy="2476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806130"/>
            <a:ext cx="745474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competitivo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828800" y="4123631"/>
            <a:ext cx="698034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abaixo de uma peça nova, com desempenho testado em bancada.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43000" y="5011242"/>
            <a:ext cx="495300" cy="495300"/>
          </a:xfrm>
          <a:prstGeom prst="ellipse">
            <a:avLst/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6825" y="5135067"/>
            <a:ext cx="247650" cy="2476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5011242"/>
            <a:ext cx="720819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padrão concessionária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828800" y="5328742"/>
            <a:ext cx="72081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Casquilhos e bicos sempre revisados. Testado antes da entrega.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139238" y="2406650"/>
            <a:ext cx="9525" cy="71183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9682163" y="2406650"/>
            <a:ext cx="82091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SUSTENTA O PRODUTO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682163" y="2921000"/>
            <a:ext cx="25400" cy="656530"/>
          </a:xfrm>
          <a:prstGeom prst="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9936163" y="2921000"/>
            <a:ext cx="792972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Remanufatura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9936163" y="3257550"/>
            <a:ext cx="792972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voltam ao padrão de fábrica em vez de virar sucata.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682163" y="3825180"/>
            <a:ext cx="25400" cy="656530"/>
          </a:xfrm>
          <a:prstGeom prst="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9936163" y="3825180"/>
            <a:ext cx="792972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Reuso e reciclagem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9936163" y="4161731"/>
            <a:ext cx="792972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peça aproveitável ganha um segundo ciclo de vida.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682163" y="4729361"/>
            <a:ext cx="25400" cy="976511"/>
          </a:xfrm>
          <a:prstGeom prst="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9936163" y="4729361"/>
            <a:ext cx="792972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 ambientais</a:t>
            </a:r>
            <a:endParaRPr lang="en-US" sz="1950" dirty="0"/>
          </a:p>
        </p:txBody>
      </p:sp>
      <p:sp>
        <p:nvSpPr>
          <p:cNvPr id="27" name="Text 22"/>
          <p:cNvSpPr/>
          <p:nvPr/>
        </p:nvSpPr>
        <p:spPr>
          <a:xfrm>
            <a:off x="9936163" y="5065911"/>
            <a:ext cx="742510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desmonte evita descarte e gera indicadores que podem virar créditos ambientais.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252" normalizeH="0" baseline="0" noProof="0" dirty="0">
                <a:ln>
                  <a:noFill/>
                </a:ln>
                <a:solidFill>
                  <a:srgbClr val="A3CCA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ARGUMENTO PARA CLIENTES GRANDES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67640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EAF0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Economia circular também é argumento de venda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" y="2406650"/>
            <a:ext cx="8676587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0" normalizeH="0" baseline="0" noProof="0" dirty="0">
                <a:ln>
                  <a:noFill/>
                </a:ln>
                <a:solidFill>
                  <a:srgbClr val="EAF0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Grandes empresas têm metas de sustentabilidade e ESG para reportar — comprar peça remanufaturada em vez de nova ajuda a cumprir essas metas.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3925888"/>
            <a:ext cx="8676587" cy="1573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738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A3CCA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Temos respaldo institucional para esse argumento: alinhamento a agendas nacionais de economia circular e uma parceria de pesquisa com a UFLA — o Centro de Desmonte Veicular Ekotruck–UFLA, projeto de 3 anos em economia circular automotiva.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7095" y="5989420"/>
            <a:ext cx="1485900" cy="1485900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97006B5-F831-2CFD-AD58-97CF770C633C}"/>
              </a:ext>
            </a:extLst>
          </p:cNvPr>
          <p:cNvGrpSpPr/>
          <p:nvPr/>
        </p:nvGrpSpPr>
        <p:grpSpPr>
          <a:xfrm>
            <a:off x="10252670" y="2986305"/>
            <a:ext cx="6892330" cy="800100"/>
            <a:chOff x="10252671" y="3844925"/>
            <a:chExt cx="6892330" cy="800100"/>
          </a:xfrm>
        </p:grpSpPr>
        <p:sp>
          <p:nvSpPr>
            <p:cNvPr id="6" name="Shape 4"/>
            <p:cNvSpPr/>
            <p:nvPr/>
          </p:nvSpPr>
          <p:spPr>
            <a:xfrm>
              <a:off x="10252671" y="3844925"/>
              <a:ext cx="6892330" cy="800100"/>
            </a:xfrm>
            <a:prstGeom prst="roundRect">
              <a:avLst>
                <a:gd name="adj" fmla="val 14286"/>
              </a:avLst>
            </a:prstGeom>
            <a:solidFill>
              <a:srgbClr val="EAF0E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0417771" y="4111625"/>
              <a:ext cx="4239022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2D2B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MOVE BRASIL · Nova Indústria Brasil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70486" b="-70486"/>
          <a:stretch/>
        </p:blipFill>
        <p:spPr>
          <a:xfrm>
            <a:off x="3005298" y="5897782"/>
            <a:ext cx="1669177" cy="1669177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0429041-FA45-8DAB-5D5B-954C417FB8EE}"/>
              </a:ext>
            </a:extLst>
          </p:cNvPr>
          <p:cNvGrpSpPr/>
          <p:nvPr/>
        </p:nvGrpSpPr>
        <p:grpSpPr>
          <a:xfrm>
            <a:off x="10252671" y="4225012"/>
            <a:ext cx="6892330" cy="800100"/>
            <a:chOff x="10252671" y="4797425"/>
            <a:chExt cx="6892330" cy="800100"/>
          </a:xfrm>
        </p:grpSpPr>
        <p:sp>
          <p:nvSpPr>
            <p:cNvPr id="9" name="Shape 6"/>
            <p:cNvSpPr/>
            <p:nvPr/>
          </p:nvSpPr>
          <p:spPr>
            <a:xfrm>
              <a:off x="10252671" y="4797425"/>
              <a:ext cx="6892330" cy="800100"/>
            </a:xfrm>
            <a:prstGeom prst="roundRect">
              <a:avLst>
                <a:gd name="adj" fmla="val 14286"/>
              </a:avLst>
            </a:prstGeom>
            <a:solidFill>
              <a:srgbClr val="EAF0E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10417771" y="5064125"/>
              <a:ext cx="5576322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2D2B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ENEC · Estratégia Nacional de Economia Circular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C197831-1561-09A9-7A46-731A0FDB961D}"/>
              </a:ext>
            </a:extLst>
          </p:cNvPr>
          <p:cNvGrpSpPr/>
          <p:nvPr/>
        </p:nvGrpSpPr>
        <p:grpSpPr>
          <a:xfrm>
            <a:off x="10252671" y="5463719"/>
            <a:ext cx="6892330" cy="800100"/>
            <a:chOff x="10252671" y="5749925"/>
            <a:chExt cx="6892330" cy="800100"/>
          </a:xfrm>
        </p:grpSpPr>
        <p:sp>
          <p:nvSpPr>
            <p:cNvPr id="12" name="Shape 8"/>
            <p:cNvSpPr/>
            <p:nvPr/>
          </p:nvSpPr>
          <p:spPr>
            <a:xfrm>
              <a:off x="10252671" y="5749925"/>
              <a:ext cx="6892330" cy="800100"/>
            </a:xfrm>
            <a:prstGeom prst="roundRect">
              <a:avLst>
                <a:gd name="adj" fmla="val 14286"/>
              </a:avLst>
            </a:prstGeom>
            <a:solidFill>
              <a:srgbClr val="EAF0E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9"/>
            <p:cNvSpPr/>
            <p:nvPr/>
          </p:nvSpPr>
          <p:spPr>
            <a:xfrm>
              <a:off x="10417771" y="6016625"/>
              <a:ext cx="2893536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2D2B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Rota da Descarbonização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E8A4593-893B-3F19-F8DF-E426E1E7BEC1}"/>
              </a:ext>
            </a:extLst>
          </p:cNvPr>
          <p:cNvGrpSpPr/>
          <p:nvPr/>
        </p:nvGrpSpPr>
        <p:grpSpPr>
          <a:xfrm>
            <a:off x="10252671" y="6702425"/>
            <a:ext cx="6892330" cy="800100"/>
            <a:chOff x="10252671" y="6702425"/>
            <a:chExt cx="6892330" cy="800100"/>
          </a:xfrm>
        </p:grpSpPr>
        <p:sp>
          <p:nvSpPr>
            <p:cNvPr id="15" name="Shape 10"/>
            <p:cNvSpPr/>
            <p:nvPr/>
          </p:nvSpPr>
          <p:spPr>
            <a:xfrm>
              <a:off x="10252671" y="6702425"/>
              <a:ext cx="6892330" cy="800100"/>
            </a:xfrm>
            <a:prstGeom prst="roundRect">
              <a:avLst>
                <a:gd name="adj" fmla="val 14286"/>
              </a:avLst>
            </a:prstGeom>
            <a:solidFill>
              <a:srgbClr val="EAF0EC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 11"/>
            <p:cNvSpPr/>
            <p:nvPr/>
          </p:nvSpPr>
          <p:spPr>
            <a:xfrm>
              <a:off x="10417771" y="6969125"/>
              <a:ext cx="3829636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2D2B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Parceria de pesquisa com a UFLA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ext 12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26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 assim: "comprar remanufaturado reduz o descarte de vocês e conta pra meta ambiental da empresa."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m 18" descr="Apresentação do PowerPoint">
            <a:extLst>
              <a:ext uri="{FF2B5EF4-FFF2-40B4-BE49-F238E27FC236}">
                <a16:creationId xmlns:a16="http://schemas.microsoft.com/office/drawing/2014/main" id="{BD9050CF-4957-7FFD-2741-75017FCCD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86778" y="6377786"/>
            <a:ext cx="1482392" cy="709169"/>
          </a:xfrm>
          <a:prstGeom prst="rect">
            <a:avLst/>
          </a:prstGeom>
        </p:spPr>
      </p:pic>
      <p:pic>
        <p:nvPicPr>
          <p:cNvPr id="20" name="Imagem 19" descr="logo-ufla-transparente | Arquivo de notícias anteriores a Jan/2018 – DCOM UFLA">
            <a:extLst>
              <a:ext uri="{FF2B5EF4-FFF2-40B4-BE49-F238E27FC236}">
                <a16:creationId xmlns:a16="http://schemas.microsoft.com/office/drawing/2014/main" id="{7432E1AD-8B9E-D7BA-8B5C-5746197EE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81472" y="6303623"/>
            <a:ext cx="2109437" cy="857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252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MATERIAL DE DIVULGAÇÃO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466850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Três tipos de material, três usos diferentes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597150"/>
            <a:ext cx="5130800" cy="6927850"/>
          </a:xfrm>
          <a:prstGeom prst="roundRect">
            <a:avLst>
              <a:gd name="adj" fmla="val 2970"/>
            </a:avLst>
          </a:prstGeom>
          <a:solidFill>
            <a:srgbClr val="EAF0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47800" y="2863850"/>
            <a:ext cx="4973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 · Interno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47800" y="3206750"/>
            <a:ext cx="49733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Cartilhas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47800" y="3651250"/>
            <a:ext cx="465683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Ficha comercial do componente — seu argumento de preço e condição na negociação.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78600" y="2597150"/>
            <a:ext cx="5130800" cy="6927850"/>
          </a:xfrm>
          <a:prstGeom prst="roundRect">
            <a:avLst>
              <a:gd name="adj" fmla="val 2970"/>
            </a:avLst>
          </a:prstGeom>
          <a:solidFill>
            <a:srgbClr val="EAF0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83400" y="2863850"/>
            <a:ext cx="4973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 · Externo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83400" y="3206750"/>
            <a:ext cx="49733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Destaque do mês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83400" y="3651250"/>
            <a:ext cx="46568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Cartaz de item parado, para divulgar no Instagram e WhatsApp e acelerar a saída.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1387" b="2479"/>
          <a:stretch>
            <a:fillRect/>
          </a:stretch>
        </p:blipFill>
        <p:spPr>
          <a:xfrm>
            <a:off x="7175501" y="4832350"/>
            <a:ext cx="3487618" cy="4191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2014200" y="2597150"/>
            <a:ext cx="5130800" cy="6927850"/>
          </a:xfrm>
          <a:prstGeom prst="roundRect">
            <a:avLst>
              <a:gd name="adj" fmla="val 2970"/>
            </a:avLst>
          </a:prstGeom>
          <a:solidFill>
            <a:srgbClr val="EAF0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2319000" y="2863850"/>
            <a:ext cx="4973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 · Consulta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319000" y="3206750"/>
            <a:ext cx="49733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 EkoTruck Usados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2319000" y="3651250"/>
            <a:ext cx="46568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Estoque e preço de referência na palma da mão, na hora da conversa com o cliente.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1DF776C5-2C3A-6DA5-1FA2-D0F0BE3DD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692" b="9259"/>
          <a:stretch>
            <a:fillRect/>
          </a:stretch>
        </p:blipFill>
        <p:spPr>
          <a:xfrm>
            <a:off x="12976992" y="4640748"/>
            <a:ext cx="2961508" cy="457420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283F91D-188E-E736-F859-F72D40C2D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834" y="4962525"/>
            <a:ext cx="3123398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252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CARTILHAS DOS COMPONENTES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466850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Como ler uma ficha comercial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444750"/>
            <a:ext cx="9710142" cy="7080250"/>
          </a:xfrm>
          <a:prstGeom prst="roundRect">
            <a:avLst>
              <a:gd name="adj" fmla="val 2152"/>
            </a:avLst>
          </a:prstGeom>
          <a:solidFill>
            <a:srgbClr val="FFFFFF"/>
          </a:solidFill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68450" y="2832100"/>
            <a:ext cx="97451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18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EXEMPLO REAL · USO INTERNO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68450" y="3213100"/>
            <a:ext cx="974516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Long Block · Motor Revisado DC13 XPI</a:t>
            </a:r>
            <a:endParaRPr kumimoji="0" lang="en-US" sz="2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68450" y="3663950"/>
            <a:ext cx="97451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Aplicação: toda a linha Scania XPI, 2016 a 2021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68450" y="4197350"/>
            <a:ext cx="4315321" cy="1244600"/>
          </a:xfrm>
          <a:prstGeom prst="roundRect">
            <a:avLst>
              <a:gd name="adj" fmla="val 7653"/>
            </a:avLst>
          </a:prstGeom>
          <a:solidFill>
            <a:srgbClr val="EAF0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97050" y="4387850"/>
            <a:ext cx="4243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Venda direta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97050" y="4654550"/>
            <a:ext cx="424393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R$ 110.000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97050" y="4984750"/>
            <a:ext cx="4243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mínimo R$ 90.000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12371" y="4197350"/>
            <a:ext cx="4315321" cy="1244600"/>
          </a:xfrm>
          <a:prstGeom prst="roundRect">
            <a:avLst>
              <a:gd name="adj" fmla="val 7653"/>
            </a:avLst>
          </a:prstGeom>
          <a:solidFill>
            <a:srgbClr val="EAF0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40971" y="4387850"/>
            <a:ext cx="4243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Base de troca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40971" y="4654550"/>
            <a:ext cx="424393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R$ 80.000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40971" y="4984750"/>
            <a:ext cx="4243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sujeito à análise do casco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68450" y="5632450"/>
            <a:ext cx="2119511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Garantia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 meses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23668" y="5632450"/>
            <a:ext cx="211961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Prazo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15 dias úteis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78985" y="5670550"/>
            <a:ext cx="293002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F636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Pagamento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À vista ou 3x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13617" y="2979738"/>
            <a:ext cx="593121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92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Aplicação 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confirme o modelo e o ano antes de oferecer.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313617" y="3941763"/>
            <a:ext cx="593121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92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Venda direta x mínimo 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o mínimo é sua margem de negociação, não o preço de tabela.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13617" y="4903788"/>
            <a:ext cx="593121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92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Base de troca 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é uma segunda oferta, sempre condicionada à análise do casco do cliente.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5AA55302-C93A-1FD6-0103-549E33DE160B}"/>
              </a:ext>
            </a:extLst>
          </p:cNvPr>
          <p:cNvSpPr/>
          <p:nvPr/>
        </p:nvSpPr>
        <p:spPr>
          <a:xfrm>
            <a:off x="11313617" y="5854700"/>
            <a:ext cx="593121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2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Outras</a:t>
            </a: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formas de </a:t>
            </a:r>
            <a:r>
              <a:rPr kumimoji="0" lang="en-US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parcelamento</a:t>
            </a: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Juros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maquina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cartão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crédito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normas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kumimoji="0" lang="en-US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crédito</a:t>
            </a:r>
            <a:r>
              <a:rPr kumimoji="0" lang="en-US" sz="2025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da WLM.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CARTILHAS DOS COMPONENTES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76350"/>
            <a:ext cx="146685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item, três níveis — três preços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2006600"/>
            <a:ext cx="13620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real: Cabine Scania G. Use o nível certo para caber no orçamento do cliente, sem perder a venda.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3114675"/>
            <a:ext cx="3178969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14450" y="2705100"/>
            <a:ext cx="2931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1969" y="3114675"/>
            <a:ext cx="8011418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93419" y="2705100"/>
            <a:ext cx="79088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compõe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33387" y="3114675"/>
            <a:ext cx="2642592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425559" y="2705100"/>
            <a:ext cx="23789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anunciado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975979" y="3114675"/>
            <a:ext cx="2169021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5071229" y="2705100"/>
            <a:ext cx="19023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3800475"/>
            <a:ext cx="3178969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14450" y="3324225"/>
            <a:ext cx="29314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321969" y="3800475"/>
            <a:ext cx="8011418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493419" y="3324225"/>
            <a:ext cx="79088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Estrutura, tabelier, forração, vidros, módulos e assentos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33387" y="3800475"/>
            <a:ext cx="2642592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425559" y="3324225"/>
            <a:ext cx="23789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R$ 180.000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4975979" y="3800475"/>
            <a:ext cx="2169021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5071229" y="3324225"/>
            <a:ext cx="19023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R$ 130.000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3000" y="4467225"/>
            <a:ext cx="3178969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314450" y="3997325"/>
            <a:ext cx="293143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 completa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4321969" y="4467225"/>
            <a:ext cx="8011418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493419" y="3997325"/>
            <a:ext cx="79088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Estrutura, forração superior, vidros e forros de porta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333387" y="4467225"/>
            <a:ext cx="2642592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425559" y="3997325"/>
            <a:ext cx="23789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R$ 90.000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4975979" y="4467225"/>
            <a:ext cx="2169021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5071229" y="3997325"/>
            <a:ext cx="190232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R$ 70.000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14450" y="4664075"/>
            <a:ext cx="2931438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estrutura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493419" y="4664075"/>
            <a:ext cx="7908861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a lata, sem acabamentos internos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425559" y="4664075"/>
            <a:ext cx="2378970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R$ 55.000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5071229" y="4664075"/>
            <a:ext cx="1902321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R$ 45.000</a:t>
            </a:r>
            <a:endParaRPr lang="en-US" sz="195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6BAEE484-F696-4282-F8D3-AA6A49AD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2356" y="5810251"/>
            <a:ext cx="3555625" cy="3619499"/>
          </a:xfrm>
          <a:prstGeom prst="rect">
            <a:avLst/>
          </a:prstGeom>
        </p:spPr>
      </p:pic>
      <p:pic>
        <p:nvPicPr>
          <p:cNvPr id="36" name="Imagem 35" descr="CABINE NTG PARA RECUPERAÇÃO NTG R BAIXA PELADA SEM PORTAS PRO BRICK batida  LE">
            <a:extLst>
              <a:ext uri="{FF2B5EF4-FFF2-40B4-BE49-F238E27FC236}">
                <a16:creationId xmlns:a16="http://schemas.microsoft.com/office/drawing/2014/main" id="{FA1FA489-9AE3-8D40-F699-7FCB02FAD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31015" y="5678487"/>
            <a:ext cx="3092470" cy="3883026"/>
          </a:xfrm>
          <a:prstGeom prst="rect">
            <a:avLst/>
          </a:prstGeom>
        </p:spPr>
      </p:pic>
      <p:pic>
        <p:nvPicPr>
          <p:cNvPr id="37" name="Imagem 36" descr="Venda de Scania CR20 HIGHLINE NTG Scania CR20H NTG truck Cabine, ID: 7679924">
            <a:extLst>
              <a:ext uri="{FF2B5EF4-FFF2-40B4-BE49-F238E27FC236}">
                <a16:creationId xmlns:a16="http://schemas.microsoft.com/office/drawing/2014/main" id="{174CAED3-A189-9F50-7818-DB3C2C2A6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578607" y="4984750"/>
            <a:ext cx="6794743" cy="50863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NOVIDADE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57300"/>
            <a:ext cx="157162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Cabines também serão desmontadas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3739952"/>
            <a:ext cx="732045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255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agora, vendíamos a cabine como peça única, em três níveis de completude.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143000" y="4721027"/>
            <a:ext cx="732045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agora, as cabines vão para o desmonte e cada componente — tabelier, forração, vidros, módulos, assentos — é vendido separadamente. Mais peças em estoque, mais alcance, mais chance de venda.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6302177"/>
            <a:ext cx="7107238" cy="1813322"/>
          </a:xfrm>
          <a:prstGeom prst="roundRect">
            <a:avLst>
              <a:gd name="adj" fmla="val 6303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90650" y="6511727"/>
            <a:ext cx="72731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0650" y="6911777"/>
            <a:ext cx="6810296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180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chassi dos veículos desmontados já fica disponível para busca no WIO desde já. Conforme o desmonte avança, os itens vão sendo adicionados ao app.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783638" y="2139950"/>
            <a:ext cx="8361363" cy="757555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32984" b="-32984"/>
          <a:stretch/>
        </p:blipFill>
        <p:spPr>
          <a:xfrm>
            <a:off x="8783638" y="2139950"/>
            <a:ext cx="8361363" cy="7575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1 · CONTROLE DE PRODUÇÃO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76350"/>
            <a:ext cx="157162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controle do desmonte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1987550"/>
            <a:ext cx="12753975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tem um status de produção e um status comercial — e uma previsão de entrega em dias úteis.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2813050"/>
            <a:ext cx="7886700" cy="1073150"/>
          </a:xfrm>
          <a:prstGeom prst="roundRect">
            <a:avLst>
              <a:gd name="adj" fmla="val 10651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71600" y="2984500"/>
            <a:ext cx="8172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 produção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346450"/>
            <a:ext cx="2379365" cy="368300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524000" y="3422650"/>
            <a:ext cx="215076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desmonte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6215" y="3346450"/>
            <a:ext cx="1268214" cy="36830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998615" y="3422650"/>
            <a:ext cx="103961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Revisando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09679" y="3346450"/>
            <a:ext cx="2030413" cy="368300"/>
          </a:xfrm>
          <a:prstGeom prst="roundRect">
            <a:avLst>
              <a:gd name="adj" fmla="val 50000"/>
            </a:avLst>
          </a:prstGeom>
          <a:solidFill>
            <a:srgbClr val="5F8A8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62079" y="3422650"/>
            <a:ext cx="180181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rota de entrega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35342" y="3346450"/>
            <a:ext cx="1236266" cy="368300"/>
          </a:xfrm>
          <a:prstGeom prst="roundRect">
            <a:avLst>
              <a:gd name="adj" fmla="val 50000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87742" y="3422650"/>
            <a:ext cx="100766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58300" y="2813050"/>
            <a:ext cx="7886700" cy="1073150"/>
          </a:xfrm>
          <a:prstGeom prst="roundRect">
            <a:avLst>
              <a:gd name="adj" fmla="val 10651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486900" y="2984500"/>
            <a:ext cx="8172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comercial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86900" y="3346450"/>
            <a:ext cx="1660227" cy="3683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639300" y="3422650"/>
            <a:ext cx="143162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reservado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242378" y="3346450"/>
            <a:ext cx="1691580" cy="368300"/>
          </a:xfrm>
          <a:prstGeom prst="roundRect">
            <a:avLst>
              <a:gd name="adj" fmla="val 50000"/>
            </a:avLst>
          </a:prstGeom>
          <a:solidFill>
            <a:srgbClr val="D1EF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394778" y="3422650"/>
            <a:ext cx="1462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disponível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029208" y="3346450"/>
            <a:ext cx="1479748" cy="368300"/>
          </a:xfrm>
          <a:prstGeom prst="roundRect">
            <a:avLst>
              <a:gd name="adj" fmla="val 50000"/>
            </a:avLst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3181608" y="3422650"/>
            <a:ext cx="125114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vendido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43000" y="4676775"/>
            <a:ext cx="4960739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95400" y="4286250"/>
            <a:ext cx="48047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03739" y="4676775"/>
            <a:ext cx="4563070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256139" y="4286250"/>
            <a:ext cx="439516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produção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666809" y="4676775"/>
            <a:ext cx="2973388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819209" y="4286250"/>
            <a:ext cx="27577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comercial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640198" y="4676775"/>
            <a:ext cx="3504803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687454" y="4286250"/>
            <a:ext cx="33051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entrega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3000" y="5311775"/>
            <a:ext cx="4960739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95400" y="4867275"/>
            <a:ext cx="48047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de câmbio GRS900R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103739" y="5311775"/>
            <a:ext cx="456307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256139" y="4810125"/>
            <a:ext cx="1422797" cy="39370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389489" y="4876800"/>
            <a:ext cx="123229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Revisando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666809" y="5311775"/>
            <a:ext cx="2973388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0819209" y="4810125"/>
            <a:ext cx="1422698" cy="393700"/>
          </a:xfrm>
          <a:prstGeom prst="roundRect">
            <a:avLst>
              <a:gd name="adj" fmla="val 50000"/>
            </a:avLst>
          </a:prstGeom>
          <a:solidFill>
            <a:srgbClr val="D1EF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0952559" y="4876800"/>
            <a:ext cx="123219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640198" y="5311775"/>
            <a:ext cx="3504803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3687454" y="4867275"/>
            <a:ext cx="330514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dias úteis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43000" y="5927725"/>
            <a:ext cx="4960739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295400" y="5489575"/>
            <a:ext cx="4804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Long Block DC13 XPI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103739" y="5927725"/>
            <a:ext cx="456307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256139" y="5426075"/>
            <a:ext cx="2756099" cy="393700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389489" y="5492750"/>
            <a:ext cx="257208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desmonte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666809" y="5927725"/>
            <a:ext cx="2973388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10819209" y="5426075"/>
            <a:ext cx="1435795" cy="3937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0952559" y="5492750"/>
            <a:ext cx="124529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Reservado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640198" y="5927725"/>
            <a:ext cx="3504803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3687454" y="5489575"/>
            <a:ext cx="33051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 úteis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143000" y="6543675"/>
            <a:ext cx="4960739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295400" y="6105525"/>
            <a:ext cx="4804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Câmbio GRSO935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103739" y="6543675"/>
            <a:ext cx="456307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6256139" y="6042025"/>
            <a:ext cx="2337395" cy="393700"/>
          </a:xfrm>
          <a:prstGeom prst="roundRect">
            <a:avLst>
              <a:gd name="adj" fmla="val 50000"/>
            </a:avLst>
          </a:prstGeom>
          <a:solidFill>
            <a:srgbClr val="5F8A8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389489" y="6108700"/>
            <a:ext cx="214689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rota de entrega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666809" y="6543675"/>
            <a:ext cx="2973388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10819209" y="6042025"/>
            <a:ext cx="1155799" cy="393700"/>
          </a:xfrm>
          <a:prstGeom prst="roundRect">
            <a:avLst>
              <a:gd name="adj" fmla="val 50000"/>
            </a:avLst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10952559" y="6108700"/>
            <a:ext cx="96529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Vendido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640198" y="6543675"/>
            <a:ext cx="3504803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13687454" y="6105525"/>
            <a:ext cx="33051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dias úteis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95400" y="6721475"/>
            <a:ext cx="480476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 traseiro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256139" y="6657975"/>
            <a:ext cx="1384399" cy="393700"/>
          </a:xfrm>
          <a:prstGeom prst="roundRect">
            <a:avLst>
              <a:gd name="adj" fmla="val 50000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389489" y="6724650"/>
            <a:ext cx="119389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Finalizado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0819209" y="6657975"/>
            <a:ext cx="1422698" cy="393700"/>
          </a:xfrm>
          <a:prstGeom prst="roundRect">
            <a:avLst>
              <a:gd name="adj" fmla="val 50000"/>
            </a:avLst>
          </a:prstGeom>
          <a:solidFill>
            <a:srgbClr val="D1EF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10952559" y="6724650"/>
            <a:ext cx="123219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3687454" y="6721475"/>
            <a:ext cx="3305147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Pronta entrega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143000" y="7391400"/>
            <a:ext cx="16002000" cy="609600"/>
          </a:xfrm>
          <a:prstGeom prst="roundRect">
            <a:avLst>
              <a:gd name="adj" fmla="val 1875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371600" y="7562850"/>
            <a:ext cx="16024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assim: </a:t>
            </a:r>
            <a:r>
              <a:rPr lang="en-US" sz="1800" dirty="0">
                <a:solidFill>
                  <a:srgbClr val="012D2B"/>
                </a:solidFill>
                <a:highlight>
                  <a:srgbClr val="EAF0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antes de prometer prazo ao cliente, confira o status no painel — ele é atualizado pela equipe de desmonte todos os dias.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2 · PONTO DE VENDA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76350"/>
            <a:ext cx="146685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Mostruário de peças usadas Ekotruck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4199037"/>
            <a:ext cx="7314426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enviar peças de amostra para revendas parceiras — um expositor físico para o cliente ver e tocar antes de negociar.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5629573"/>
            <a:ext cx="7314426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peça no mostruário leva uma etiqueta com o QR do app, preço de referência e contato do representante da região.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6528693"/>
            <a:ext cx="7101384" cy="1089620"/>
          </a:xfrm>
          <a:prstGeom prst="roundRect">
            <a:avLst>
              <a:gd name="adj" fmla="val 10490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71600" y="6719193"/>
            <a:ext cx="6857226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a montagem do mostruário para sua região com o representante comercial.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77784" y="2197100"/>
            <a:ext cx="8367217" cy="7423150"/>
          </a:xfrm>
          <a:prstGeom prst="roundRect">
            <a:avLst>
              <a:gd name="adj" fmla="val 2053"/>
            </a:avLst>
          </a:prstGeom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19228" r="19228"/>
          <a:stretch/>
        </p:blipFill>
        <p:spPr>
          <a:xfrm>
            <a:off x="8784134" y="2203450"/>
            <a:ext cx="8354517" cy="741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TROCA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67640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e como funciona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3000" y="1987550"/>
            <a:ext cx="5181600" cy="1871861"/>
          </a:xfrm>
          <a:prstGeom prst="roundRect">
            <a:avLst>
              <a:gd name="adj" fmla="val 7124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09700" y="2235200"/>
            <a:ext cx="51130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700" y="2578100"/>
            <a:ext cx="51130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Vendemos pelo valor cheio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9700" y="2933700"/>
            <a:ext cx="47876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motor completo, R$ 150.000 — preço de tabela, sem desconto embutido.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53200" y="1987550"/>
            <a:ext cx="5181600" cy="1871861"/>
          </a:xfrm>
          <a:prstGeom prst="roundRect">
            <a:avLst>
              <a:gd name="adj" fmla="val 7124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19900" y="2235200"/>
            <a:ext cx="51130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9900" y="2578100"/>
            <a:ext cx="51130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Avaliamos a carcaça do cliente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19900" y="2933700"/>
            <a:ext cx="47876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casco chega e é analisado pelos itens principais.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63400" y="1987550"/>
            <a:ext cx="5181600" cy="1871861"/>
          </a:xfrm>
          <a:prstGeom prst="roundRect">
            <a:avLst>
              <a:gd name="adj" fmla="val 7124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1963400" y="1987550"/>
            <a:ext cx="5181600" cy="38100"/>
          </a:xfrm>
          <a:prstGeom prst="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230100" y="2273300"/>
            <a:ext cx="51130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30100" y="2616200"/>
            <a:ext cx="51130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Emitimos uma nota de crédito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230100" y="2971800"/>
            <a:ext cx="47876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aprovado abate diretamente o valor da compra.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713115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5713115"/>
            <a:ext cx="13356521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91"/>
              </a:lnSpc>
              <a:buNone/>
            </a:pPr>
            <a:r>
              <a:rPr lang="en-US" sz="19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entrega do componente novo, o casco do cliente é coletado no mesmo frete — ida e volta por nossa conta.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6212185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790700" y="6212185"/>
            <a:ext cx="1085709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91"/>
              </a:lnSpc>
              <a:buNone/>
            </a:pPr>
            <a:r>
              <a:rPr lang="en-US" sz="19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Analisamos os componentes principais em </a:t>
            </a: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 dias úteis </a:t>
            </a:r>
            <a:r>
              <a:rPr lang="en-US" sz="19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da chegada do casco.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3000" y="6711255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90700" y="6711255"/>
            <a:ext cx="9192151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91"/>
              </a:lnSpc>
              <a:buNone/>
            </a:pPr>
            <a:r>
              <a:rPr lang="en-US" sz="19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Comunicamos o cliente do resultado e do valor que ele deve lançar na nota.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7210326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790700" y="7210326"/>
            <a:ext cx="12265333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091"/>
              </a:lnSpc>
              <a:buNone/>
            </a:pPr>
            <a:r>
              <a:rPr lang="en-US" sz="19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Casco reprovado? Devolvemos ao cliente ou descartamos por conta da Ekotruck — a escolha é dele.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43000" y="9067800"/>
            <a:ext cx="16002000" cy="647700"/>
          </a:xfrm>
          <a:prstGeom prst="roundRect">
            <a:avLst>
              <a:gd name="adj" fmla="val 17647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409700" y="9258300"/>
            <a:ext cx="15948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o prazo com o cliente: </a:t>
            </a:r>
            <a:r>
              <a:rPr lang="en-US" sz="1800" dirty="0">
                <a:solidFill>
                  <a:srgbClr val="012D2B"/>
                </a:solidFill>
                <a:highlight>
                  <a:srgbClr val="EAF0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 o frete até ele dura 2 dias, conte 7 dias úteis do total até o valor final estar definido.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252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DESTAQUE DO MÊS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0" y="1276350"/>
            <a:ext cx="146685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Por que promovemos um item específico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1" y="2273301"/>
            <a:ext cx="5783094" cy="7156450"/>
          </a:xfrm>
          <a:prstGeom prst="roundRect">
            <a:avLst>
              <a:gd name="adj" fmla="val 2225"/>
            </a:avLst>
          </a:prstGeom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6050" y="2547739"/>
            <a:ext cx="5255498" cy="65693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27069" y="2547739"/>
            <a:ext cx="880065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São itens que avaliamos ter saída, mas que ainda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venderam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427069" y="3538339"/>
            <a:ext cx="8544322" cy="1498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00119" y="3773289"/>
            <a:ext cx="82545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6D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Exemplo real: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highlight>
                  <a:srgbClr val="FFFFFF"/>
                </a:highlight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este eixo traseiro tração já vendemos uma vez — mas levou tempo até encontrarmos o cliente certo. É esse o trabalho do destaque do mês.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27069" y="5379839"/>
            <a:ext cx="93987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12D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Poste no seu status e stories</a:t>
            </a:r>
            <a:endParaRPr kumimoji="0" lang="en-US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10" descr="Instagram logo png Imagens – Download Grátis no Magnific ...">
            <a:extLst>
              <a:ext uri="{FF2B5EF4-FFF2-40B4-BE49-F238E27FC236}">
                <a16:creationId xmlns:a16="http://schemas.microsoft.com/office/drawing/2014/main" id="{90C23398-51C2-07BB-7C2B-467C941DF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53459" y="5873650"/>
            <a:ext cx="1339232" cy="779731"/>
          </a:xfrm>
          <a:prstGeom prst="rect">
            <a:avLst/>
          </a:prstGeom>
        </p:spPr>
      </p:pic>
      <p:pic>
        <p:nvPicPr>
          <p:cNvPr id="12" name="Imagem 11" descr="Logotipo whatsapp png Imagens – Download Grátis no Magnific ...">
            <a:extLst>
              <a:ext uri="{FF2B5EF4-FFF2-40B4-BE49-F238E27FC236}">
                <a16:creationId xmlns:a16="http://schemas.microsoft.com/office/drawing/2014/main" id="{21672F85-2A89-9033-9C70-6747A14C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92691" y="5818552"/>
            <a:ext cx="975846" cy="834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USADOS-EKOTRUCK.VERCEL.APP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46685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EkoTruck Usados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3000" y="3424039"/>
            <a:ext cx="8361363" cy="1094680"/>
          </a:xfrm>
          <a:prstGeom prst="roundRect">
            <a:avLst>
              <a:gd name="adj" fmla="val 10441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90650" y="3633589"/>
            <a:ext cx="865266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por grupo de componente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3989189"/>
            <a:ext cx="865266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grupos ativos — ar condicionado, carroceria, chassi, diferencial e mais.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4690170"/>
            <a:ext cx="8361363" cy="1094680"/>
          </a:xfrm>
          <a:prstGeom prst="roundRect">
            <a:avLst>
              <a:gd name="adj" fmla="val 10441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90650" y="4899720"/>
            <a:ext cx="865266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SKU ou código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90650" y="5255320"/>
            <a:ext cx="865266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o saldo real de estoque pelo código do fabricante.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56300"/>
            <a:ext cx="8361363" cy="1094680"/>
          </a:xfrm>
          <a:prstGeom prst="roundRect">
            <a:avLst>
              <a:gd name="adj" fmla="val 10441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90650" y="6165850"/>
            <a:ext cx="865266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 de referência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90650" y="6521450"/>
            <a:ext cx="865266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Dealer, sugerido, Scania e paralelo lado a lado.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7222431"/>
            <a:ext cx="8361363" cy="1094680"/>
          </a:xfrm>
          <a:prstGeom prst="roundRect">
            <a:avLst>
              <a:gd name="adj" fmla="val 10441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90650" y="7431981"/>
            <a:ext cx="865266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90650" y="7787580"/>
            <a:ext cx="865266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o cliente perguntar se temos a peça e por quanto.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37763" y="2025650"/>
            <a:ext cx="3439319" cy="7689850"/>
          </a:xfrm>
          <a:prstGeom prst="roundRect">
            <a:avLst>
              <a:gd name="adj" fmla="val 5539"/>
            </a:avLst>
          </a:prstGeom>
          <a:ln w="6350">
            <a:solidFill>
              <a:srgbClr val="264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l="1485" r="1485"/>
          <a:stretch/>
        </p:blipFill>
        <p:spPr>
          <a:xfrm>
            <a:off x="10044113" y="2032000"/>
            <a:ext cx="3426619" cy="76771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3705682" y="2025650"/>
            <a:ext cx="3439319" cy="7689850"/>
          </a:xfrm>
          <a:prstGeom prst="roundRect">
            <a:avLst>
              <a:gd name="adj" fmla="val 5539"/>
            </a:avLst>
          </a:prstGeom>
          <a:ln w="6350">
            <a:solidFill>
              <a:srgbClr val="264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1485" r="1485"/>
          <a:stretch/>
        </p:blipFill>
        <p:spPr>
          <a:xfrm>
            <a:off x="13712032" y="2032000"/>
            <a:ext cx="3426619" cy="7677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VENDAS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panorama de agora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143000" y="2159000"/>
            <a:ext cx="7848600" cy="1339850"/>
          </a:xfrm>
          <a:prstGeom prst="roundRect">
            <a:avLst>
              <a:gd name="adj" fmla="val 9953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85900" y="2425700"/>
            <a:ext cx="78790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 negociação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5900" y="2749550"/>
            <a:ext cx="787908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R$ 1.107.768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296400" y="2159000"/>
            <a:ext cx="7848600" cy="1339850"/>
          </a:xfrm>
          <a:prstGeom prst="roundRect">
            <a:avLst>
              <a:gd name="adj" fmla="val 9953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39300" y="2425700"/>
            <a:ext cx="78790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quentes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0" y="2749550"/>
            <a:ext cx="787908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negociações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143000" y="4365625"/>
            <a:ext cx="2747566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95400" y="3975100"/>
            <a:ext cx="25251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90566" y="4365625"/>
            <a:ext cx="7037784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042966" y="3975100"/>
            <a:ext cx="69441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28350" y="4365625"/>
            <a:ext cx="3210620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080750" y="3975100"/>
            <a:ext cx="30021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138970" y="4365625"/>
            <a:ext cx="3006030" cy="19050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4201189" y="3975100"/>
            <a:ext cx="27914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962525"/>
            <a:ext cx="2747566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95400" y="4537075"/>
            <a:ext cx="252519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90566" y="4962525"/>
            <a:ext cx="7037784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042966" y="4537075"/>
            <a:ext cx="694411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 + peças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28350" y="4962525"/>
            <a:ext cx="321062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1080750" y="4537075"/>
            <a:ext cx="300213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Quente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138970" y="4962525"/>
            <a:ext cx="300603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4201189" y="4537075"/>
            <a:ext cx="279141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R$ 175.000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5540375"/>
            <a:ext cx="2747566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95400" y="5121275"/>
            <a:ext cx="25251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890566" y="5540375"/>
            <a:ext cx="7037784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042966" y="5121275"/>
            <a:ext cx="6944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caixas GRSO 935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928350" y="5540375"/>
            <a:ext cx="321062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1080750" y="5121275"/>
            <a:ext cx="30021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138970" y="5540375"/>
            <a:ext cx="300603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4201189" y="5121275"/>
            <a:ext cx="27914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R$ 160.000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43000" y="6118225"/>
            <a:ext cx="2747566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1295400" y="5699125"/>
            <a:ext cx="25251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Terrabel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890566" y="6118225"/>
            <a:ext cx="7037784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042966" y="5699125"/>
            <a:ext cx="6944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completo (base de troca)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928350" y="6118225"/>
            <a:ext cx="321062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1080750" y="5699125"/>
            <a:ext cx="30021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Quente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138970" y="6118225"/>
            <a:ext cx="3006030" cy="9525"/>
          </a:xfrm>
          <a:prstGeom prst="rect">
            <a:avLst/>
          </a:prstGeom>
          <a:solidFill>
            <a:srgbClr val="D7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4201189" y="5699125"/>
            <a:ext cx="27914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R$ 135.000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95400" y="6276975"/>
            <a:ext cx="2525193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Mineramix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042966" y="6276975"/>
            <a:ext cx="694411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080750" y="6276975"/>
            <a:ext cx="300213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Quente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201189" y="6276975"/>
            <a:ext cx="279141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R$ 120.000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898775"/>
            <a:ext cx="1718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VENDAS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317875"/>
            <a:ext cx="15716250" cy="69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desatualizado é oportunidade perdida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4505325"/>
            <a:ext cx="15716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"quente" sem retorno em 48 horas esfria — e a próxima ligação que ele recebe é do concorrente.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33500" y="5181600"/>
            <a:ext cx="15716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"próxima ação" em aberto no funil é um lembrete pessoal: ligar, cobrar, fechar.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5857875"/>
            <a:ext cx="147161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o funil todo dia não é burocracia — é o que garante que nenhuma oportunidade se perde entre um vendedor e outro.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7248525"/>
            <a:ext cx="171831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só vale o que ele tem de atualizado.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FECHAR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466850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ferramentas, um único objetivo: vender melhor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520950"/>
            <a:ext cx="5130800" cy="1758950"/>
          </a:xfrm>
          <a:prstGeom prst="roundRect">
            <a:avLst>
              <a:gd name="adj" fmla="val 7581"/>
            </a:avLst>
          </a:prstGeom>
          <a:solidFill>
            <a:srgbClr val="FFFFFF"/>
          </a:solidFill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54150" y="2870200"/>
            <a:ext cx="4959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Cartilhas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54150" y="3244850"/>
            <a:ext cx="46437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Argumente com dado real de aplicação, preço e garantia.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78600" y="2520950"/>
            <a:ext cx="5130800" cy="1758950"/>
          </a:xfrm>
          <a:prstGeom prst="roundRect">
            <a:avLst>
              <a:gd name="adj" fmla="val 7581"/>
            </a:avLst>
          </a:prstGeom>
          <a:solidFill>
            <a:srgbClr val="FFFFFF"/>
          </a:solidFill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89750" y="2870200"/>
            <a:ext cx="4959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troca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89750" y="3244850"/>
            <a:ext cx="46437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o processo com clareza, do frete à nota de crédito.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14200" y="2520950"/>
            <a:ext cx="5130800" cy="1758950"/>
          </a:xfrm>
          <a:prstGeom prst="roundRect">
            <a:avLst>
              <a:gd name="adj" fmla="val 7581"/>
            </a:avLst>
          </a:prstGeom>
          <a:solidFill>
            <a:srgbClr val="FFFFFF"/>
          </a:solidFill>
          <a:ln w="635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325350" y="2870200"/>
            <a:ext cx="4959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do mês + App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325350" y="3244850"/>
            <a:ext cx="46437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duas ferramentas todos os dias, não só quando lembrar.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889500"/>
            <a:ext cx="16002000" cy="1346200"/>
          </a:xfrm>
          <a:prstGeom prst="roundRect">
            <a:avLst>
              <a:gd name="adj" fmla="val 9906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562100" y="5232400"/>
            <a:ext cx="1564386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A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este conteúdo para os seus vendedores — cada um dos 280 vendedores do grupo é um canal a mais para vender peça usada.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2000</Words>
  <Application>Microsoft Office PowerPoint</Application>
  <PresentationFormat>Personalizar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Pavan Eiras</cp:lastModifiedBy>
  <cp:revision>2</cp:revision>
  <dcterms:created xsi:type="dcterms:W3CDTF">2026-07-30T21:41:56Z</dcterms:created>
  <dcterms:modified xsi:type="dcterms:W3CDTF">2026-08-03T13:58:12Z</dcterms:modified>
</cp:coreProperties>
</file>